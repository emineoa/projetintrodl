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slides/slide15.xml" ContentType="application/vnd.openxmlformats-officedocument.presentationml.slide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ore.xml" ContentType="application/vnd.openxmlformats-package.core-propertie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Default Extension="mp4" ContentType="video/mp4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</p:sldIdLst>
  <p:sldSz cx="12192000" cy="6858000"/>
  <p:notesSz cx="6858000" cy="12192000"/>
  <p:defaultTextStyle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>
        <p:guide pos="3840"/>
        <p:guide pos="2160" orient="horz"/>
      </p:guideLst>
    </p:cSldViewPr>
  </p:slide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5" Type="http://schemas.openxmlformats.org/officeDocument/2006/relationships/presProps" Target="presProps.xml"/><Relationship Id="rId26" Type="http://schemas.openxmlformats.org/officeDocument/2006/relationships/tableStyles" Target="tableStyles.xml"/><Relationship Id="rId27" Type="http://schemas.openxmlformats.org/officeDocument/2006/relationships/viewProps" Target="viewProp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 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mc="http://schemas.openxmlformats.org/markup-compatibility/2006" xmlns:c15="http://schemas.microsoft.com/office/drawing/2012/chart" xmlns:c14="http://schemas.microsoft.com/office/drawing/2007/8/2/chart" xmlns:c16r2="http://schemas.microsoft.com/office/drawing/2015/06/chart">
  <c:date1904 val="0"/>
  <c:roundedCorners val="1"/>
  <mc:AlternateContent>
    <mc:Choice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Images</c:v>
                </c:pt>
              </c:strCache>
            </c:strRef>
          </c:tx>
          <c:spPr bwMode="auto">
            <a:prstGeom prst="rect">
              <a:avLst/>
            </a:prstGeom>
            <a:solidFill>
              <a:srgbClr val="3B82F6"/>
            </a:solidFill>
            <a:effectLst/>
          </c:spPr>
          <c:invertIfNegative val="0"/>
          <c:dPt>
            <c:idx val="0"/>
            <c:invertIfNegative val="0"/>
            <c:bubble3D val="0"/>
            <c:spPr bwMode="auto">
              <a:prstGeom prst="rect">
                <a:avLst/>
              </a:prstGeom>
              <a:solidFill>
                <a:srgbClr val="3B82F6"/>
              </a:solidFill>
              <a:effectLst/>
            </c:spPr>
          </c:dPt>
          <c:dPt>
            <c:idx val="1"/>
            <c:invertIfNegative val="0"/>
            <c:bubble3D val="0"/>
            <c:spPr bwMode="auto">
              <a:prstGeom prst="rect">
                <a:avLst/>
              </a:prstGeom>
              <a:solidFill>
                <a:srgbClr val="F59E0B"/>
              </a:solidFill>
              <a:effectLst/>
            </c:spPr>
          </c:dPt>
          <c:dPt>
            <c:idx val="2"/>
            <c:invertIfNegative val="0"/>
            <c:bubble3D val="0"/>
            <c:spPr bwMode="auto">
              <a:prstGeom prst="rect">
                <a:avLst/>
              </a:prstGeom>
              <a:solidFill>
                <a:srgbClr val="3B82F6"/>
              </a:solidFill>
              <a:effectLst/>
            </c:spPr>
          </c:dPt>
          <c:dPt>
            <c:idx val="3"/>
            <c:invertIfNegative val="0"/>
            <c:bubble3D val="0"/>
            <c:spPr bwMode="auto">
              <a:prstGeom prst="rect">
                <a:avLst/>
              </a:prstGeom>
              <a:solidFill>
                <a:srgbClr val="22D3EE"/>
              </a:solidFill>
              <a:effectLst/>
            </c:spPr>
          </c:dPt>
          <c:dPt>
            <c:idx val="4"/>
            <c:invertIfNegative val="0"/>
            <c:bubble3D val="0"/>
            <c:spPr bwMode="auto">
              <a:prstGeom prst="rect">
                <a:avLst/>
              </a:prstGeom>
              <a:solidFill>
                <a:srgbClr val="3B82F6"/>
              </a:solidFill>
              <a:effectLst/>
            </c:spPr>
          </c:dPt>
          <c:dPt>
            <c:idx val="5"/>
            <c:invertIfNegative val="0"/>
            <c:bubble3D val="0"/>
            <c:spPr bwMode="auto">
              <a:prstGeom prst="rect">
                <a:avLst/>
              </a:prstGeom>
              <a:solidFill>
                <a:srgbClr val="3B82F6"/>
              </a:solidFill>
              <a:effectLst/>
            </c:spPr>
          </c:dPt>
          <c:dPt>
            <c:idx val="6"/>
            <c:invertIfNegative val="0"/>
            <c:bubble3D val="0"/>
            <c:spPr bwMode="auto">
              <a:prstGeom prst="rect">
                <a:avLst/>
              </a:prstGeom>
              <a:solidFill>
                <a:srgbClr val="3B82F6"/>
              </a:solidFill>
              <a:effectLst/>
            </c:spPr>
          </c:dPt>
          <c:dLbls>
            <c:numFmt formatCode="# ##0" sourceLinked="0"/>
            <c:showBubbleSize val="0"/>
            <c:showCatName val="0"/>
            <c:showLeaderLines val="0"/>
            <c:showLegendKey val="0"/>
            <c:showPercent val="0"/>
            <c:showSerName val="0"/>
            <c:showVal val="1"/>
            <c:txPr>
              <a:bodyPr/>
              <a:lstStyle/>
              <a:p>
                <a:pPr>
                  <a:defRPr sz="1100" b="0" i="0" u="none" strike="noStrike">
                    <a:solidFill>
                      <a:srgbClr val="FFFFFF"/>
                    </a:solidFill>
                    <a:latin typeface="+mn-lt"/>
                  </a:defRPr>
                </a:pPr>
                <a:endParaRPr/>
              </a:p>
            </c:txPr>
          </c:dLbls>
          <c:cat>
            <c:multiLvlStrRef>
              <c:f>Sheet1!$A$2:$A$8</c:f>
              <c:multiLvlStrCache>
                <c:ptCount val="7"/>
                <c:lvl>
                  <c:pt idx="0">
                    <c:v>Colère</c:v>
                  </c:pt>
                  <c:pt idx="1">
                    <c:v>Dégoût</c:v>
                  </c:pt>
                  <c:pt idx="2">
                    <c:v>Peur</c:v>
                  </c:pt>
                  <c:pt idx="3">
                    <c:v>Joie</c:v>
                  </c:pt>
                  <c:pt idx="4">
                    <c:v>Tristesse</c:v>
                  </c:pt>
                  <c:pt idx="5">
                    <c:v>Surprise</c:v>
                  </c:pt>
                  <c:pt idx="6">
                    <c:v>Neutre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4953</c:v>
                </c:pt>
                <c:pt idx="1">
                  <c:v>547</c:v>
                </c:pt>
                <c:pt idx="2">
                  <c:v>5121</c:v>
                </c:pt>
                <c:pt idx="3">
                  <c:v>8989</c:v>
                </c:pt>
                <c:pt idx="4">
                  <c:v>6077</c:v>
                </c:pt>
                <c:pt idx="5">
                  <c:v>4002</c:v>
                </c:pt>
                <c:pt idx="6">
                  <c:v>6198</c:v>
                </c:pt>
              </c:numCache>
            </c:numRef>
          </c:val>
        </c:ser>
        <c:dLbls>
          <c:numFmt formatCode="# ##0" sourceLinked="0"/>
          <c:showBubbleSize val="0"/>
          <c:showCatName val="0"/>
          <c:showLeaderLines val="0"/>
          <c:showLegendKey val="0"/>
          <c:showPercent val="0"/>
          <c:showSerName val="0"/>
          <c:showVal val="1"/>
          <c:txPr>
            <a:bodyPr/>
            <a:lstStyle/>
            <a:p>
              <a:pPr>
                <a:defRPr sz="1100" b="0" i="0" u="none" strike="noStrike">
                  <a:solidFill>
                    <a:srgbClr val="FFFFFF"/>
                  </a:solidFill>
                  <a:latin typeface="+mn-lt"/>
                </a:defRPr>
              </a:pPr>
              <a:endParaRPr/>
            </a:p>
          </c:txPr>
        </c:dLbls>
        <c:gapWidth val="45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 bwMode="auto">
          <a:prstGeom prst="rect">
            <a:avLst/>
          </a:prstGeom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9B8D4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 bwMode="auto">
          <a:prstGeom prst="rect">
            <a:avLst/>
          </a:prstGeom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 bwMode="auto">
        <a:prstGeom prst="rect">
          <a:avLst/>
        </a:prstGeom>
        <a:noFill/>
        <a:ln>
          <a:noFill/>
        </a:ln>
        <a:effectLst/>
      </c:spPr>
    </c:plotArea>
    <c:plotVisOnly val="1"/>
    <c:dispBlanksAs val="span"/>
    <c:showDLblsOverMax val="0"/>
  </c:chart>
  <c:spPr bwMode="auto">
    <a:xfrm rot="0">
      <a:off x="731520" y="3566160"/>
      <a:ext cx="6400800" cy="2651760"/>
    </a:xfrm>
    <a:prstGeom prst="rect">
      <a:avLst/>
    </a:prstGeom>
    <a:noFill/>
    <a:ln>
      <a:noFill/>
    </a:ln>
    <a:effectLst/>
  </c:spPr>
  <c:externalData r:id="rId1">
    <c:autoUpdate val="1"/>
  </c:externalData>
</c:chartSpace>
</file>

<file path=ppt/embeddings/_rels/Microsoft_Excel_Worksheet1.xlsx.rels><?xml version="1.0" encoding="UTF-8" standalone="yes"?><Relationships xmlns="http://schemas.openxmlformats.org/package/2006/relationships"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TITLE">
    <p:bg>
      <p:bgPr shadeToTitle="0">
        <a:blipFill rotWithShape="1"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CONTENT">
    <p:bg>
      <p:bgPr shadeToTitle="0">
        <a:blipFill rotWithShape="1"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2963408" name="Text 0"/>
          <p:cNvSpPr/>
          <p:nvPr>
            <p:ph type="body" idx="100" hasCustomPrompt="1"/>
          </p:nvPr>
        </p:nvSpPr>
        <p:spPr bwMode="auto"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200" b="1" spc="300">
                <a:solidFill>
                  <a:schemeClr val="accent1"/>
                </a:solidFill>
              </a:defRPr>
            </a:lvl1pPr>
          </a:lstStyle>
          <a:p>
            <a:pPr marL="0" indent="0">
              <a:buNone/>
              <a:defRPr/>
            </a:pPr>
            <a:endParaRPr lang="en-US" sz="1200"/>
          </a:p>
        </p:txBody>
      </p:sp>
      <p:sp>
        <p:nvSpPr>
          <p:cNvPr id="679971001" name="Text 0"/>
          <p:cNvSpPr/>
          <p:nvPr>
            <p:ph type="title" idx="101" hasCustomPrompt="1"/>
          </p:nvPr>
        </p:nvSpPr>
        <p:spPr bwMode="auto"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400" b="1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  <a:defRPr/>
            </a:pPr>
            <a:endParaRPr lang="en-US" sz="3400"/>
          </a:p>
        </p:txBody>
      </p:sp>
      <p:sp>
        <p:nvSpPr>
          <p:cNvPr id="190522347" name="Text 0"/>
          <p:cNvSpPr/>
          <p:nvPr>
            <p:ph type="body" idx="102" hasCustomPrompt="1"/>
          </p:nvPr>
        </p:nvSpPr>
        <p:spPr bwMode="auto">
          <a:xfrm>
            <a:off x="548640" y="1389888"/>
            <a:ext cx="11094415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500">
                <a:solidFill>
                  <a:schemeClr val="bg2"/>
                </a:solidFill>
              </a:defRPr>
            </a:lvl1pPr>
          </a:lstStyle>
          <a:p>
            <a:pPr marL="0" indent="0">
              <a:buNone/>
              <a:defRPr/>
            </a:pPr>
            <a:endParaRPr lang="en-US" sz="1500"/>
          </a:p>
        </p:txBody>
      </p:sp>
      <p:sp>
        <p:nvSpPr>
          <p:cNvPr id="2101446762" name="Text 0"/>
          <p:cNvSpPr/>
          <p:nvPr/>
        </p:nvSpPr>
        <p:spPr bwMode="auto">
          <a:xfrm>
            <a:off x="6583680" y="411480"/>
            <a:ext cx="5056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1000" spc="200">
                <a:solidFill>
                  <a:schemeClr val="bg2"/>
                </a:solidFill>
              </a:rPr>
              <a:t>FONDAMENTAUX DU DEEP LEARNING  •  MASTER S1</a:t>
            </a:r>
            <a:endParaRPr lang="en-US" sz="1000"/>
          </a:p>
        </p:txBody>
      </p:sp>
      <p:sp>
        <p:nvSpPr>
          <p:cNvPr id="2008023852" name="Text 1"/>
          <p:cNvSpPr/>
          <p:nvPr/>
        </p:nvSpPr>
        <p:spPr bwMode="auto">
          <a:xfrm>
            <a:off x="548640" y="64008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 spc="200">
                <a:solidFill>
                  <a:schemeClr val="bg2"/>
                </a:solidFill>
              </a:rPr>
              <a:t>RECONNAISSANCE DES EXPRESSIONS FACIALES</a:t>
            </a:r>
            <a:endParaRPr lang="en-US" sz="1000"/>
          </a:p>
        </p:txBody>
      </p:sp>
      <p:sp>
        <p:nvSpPr>
          <p:cNvPr id="18025572" name="Text 2"/>
          <p:cNvSpPr/>
          <p:nvPr/>
        </p:nvSpPr>
        <p:spPr bwMode="auto">
          <a:xfrm>
            <a:off x="7772400" y="640080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1000" spc="200">
                <a:solidFill>
                  <a:schemeClr val="bg2"/>
                </a:solidFill>
              </a:rPr>
              <a:t>SOUTENANCE  •  09.10.2026</a:t>
            </a:r>
            <a:endParaRPr lang="en-US" sz="1000"/>
          </a:p>
        </p:txBody>
      </p:sp>
      <p:sp>
        <p:nvSpPr>
          <p:cNvPr id="1908649254" name="Slide Number Placeholder 0"/>
          <p:cNvSpPr>
            <a:spLocks noGrp="1"/>
          </p:cNvSpPr>
          <p:nvPr>
            <p:ph type="sldNum" sz="quarter" idx="4294967295"/>
          </p:nvPr>
        </p:nvSpPr>
        <p:spPr bwMode="auto">
          <a:xfrm>
            <a:off x="11183112" y="6400800"/>
            <a:ext cx="457200" cy="228600"/>
          </a:xfrm>
          <a:prstGeom prst="rect">
            <a:avLst/>
          </a:prstGeom>
        </p:spPr>
        <p:txBody>
          <a:bodyPr lIns="0" tIns="0" rIns="0" bIns="0"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r">
              <a:defRPr/>
            </a:pPr>
            <a:fld id="{F7021451-1387-4CA6-816F-3879F97B5CBC}" type="slidenum">
              <a:rPr lang="en-US" b="1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8340998" name="Slide Number Placeholder 0"/>
          <p:cNvSpPr>
            <a:spLocks noGrp="1"/>
          </p:cNvSpPr>
          <p:nvPr>
            <p:ph type="sldNum" sz="quarter" idx="4294967295"/>
          </p:nvPr>
        </p:nvSpPr>
        <p:spPr bwMode="auto">
          <a:xfrm>
            <a:off x="11183112" y="6400800"/>
            <a:ext cx="457200" cy="228600"/>
          </a:xfrm>
          <a:prstGeom prst="rect">
            <a:avLst/>
          </a:prstGeom>
        </p:spPr>
        <p:txBody>
          <a:bodyPr lIns="0" tIns="0" rIns="0" bIns="0"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r">
              <a:defRPr/>
            </a:pPr>
            <a:fld id="{F7021451-1387-4CA6-816F-3879F97B5CBC}" type="slidenum">
              <a:rPr lang="en-US" b="1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dt="0" ftr="0" hdr="0" sldNum="0"/>
  <p:txStyles>
    <p:titleStyle>
      <a:lvl1pPr algn="ctr" defTabSz="9144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3" Type="http://schemas.openxmlformats.org/officeDocument/2006/relationships/chart" Target="../charts/chart1.xml"/><Relationship Id="rId4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3" Type="http://schemas.openxmlformats.org/officeDocument/2006/relationships/image" Target="../media/image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3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3" Type="http://schemas.openxmlformats.org/officeDocument/2006/relationships/image" Target="../media/image1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3" Type="http://schemas.openxmlformats.org/officeDocument/2006/relationships/image" Target="../media/image18.png"/><Relationship Id="rId4" Type="http://schemas.openxmlformats.org/officeDocument/2006/relationships/image" Target="../media/image1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3" Type="http://schemas.openxmlformats.org/officeDocument/2006/relationships/image" Target="../media/image2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Relationship Id="rId7" Type="http://schemas.openxmlformats.org/officeDocument/2006/relationships/image" Target="../media/image2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image" Target="../media/image28.png"/><Relationship Id="rId6" Type="http://schemas.openxmlformats.org/officeDocument/2006/relationships/image" Target="../media/image2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3" Type="http://schemas.openxmlformats.org/officeDocument/2006/relationships/image" Target="../media/image30.png"/><Relationship Id="rId4" Type="http://schemas.openxmlformats.org/officeDocument/2006/relationships/image" Target="../media/image3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3" Type="http://schemas.openxmlformats.org/officeDocument/2006/relationships/image" Target="../media/image32.jpg"/><Relationship Id="rId4" Type="http://schemas.openxmlformats.org/officeDocument/2006/relationships/image" Target="../media/image3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3" Type="http://schemas.openxmlformats.org/officeDocument/2006/relationships/image" Target="../media/image34.png"/><Relationship Id="rId4" Type="http://schemas.openxmlformats.org/officeDocument/2006/relationships/hyperlink" Target="https://youtu.be/-KZI9_dtdz8" TargetMode="External"/><Relationship Id="rId5" Type="http://schemas.openxmlformats.org/officeDocument/2006/relationships/image" Target="../media/image35.png"/><Relationship Id="rId6" Type="http://schemas.openxmlformats.org/officeDocument/2006/relationships/image" Target="../media/image36.png"/><Relationship Id="rId7" Type="http://schemas.microsoft.com/office/2007/relationships/media" Target="../media/maskFile.mp4"/><Relationship Id="rId8" Type="http://schemas.openxmlformats.org/officeDocument/2006/relationships/video" Target="../media/maskFile.mp4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3" Type="http://schemas.openxmlformats.org/officeDocument/2006/relationships/image" Target="../media/image37.png"/><Relationship Id="rId4" Type="http://schemas.openxmlformats.org/officeDocument/2006/relationships/image" Target="../media/image38.png"/><Relationship Id="rId5" Type="http://schemas.openxmlformats.org/officeDocument/2006/relationships/image" Target="../media/image39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2031802" name="text-1"/>
          <p:cNvSpPr txBox="1"/>
          <p:nvPr/>
        </p:nvSpPr>
        <p:spPr bwMode="auto">
          <a:xfrm>
            <a:off x="731520" y="123444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 b="1" spc="400">
                <a:solidFill>
                  <a:schemeClr val="accent1"/>
                </a:solidFill>
              </a:rPr>
              <a:t>PROJET MASTER  •  DEEP LEARNING</a:t>
            </a:r>
            <a:endParaRPr lang="en-US" sz="1400"/>
          </a:p>
        </p:txBody>
      </p:sp>
      <p:sp>
        <p:nvSpPr>
          <p:cNvPr id="757221348" name="title-2"/>
          <p:cNvSpPr txBox="1"/>
          <p:nvPr/>
        </p:nvSpPr>
        <p:spPr bwMode="auto">
          <a:xfrm>
            <a:off x="731520" y="1737360"/>
            <a:ext cx="73152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3800" b="1">
                <a:solidFill>
                  <a:schemeClr val="bg1"/>
                </a:solidFill>
              </a:rPr>
              <a:t>RECONNAISSANCE</a:t>
            </a:r>
            <a:endParaRPr lang="en-US" sz="3800"/>
          </a:p>
          <a:p>
            <a:pPr marL="0" indent="0">
              <a:buNone/>
              <a:defRPr/>
            </a:pPr>
            <a:r>
              <a:rPr lang="en-US" sz="3800" b="1">
                <a:solidFill>
                  <a:schemeClr val="bg1"/>
                </a:solidFill>
              </a:rPr>
              <a:t>ET ANALYSE AUTOMATIQUE</a:t>
            </a:r>
            <a:endParaRPr lang="en-US" sz="3800"/>
          </a:p>
          <a:p>
            <a:pPr marL="0" indent="0">
              <a:buNone/>
              <a:defRPr/>
            </a:pPr>
            <a:r>
              <a:rPr lang="en-US" sz="3800" b="1">
                <a:solidFill>
                  <a:schemeClr val="bg1"/>
                </a:solidFill>
              </a:rPr>
              <a:t>DES EXPRESSIONS FACIALES</a:t>
            </a:r>
            <a:endParaRPr lang="en-US" sz="3800"/>
          </a:p>
        </p:txBody>
      </p:sp>
      <p:sp>
        <p:nvSpPr>
          <p:cNvPr id="826222874" name="text-3"/>
          <p:cNvSpPr txBox="1"/>
          <p:nvPr/>
        </p:nvSpPr>
        <p:spPr bwMode="auto">
          <a:xfrm>
            <a:off x="731520" y="402336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600">
                <a:solidFill>
                  <a:schemeClr val="bg2"/>
                </a:solidFill>
              </a:rPr>
              <a:t>Dataset FER2013  •  CNN multiclasse  •  détection multi-visages  •  extension vidéo</a:t>
            </a:r>
            <a:endParaRPr lang="en-US" sz="1600"/>
          </a:p>
        </p:txBody>
      </p:sp>
      <p:sp>
        <p:nvSpPr>
          <p:cNvPr id="528789656" name="card-4"/>
          <p:cNvSpPr/>
          <p:nvPr/>
        </p:nvSpPr>
        <p:spPr bwMode="auto">
          <a:xfrm>
            <a:off x="731520" y="5074920"/>
            <a:ext cx="6766560" cy="868680"/>
          </a:xfrm>
          <a:prstGeom prst="roundRect">
            <a:avLst>
              <a:gd name="adj" fmla="val 12632"/>
            </a:avLst>
          </a:prstGeom>
          <a:solidFill>
            <a:schemeClr val="tx2">
              <a:alpha val="75000"/>
            </a:schemeClr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550937338" name="text-5"/>
          <p:cNvSpPr txBox="1"/>
          <p:nvPr/>
        </p:nvSpPr>
        <p:spPr bwMode="auto">
          <a:xfrm>
            <a:off x="960120" y="507492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00">
                <a:solidFill>
                  <a:schemeClr val="bg2"/>
                </a:solidFill>
              </a:rPr>
              <a:t>Présenté par </a:t>
            </a:r>
            <a:r>
              <a:rPr lang="en-US" sz="1500" b="1">
                <a:solidFill>
                  <a:schemeClr val="bg1"/>
                </a:solidFill>
              </a:rPr>
              <a:t>Anthusan SRIKARAN</a:t>
            </a:r>
            <a:r>
              <a:rPr lang="en-US" sz="1500">
                <a:solidFill>
                  <a:schemeClr val="bg2"/>
                </a:solidFill>
              </a:rPr>
              <a:t> et </a:t>
            </a:r>
            <a:r>
              <a:rPr lang="en-US" sz="1500" b="1">
                <a:solidFill>
                  <a:schemeClr val="bg1"/>
                </a:solidFill>
              </a:rPr>
              <a:t>Emine OULD AGATT</a:t>
            </a:r>
            <a:endParaRPr lang="en-US" sz="1500"/>
          </a:p>
        </p:txBody>
      </p:sp>
      <p:sp>
        <p:nvSpPr>
          <p:cNvPr id="520583825" name="text-6"/>
          <p:cNvSpPr txBox="1"/>
          <p:nvPr/>
        </p:nvSpPr>
        <p:spPr bwMode="auto">
          <a:xfrm>
            <a:off x="5212080" y="507492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1300" b="1" spc="200">
                <a:solidFill>
                  <a:schemeClr val="accent1"/>
                </a:solidFill>
              </a:rPr>
              <a:t>09 OCTOBRE 2026</a:t>
            </a:r>
            <a:endParaRPr lang="en-US" sz="13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2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282475" name="Text 0"/>
          <p:cNvSpPr/>
          <p:nvPr>
            <p:ph type="body" idx="100" hasCustomPrompt="1"/>
          </p:nvPr>
        </p:nvSpPr>
        <p:spPr bwMode="auto"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 spc="300">
                <a:solidFill>
                  <a:schemeClr val="accent1"/>
                </a:solidFill>
              </a:rPr>
              <a:t>01 / PROBLÉMATIQUE</a:t>
            </a:r>
            <a:endParaRPr lang="en-US" sz="1200"/>
          </a:p>
        </p:txBody>
      </p:sp>
      <p:sp>
        <p:nvSpPr>
          <p:cNvPr id="662555971" name="Text 0"/>
          <p:cNvSpPr/>
          <p:nvPr>
            <p:ph type="title" idx="101" hasCustomPrompt="1"/>
          </p:nvPr>
        </p:nvSpPr>
        <p:spPr bwMode="auto"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3400" b="1">
                <a:solidFill>
                  <a:schemeClr val="bg1"/>
                </a:solidFill>
              </a:rPr>
              <a:t>Objectif du projet</a:t>
            </a:r>
            <a:endParaRPr lang="en-US" sz="3400"/>
          </a:p>
        </p:txBody>
      </p:sp>
      <p:sp>
        <p:nvSpPr>
          <p:cNvPr id="2039715759" name="Text 0"/>
          <p:cNvSpPr/>
          <p:nvPr>
            <p:ph type="body" idx="102" hasCustomPrompt="1"/>
          </p:nvPr>
        </p:nvSpPr>
        <p:spPr bwMode="auto">
          <a:xfrm>
            <a:off x="548640" y="138988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00">
                <a:solidFill>
                  <a:schemeClr val="bg2"/>
                </a:solidFill>
              </a:rPr>
              <a:t>Passer d’un classifieur sur visage isolé à un système capable de traiter des images et une vidéo.</a:t>
            </a:r>
            <a:endParaRPr lang="en-US" sz="1500"/>
          </a:p>
        </p:txBody>
      </p:sp>
      <p:sp>
        <p:nvSpPr>
          <p:cNvPr id="677381505" name="card-7"/>
          <p:cNvSpPr/>
          <p:nvPr/>
        </p:nvSpPr>
        <p:spPr bwMode="auto">
          <a:xfrm>
            <a:off x="548640" y="1965960"/>
            <a:ext cx="3520440" cy="2697480"/>
          </a:xfrm>
          <a:prstGeom prst="roundRect">
            <a:avLst>
              <a:gd name="adj" fmla="val 4068"/>
            </a:avLst>
          </a:prstGeom>
          <a:solidFill>
            <a:schemeClr val="tx2">
              <a:alpha val="92000"/>
            </a:schemeClr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100526420" name="iconbg-8"/>
          <p:cNvSpPr/>
          <p:nvPr/>
        </p:nvSpPr>
        <p:spPr bwMode="auto">
          <a:xfrm>
            <a:off x="822960" y="2240280"/>
            <a:ext cx="640080" cy="640080"/>
          </a:xfrm>
          <a:prstGeom prst="ellipse">
            <a:avLst/>
          </a:prstGeom>
          <a:solidFill>
            <a:schemeClr val="accent1">
              <a:alpha val="14000"/>
            </a:schemeClr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249357335" name="icon-9" descr="icône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995782" y="2413102"/>
            <a:ext cx="294437" cy="294437"/>
          </a:xfrm>
          <a:prstGeom prst="rect">
            <a:avLst/>
          </a:prstGeom>
        </p:spPr>
      </p:pic>
      <p:sp>
        <p:nvSpPr>
          <p:cNvPr id="1562425032" name="text-10"/>
          <p:cNvSpPr txBox="1"/>
          <p:nvPr/>
        </p:nvSpPr>
        <p:spPr bwMode="auto">
          <a:xfrm>
            <a:off x="3063240" y="2221992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  <a:defRPr/>
            </a:pPr>
            <a:r>
              <a:rPr lang="en-US" sz="3200" b="1">
                <a:solidFill>
                  <a:schemeClr val="accent6"/>
                </a:solidFill>
              </a:rPr>
              <a:t>01</a:t>
            </a:r>
            <a:endParaRPr lang="en-US" sz="3200"/>
          </a:p>
        </p:txBody>
      </p:sp>
      <p:sp>
        <p:nvSpPr>
          <p:cNvPr id="1837787840" name="text-11"/>
          <p:cNvSpPr txBox="1"/>
          <p:nvPr/>
        </p:nvSpPr>
        <p:spPr bwMode="auto">
          <a:xfrm>
            <a:off x="822960" y="306324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800" b="1">
                <a:solidFill>
                  <a:schemeClr val="bg1"/>
                </a:solidFill>
              </a:rPr>
              <a:t>Étape 1 — classifier</a:t>
            </a:r>
            <a:endParaRPr lang="en-US" sz="1800"/>
          </a:p>
        </p:txBody>
      </p:sp>
      <p:sp>
        <p:nvSpPr>
          <p:cNvPr id="1761610579" name="text-12"/>
          <p:cNvSpPr txBox="1"/>
          <p:nvPr/>
        </p:nvSpPr>
        <p:spPr bwMode="auto">
          <a:xfrm>
            <a:off x="822960" y="352044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400">
                <a:solidFill>
                  <a:schemeClr val="bg2"/>
                </a:solidFill>
              </a:rPr>
              <a:t>Prédire l’une des 7 émotions de FER2013 à partir d’un visage 48×48 en niveaux de gris.</a:t>
            </a:r>
            <a:endParaRPr lang="en-US" sz="1400"/>
          </a:p>
        </p:txBody>
      </p:sp>
      <p:sp>
        <p:nvSpPr>
          <p:cNvPr id="999619885" name="chev-13"/>
          <p:cNvSpPr/>
          <p:nvPr/>
        </p:nvSpPr>
        <p:spPr bwMode="auto">
          <a:xfrm>
            <a:off x="4110228" y="3200400"/>
            <a:ext cx="182880" cy="274320"/>
          </a:xfrm>
          <a:prstGeom prst="chevron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291158874" name="card-14"/>
          <p:cNvSpPr/>
          <p:nvPr/>
        </p:nvSpPr>
        <p:spPr bwMode="auto">
          <a:xfrm>
            <a:off x="4334256" y="1965960"/>
            <a:ext cx="3520440" cy="2697480"/>
          </a:xfrm>
          <a:prstGeom prst="roundRect">
            <a:avLst>
              <a:gd name="adj" fmla="val 4068"/>
            </a:avLst>
          </a:prstGeom>
          <a:solidFill>
            <a:schemeClr val="tx2">
              <a:alpha val="92000"/>
            </a:schemeClr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002496198" name="iconbg-15"/>
          <p:cNvSpPr/>
          <p:nvPr/>
        </p:nvSpPr>
        <p:spPr bwMode="auto">
          <a:xfrm>
            <a:off x="4608576" y="2240280"/>
            <a:ext cx="640080" cy="640080"/>
          </a:xfrm>
          <a:prstGeom prst="ellipse">
            <a:avLst/>
          </a:prstGeom>
          <a:solidFill>
            <a:schemeClr val="accent1">
              <a:alpha val="14000"/>
            </a:schemeClr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685233671" name="icon-16" descr="icône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4781398" y="2413102"/>
            <a:ext cx="294437" cy="294437"/>
          </a:xfrm>
          <a:prstGeom prst="rect">
            <a:avLst/>
          </a:prstGeom>
        </p:spPr>
      </p:pic>
      <p:sp>
        <p:nvSpPr>
          <p:cNvPr id="1263800991" name="text-17"/>
          <p:cNvSpPr txBox="1"/>
          <p:nvPr/>
        </p:nvSpPr>
        <p:spPr bwMode="auto">
          <a:xfrm>
            <a:off x="6848856" y="2221992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  <a:defRPr/>
            </a:pPr>
            <a:r>
              <a:rPr lang="en-US" sz="3200" b="1">
                <a:solidFill>
                  <a:schemeClr val="accent6"/>
                </a:solidFill>
              </a:rPr>
              <a:t>02</a:t>
            </a:r>
            <a:endParaRPr lang="en-US" sz="3200"/>
          </a:p>
        </p:txBody>
      </p:sp>
      <p:sp>
        <p:nvSpPr>
          <p:cNvPr id="553578461" name="text-18"/>
          <p:cNvSpPr txBox="1"/>
          <p:nvPr/>
        </p:nvSpPr>
        <p:spPr bwMode="auto">
          <a:xfrm>
            <a:off x="4608576" y="306324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800" b="1">
                <a:solidFill>
                  <a:schemeClr val="bg1"/>
                </a:solidFill>
              </a:rPr>
              <a:t>Étape 2 — améliorer</a:t>
            </a:r>
            <a:endParaRPr lang="en-US" sz="1800"/>
          </a:p>
        </p:txBody>
      </p:sp>
      <p:sp>
        <p:nvSpPr>
          <p:cNvPr id="387776448" name="text-19"/>
          <p:cNvSpPr txBox="1"/>
          <p:nvPr/>
        </p:nvSpPr>
        <p:spPr bwMode="auto">
          <a:xfrm>
            <a:off x="4608576" y="352044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400">
                <a:solidFill>
                  <a:schemeClr val="bg2"/>
                </a:solidFill>
              </a:rPr>
              <a:t>Comparer plusieurs variantes contrôlées pour augmenter la généralisation et réduire les erreurs.</a:t>
            </a:r>
            <a:endParaRPr lang="en-US" sz="1400"/>
          </a:p>
        </p:txBody>
      </p:sp>
      <p:sp>
        <p:nvSpPr>
          <p:cNvPr id="897974271" name="chev-20"/>
          <p:cNvSpPr/>
          <p:nvPr/>
        </p:nvSpPr>
        <p:spPr bwMode="auto">
          <a:xfrm>
            <a:off x="7895844" y="3200400"/>
            <a:ext cx="182880" cy="274320"/>
          </a:xfrm>
          <a:prstGeom prst="chevron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2104784799" name="card-21"/>
          <p:cNvSpPr/>
          <p:nvPr/>
        </p:nvSpPr>
        <p:spPr bwMode="auto">
          <a:xfrm>
            <a:off x="8119872" y="1965960"/>
            <a:ext cx="3520440" cy="2697480"/>
          </a:xfrm>
          <a:prstGeom prst="roundRect">
            <a:avLst>
              <a:gd name="adj" fmla="val 4068"/>
            </a:avLst>
          </a:prstGeom>
          <a:solidFill>
            <a:schemeClr val="tx2">
              <a:alpha val="92000"/>
            </a:schemeClr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302146010" name="iconbg-22"/>
          <p:cNvSpPr/>
          <p:nvPr/>
        </p:nvSpPr>
        <p:spPr bwMode="auto">
          <a:xfrm>
            <a:off x="8394192" y="2240280"/>
            <a:ext cx="640080" cy="640080"/>
          </a:xfrm>
          <a:prstGeom prst="ellipse">
            <a:avLst/>
          </a:prstGeom>
          <a:solidFill>
            <a:schemeClr val="accent1">
              <a:alpha val="14000"/>
            </a:schemeClr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605279204" name="icon-23" descr="icône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8567014" y="2413102"/>
            <a:ext cx="294437" cy="294437"/>
          </a:xfrm>
          <a:prstGeom prst="rect">
            <a:avLst/>
          </a:prstGeom>
        </p:spPr>
      </p:pic>
      <p:sp>
        <p:nvSpPr>
          <p:cNvPr id="1568385820" name="text-24"/>
          <p:cNvSpPr txBox="1"/>
          <p:nvPr/>
        </p:nvSpPr>
        <p:spPr bwMode="auto">
          <a:xfrm>
            <a:off x="10634472" y="2221992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  <a:defRPr/>
            </a:pPr>
            <a:r>
              <a:rPr lang="en-US" sz="3200" b="1">
                <a:solidFill>
                  <a:schemeClr val="accent6"/>
                </a:solidFill>
              </a:rPr>
              <a:t>03</a:t>
            </a:r>
            <a:endParaRPr lang="en-US" sz="3200"/>
          </a:p>
        </p:txBody>
      </p:sp>
      <p:sp>
        <p:nvSpPr>
          <p:cNvPr id="1097401509" name="text-25"/>
          <p:cNvSpPr txBox="1"/>
          <p:nvPr/>
        </p:nvSpPr>
        <p:spPr bwMode="auto">
          <a:xfrm>
            <a:off x="8394192" y="306324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800" b="1">
                <a:solidFill>
                  <a:schemeClr val="bg1"/>
                </a:solidFill>
              </a:rPr>
              <a:t>Étape 3 — étendre</a:t>
            </a:r>
            <a:endParaRPr lang="en-US" sz="1800"/>
          </a:p>
        </p:txBody>
      </p:sp>
      <p:sp>
        <p:nvSpPr>
          <p:cNvPr id="52850235" name="text-26"/>
          <p:cNvSpPr txBox="1"/>
          <p:nvPr/>
        </p:nvSpPr>
        <p:spPr bwMode="auto">
          <a:xfrm>
            <a:off x="8394192" y="352044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400">
                <a:solidFill>
                  <a:schemeClr val="bg2"/>
                </a:solidFill>
              </a:rPr>
              <a:t>Détecter plusieurs visages avec YOLO puis appliquer le CNN sur chaque crop ; tester ensuite sur une vidéo.</a:t>
            </a:r>
            <a:endParaRPr lang="en-US" sz="1400"/>
          </a:p>
        </p:txBody>
      </p:sp>
      <p:sp>
        <p:nvSpPr>
          <p:cNvPr id="1836141084" name="highlight-27"/>
          <p:cNvSpPr/>
          <p:nvPr/>
        </p:nvSpPr>
        <p:spPr bwMode="auto">
          <a:xfrm>
            <a:off x="548640" y="4892039"/>
            <a:ext cx="11094415" cy="1188720"/>
          </a:xfrm>
          <a:prstGeom prst="roundRect">
            <a:avLst>
              <a:gd name="adj" fmla="val 9231"/>
            </a:avLst>
          </a:prstGeom>
          <a:solidFill>
            <a:schemeClr val="accent1">
              <a:alpha val="12000"/>
            </a:schemeClr>
          </a:solidFill>
          <a:ln w="15875">
            <a:solidFill>
              <a:schemeClr val="accent1"/>
            </a:solidFill>
            <a:prstDash val="solid"/>
          </a:ln>
        </p:spPr>
      </p:sp>
      <p:pic>
        <p:nvPicPr>
          <p:cNvPr id="1431320781" name="icon-28" descr="guillemet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868680" y="5303520"/>
            <a:ext cx="365760" cy="365760"/>
          </a:xfrm>
          <a:prstGeom prst="rect">
            <a:avLst/>
          </a:prstGeom>
        </p:spPr>
      </p:pic>
      <p:sp>
        <p:nvSpPr>
          <p:cNvPr id="1971924407" name="text-29"/>
          <p:cNvSpPr txBox="1"/>
          <p:nvPr/>
        </p:nvSpPr>
        <p:spPr bwMode="auto">
          <a:xfrm>
            <a:off x="1508759" y="4892039"/>
            <a:ext cx="97228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chemeClr val="accent1"/>
                </a:solidFill>
              </a:rPr>
              <a:t>Question centrale : </a:t>
            </a:r>
            <a:r>
              <a:rPr lang="en-US" sz="1600">
                <a:solidFill>
                  <a:schemeClr val="bg1"/>
                </a:solidFill>
              </a:rPr>
              <a:t>comment obtenir un modèle simple mais robuste pour distinguer des expressions parfois ambiguës, sur un dataset déséquilibré et de faible résolution ?</a:t>
            </a:r>
            <a:endParaRPr lang="en-US" sz="1600"/>
          </a:p>
        </p:txBody>
      </p:sp>
      <p:sp>
        <p:nvSpPr>
          <p:cNvPr id="1349646782" name="Slide Number Placeholder 0"/>
          <p:cNvSpPr>
            <a:spLocks noGrp="1"/>
          </p:cNvSpPr>
          <p:nvPr>
            <p:ph type="sldNum" sz="quarter" idx="4294967295"/>
          </p:nvPr>
        </p:nvSpPr>
        <p:spPr bwMode="auto">
          <a:xfrm>
            <a:off x="11183112" y="6400800"/>
            <a:ext cx="457200" cy="228600"/>
          </a:xfrm>
          <a:prstGeom prst="rect">
            <a:avLst/>
          </a:prstGeom>
        </p:spPr>
        <p:txBody>
          <a:bodyPr lIns="0" tIns="0" rIns="0" bIns="0"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r">
              <a:defRPr/>
            </a:pPr>
            <a:fld id="{F7021451-1387-4CA6-816F-3879F97B5CBC}" type="slidenum">
              <a:rPr lang="en-US" b="1"/>
              <a:t>2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3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2562631" name="Text 0"/>
          <p:cNvSpPr/>
          <p:nvPr>
            <p:ph type="body" idx="100" hasCustomPrompt="1"/>
          </p:nvPr>
        </p:nvSpPr>
        <p:spPr bwMode="auto"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 spc="300">
                <a:solidFill>
                  <a:schemeClr val="accent1"/>
                </a:solidFill>
              </a:rPr>
              <a:t>02 / DONNÉES</a:t>
            </a:r>
            <a:endParaRPr lang="en-US" sz="1200"/>
          </a:p>
        </p:txBody>
      </p:sp>
      <p:sp>
        <p:nvSpPr>
          <p:cNvPr id="2139840902" name="Text 0"/>
          <p:cNvSpPr/>
          <p:nvPr>
            <p:ph type="title" idx="101" hasCustomPrompt="1"/>
          </p:nvPr>
        </p:nvSpPr>
        <p:spPr bwMode="auto"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3400" b="1">
                <a:solidFill>
                  <a:schemeClr val="bg1"/>
                </a:solidFill>
              </a:rPr>
              <a:t>FER2013 : vue d’ensemble</a:t>
            </a:r>
            <a:endParaRPr lang="en-US" sz="3400"/>
          </a:p>
        </p:txBody>
      </p:sp>
      <p:sp>
        <p:nvSpPr>
          <p:cNvPr id="317679455" name="Text 0"/>
          <p:cNvSpPr/>
          <p:nvPr>
            <p:ph type="body" idx="102" hasCustomPrompt="1"/>
          </p:nvPr>
        </p:nvSpPr>
        <p:spPr bwMode="auto">
          <a:xfrm>
            <a:off x="548640" y="138988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00">
                <a:solidFill>
                  <a:schemeClr val="bg2"/>
                </a:solidFill>
              </a:rPr>
              <a:t>Le choix du dataset guide le format d’entrée, les classes et les métriques à privilégier.</a:t>
            </a:r>
            <a:endParaRPr lang="en-US" sz="1500"/>
          </a:p>
        </p:txBody>
      </p:sp>
      <p:sp>
        <p:nvSpPr>
          <p:cNvPr id="1062293493" name="card-30"/>
          <p:cNvSpPr/>
          <p:nvPr/>
        </p:nvSpPr>
        <p:spPr bwMode="auto">
          <a:xfrm>
            <a:off x="548640" y="1874520"/>
            <a:ext cx="2651760" cy="1051560"/>
          </a:xfrm>
          <a:prstGeom prst="roundRect">
            <a:avLst>
              <a:gd name="adj" fmla="val 10435"/>
            </a:avLst>
          </a:prstGeom>
          <a:solidFill>
            <a:schemeClr val="tx2">
              <a:alpha val="92000"/>
            </a:schemeClr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072441079" name="text-31"/>
          <p:cNvSpPr txBox="1"/>
          <p:nvPr/>
        </p:nvSpPr>
        <p:spPr bwMode="auto">
          <a:xfrm>
            <a:off x="685800" y="1984248"/>
            <a:ext cx="2377440" cy="578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2800" b="1">
                <a:solidFill>
                  <a:schemeClr val="accent1"/>
                </a:solidFill>
              </a:rPr>
              <a:t>35 887</a:t>
            </a:r>
            <a:endParaRPr lang="en-US" sz="2800"/>
          </a:p>
        </p:txBody>
      </p:sp>
      <p:sp>
        <p:nvSpPr>
          <p:cNvPr id="1495422491" name="text-32"/>
          <p:cNvSpPr txBox="1"/>
          <p:nvPr/>
        </p:nvSpPr>
        <p:spPr bwMode="auto">
          <a:xfrm>
            <a:off x="685800" y="2526487"/>
            <a:ext cx="237744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  <a:defRPr/>
            </a:pPr>
            <a:r>
              <a:rPr lang="en-US" sz="1100" spc="200">
                <a:solidFill>
                  <a:schemeClr val="bg2"/>
                </a:solidFill>
              </a:rPr>
              <a:t>IMAGES AU TOTAL</a:t>
            </a:r>
            <a:endParaRPr lang="en-US" sz="1100"/>
          </a:p>
        </p:txBody>
      </p:sp>
      <p:sp>
        <p:nvSpPr>
          <p:cNvPr id="1452438898" name="card-33"/>
          <p:cNvSpPr/>
          <p:nvPr/>
        </p:nvSpPr>
        <p:spPr bwMode="auto">
          <a:xfrm>
            <a:off x="3362858" y="1874520"/>
            <a:ext cx="2651760" cy="1051560"/>
          </a:xfrm>
          <a:prstGeom prst="roundRect">
            <a:avLst>
              <a:gd name="adj" fmla="val 10435"/>
            </a:avLst>
          </a:prstGeom>
          <a:solidFill>
            <a:schemeClr val="tx2">
              <a:alpha val="92000"/>
            </a:schemeClr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60773367" name="text-34"/>
          <p:cNvSpPr txBox="1"/>
          <p:nvPr/>
        </p:nvSpPr>
        <p:spPr bwMode="auto">
          <a:xfrm>
            <a:off x="3500018" y="1984248"/>
            <a:ext cx="2377440" cy="578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2800" b="1">
                <a:solidFill>
                  <a:schemeClr val="accent1"/>
                </a:solidFill>
              </a:rPr>
              <a:t>48 × 48 × 1</a:t>
            </a:r>
            <a:endParaRPr lang="en-US" sz="2800"/>
          </a:p>
        </p:txBody>
      </p:sp>
      <p:sp>
        <p:nvSpPr>
          <p:cNvPr id="88244395" name="text-35"/>
          <p:cNvSpPr txBox="1"/>
          <p:nvPr/>
        </p:nvSpPr>
        <p:spPr bwMode="auto">
          <a:xfrm>
            <a:off x="3500018" y="2526487"/>
            <a:ext cx="237744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  <a:defRPr/>
            </a:pPr>
            <a:r>
              <a:rPr lang="en-US" sz="1100" spc="200">
                <a:solidFill>
                  <a:schemeClr val="bg2"/>
                </a:solidFill>
              </a:rPr>
              <a:t>FORMAT</a:t>
            </a:r>
            <a:endParaRPr lang="en-US" sz="1100"/>
          </a:p>
        </p:txBody>
      </p:sp>
      <p:sp>
        <p:nvSpPr>
          <p:cNvPr id="156439998" name="card-36"/>
          <p:cNvSpPr/>
          <p:nvPr/>
        </p:nvSpPr>
        <p:spPr bwMode="auto">
          <a:xfrm>
            <a:off x="6177077" y="1874520"/>
            <a:ext cx="2651760" cy="1051560"/>
          </a:xfrm>
          <a:prstGeom prst="roundRect">
            <a:avLst>
              <a:gd name="adj" fmla="val 10435"/>
            </a:avLst>
          </a:prstGeom>
          <a:solidFill>
            <a:schemeClr val="tx2">
              <a:alpha val="92000"/>
            </a:schemeClr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74240771" name="text-37"/>
          <p:cNvSpPr txBox="1"/>
          <p:nvPr/>
        </p:nvSpPr>
        <p:spPr bwMode="auto">
          <a:xfrm>
            <a:off x="6314237" y="1984248"/>
            <a:ext cx="2377440" cy="578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2800" b="1">
                <a:solidFill>
                  <a:schemeClr val="accent1"/>
                </a:solidFill>
              </a:rPr>
              <a:t>7</a:t>
            </a:r>
            <a:endParaRPr lang="en-US" sz="2800"/>
          </a:p>
        </p:txBody>
      </p:sp>
      <p:sp>
        <p:nvSpPr>
          <p:cNvPr id="30226189" name="text-38"/>
          <p:cNvSpPr txBox="1"/>
          <p:nvPr/>
        </p:nvSpPr>
        <p:spPr bwMode="auto">
          <a:xfrm>
            <a:off x="6314237" y="2526487"/>
            <a:ext cx="237744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  <a:defRPr/>
            </a:pPr>
            <a:r>
              <a:rPr lang="en-US" sz="1100" spc="200">
                <a:solidFill>
                  <a:schemeClr val="bg2"/>
                </a:solidFill>
              </a:rPr>
              <a:t>CLASSES</a:t>
            </a:r>
            <a:endParaRPr lang="en-US" sz="1100"/>
          </a:p>
        </p:txBody>
      </p:sp>
      <p:sp>
        <p:nvSpPr>
          <p:cNvPr id="659269046" name="card-39"/>
          <p:cNvSpPr/>
          <p:nvPr/>
        </p:nvSpPr>
        <p:spPr bwMode="auto">
          <a:xfrm>
            <a:off x="8991295" y="1874520"/>
            <a:ext cx="2651760" cy="1051560"/>
          </a:xfrm>
          <a:prstGeom prst="roundRect">
            <a:avLst>
              <a:gd name="adj" fmla="val 10435"/>
            </a:avLst>
          </a:prstGeom>
          <a:solidFill>
            <a:schemeClr val="tx2">
              <a:alpha val="92000"/>
            </a:schemeClr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035226155" name="text-40"/>
          <p:cNvSpPr txBox="1"/>
          <p:nvPr/>
        </p:nvSpPr>
        <p:spPr bwMode="auto">
          <a:xfrm>
            <a:off x="9128455" y="1984248"/>
            <a:ext cx="2377440" cy="578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800" b="1">
                <a:solidFill>
                  <a:schemeClr val="accent1"/>
                </a:solidFill>
              </a:rPr>
              <a:t>Train / Public / Private</a:t>
            </a:r>
            <a:endParaRPr lang="en-US" sz="1800"/>
          </a:p>
        </p:txBody>
      </p:sp>
      <p:sp>
        <p:nvSpPr>
          <p:cNvPr id="1187194951" name="text-41"/>
          <p:cNvSpPr txBox="1"/>
          <p:nvPr/>
        </p:nvSpPr>
        <p:spPr bwMode="auto">
          <a:xfrm>
            <a:off x="9128455" y="2526487"/>
            <a:ext cx="237744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  <a:defRPr/>
            </a:pPr>
            <a:r>
              <a:rPr lang="en-US" sz="1100" spc="200">
                <a:solidFill>
                  <a:schemeClr val="bg2"/>
                </a:solidFill>
              </a:rPr>
              <a:t>SPLIT OFFICIEL</a:t>
            </a:r>
            <a:endParaRPr lang="en-US" sz="1100"/>
          </a:p>
        </p:txBody>
      </p:sp>
      <p:sp>
        <p:nvSpPr>
          <p:cNvPr id="1495469508" name="card-42"/>
          <p:cNvSpPr/>
          <p:nvPr/>
        </p:nvSpPr>
        <p:spPr bwMode="auto">
          <a:xfrm>
            <a:off x="548640" y="3063240"/>
            <a:ext cx="6766560" cy="3246120"/>
          </a:xfrm>
          <a:prstGeom prst="roundRect">
            <a:avLst>
              <a:gd name="adj" fmla="val 3380"/>
            </a:avLst>
          </a:prstGeom>
          <a:solidFill>
            <a:schemeClr val="tx2">
              <a:alpha val="92000"/>
            </a:schemeClr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407247457" name="text-43"/>
          <p:cNvSpPr txBox="1"/>
          <p:nvPr/>
        </p:nvSpPr>
        <p:spPr bwMode="auto">
          <a:xfrm>
            <a:off x="822960" y="32004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chemeClr val="bg1"/>
                </a:solidFill>
              </a:rPr>
              <a:t>Distribution des classes</a:t>
            </a:r>
            <a:endParaRPr lang="en-US" sz="1500"/>
          </a:p>
        </p:txBody>
      </p:sp>
      <p:graphicFrame>
        <p:nvGraphicFramePr>
          <p:cNvPr id="1532138745" name="Chart 0" descr=""/>
          <p:cNvGraphicFramePr>
            <a:graphicFrameLocks xmlns:a="http://schemas.openxmlformats.org/drawingml/2006/main"/>
          </p:cNvGraphicFramePr>
          <p:nvPr/>
        </p:nvGraphicFramePr>
        <p:xfrm rot="0">
          <a:off x="731520" y="3566160"/>
          <a:ext cx="6400800" cy="2651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53115576" name="card-44"/>
          <p:cNvSpPr/>
          <p:nvPr/>
        </p:nvSpPr>
        <p:spPr bwMode="auto">
          <a:xfrm>
            <a:off x="7543800" y="3063240"/>
            <a:ext cx="4099255" cy="2286000"/>
          </a:xfrm>
          <a:prstGeom prst="roundRect">
            <a:avLst>
              <a:gd name="adj" fmla="val 4800"/>
            </a:avLst>
          </a:prstGeom>
          <a:solidFill>
            <a:schemeClr val="tx2">
              <a:alpha val="92000"/>
            </a:scheme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3980747" name="text-45"/>
          <p:cNvSpPr txBox="1"/>
          <p:nvPr/>
        </p:nvSpPr>
        <p:spPr bwMode="auto">
          <a:xfrm>
            <a:off x="7818120" y="3200400"/>
            <a:ext cx="35506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chemeClr val="accent4"/>
                </a:solidFill>
              </a:rPr>
              <a:t>Déséquilibre notable</a:t>
            </a:r>
            <a:endParaRPr lang="en-US" sz="1600"/>
          </a:p>
        </p:txBody>
      </p:sp>
      <p:sp>
        <p:nvSpPr>
          <p:cNvPr id="1561672892" name="text-46"/>
          <p:cNvSpPr txBox="1"/>
          <p:nvPr/>
        </p:nvSpPr>
        <p:spPr bwMode="auto">
          <a:xfrm>
            <a:off x="7818120" y="3703320"/>
            <a:ext cx="355061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  <a:defRPr/>
            </a:pPr>
            <a:r>
              <a:rPr lang="en-US" sz="1400">
                <a:solidFill>
                  <a:schemeClr val="bg1"/>
                </a:solidFill>
              </a:rPr>
              <a:t>Majoritaire : Happy (8 989)</a:t>
            </a:r>
            <a:endParaRPr lang="en-US" sz="1400"/>
          </a:p>
          <a:p>
            <a:pPr marL="203200" indent="-203200">
              <a:spcAft>
                <a:spcPts val="700"/>
              </a:spcAft>
              <a:buSzPct val="100000"/>
              <a:buChar char="•"/>
              <a:defRPr/>
            </a:pPr>
            <a:r>
              <a:rPr lang="en-US" sz="1400">
                <a:solidFill>
                  <a:schemeClr val="bg1"/>
                </a:solidFill>
              </a:rPr>
              <a:t>Minoritaire : Disgust (547)</a:t>
            </a:r>
            <a:endParaRPr lang="en-US" sz="1400"/>
          </a:p>
          <a:p>
            <a:pPr marL="203200" indent="-203200">
              <a:spcAft>
                <a:spcPts val="700"/>
              </a:spcAft>
              <a:buSzPct val="100000"/>
              <a:buChar char="•"/>
              <a:defRPr/>
            </a:pPr>
            <a:r>
              <a:rPr lang="en-US" sz="1400">
                <a:solidFill>
                  <a:schemeClr val="bg1"/>
                </a:solidFill>
              </a:rPr>
              <a:t>Rapport majoritaire / minoritaire : 16,4×</a:t>
            </a:r>
            <a:endParaRPr lang="en-US" sz="1400"/>
          </a:p>
        </p:txBody>
      </p:sp>
      <p:sp>
        <p:nvSpPr>
          <p:cNvPr id="839220459" name="whitecard-47"/>
          <p:cNvSpPr/>
          <p:nvPr/>
        </p:nvSpPr>
        <p:spPr bwMode="auto">
          <a:xfrm>
            <a:off x="7543800" y="5532120"/>
            <a:ext cx="4099255" cy="777240"/>
          </a:xfrm>
          <a:prstGeom prst="roundRect">
            <a:avLst>
              <a:gd name="adj" fmla="val 14118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2120036387" name="img-48" descr="Les 7 expressions de FER2013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7881214" y="5577840"/>
            <a:ext cx="3424428" cy="685800"/>
          </a:xfrm>
          <a:prstGeom prst="rect">
            <a:avLst/>
          </a:prstGeom>
        </p:spPr>
      </p:pic>
      <p:sp>
        <p:nvSpPr>
          <p:cNvPr id="1751487956" name="Slide Number Placeholder 0"/>
          <p:cNvSpPr>
            <a:spLocks noGrp="1"/>
          </p:cNvSpPr>
          <p:nvPr>
            <p:ph type="sldNum" sz="quarter" idx="4294967295"/>
          </p:nvPr>
        </p:nvSpPr>
        <p:spPr bwMode="auto">
          <a:xfrm>
            <a:off x="11183112" y="6400800"/>
            <a:ext cx="457200" cy="228600"/>
          </a:xfrm>
          <a:prstGeom prst="rect">
            <a:avLst/>
          </a:prstGeom>
        </p:spPr>
        <p:txBody>
          <a:bodyPr lIns="0" tIns="0" rIns="0" bIns="0"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r">
              <a:defRPr/>
            </a:pPr>
            <a:fld id="{F7021451-1387-4CA6-816F-3879F97B5CBC}" type="slidenum">
              <a:rPr lang="en-US" b="1"/>
              <a:t>3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4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1842837" name="Text 0"/>
          <p:cNvSpPr/>
          <p:nvPr>
            <p:ph type="body" idx="100" hasCustomPrompt="1"/>
          </p:nvPr>
        </p:nvSpPr>
        <p:spPr bwMode="auto"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 spc="300">
                <a:solidFill>
                  <a:schemeClr val="accent1"/>
                </a:solidFill>
              </a:rPr>
              <a:t>02 / DONNÉES — COMPLÉMENTS</a:t>
            </a:r>
            <a:endParaRPr lang="en-US" sz="1200"/>
          </a:p>
        </p:txBody>
      </p:sp>
      <p:sp>
        <p:nvSpPr>
          <p:cNvPr id="1532250125" name="Text 0"/>
          <p:cNvSpPr/>
          <p:nvPr>
            <p:ph type="title" idx="101" hasCustomPrompt="1"/>
          </p:nvPr>
        </p:nvSpPr>
        <p:spPr bwMode="auto"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3400" b="1">
                <a:solidFill>
                  <a:schemeClr val="bg1"/>
                </a:solidFill>
              </a:rPr>
              <a:t>FER2013 : provenance et effectifs</a:t>
            </a:r>
            <a:endParaRPr lang="en-US" sz="3400"/>
          </a:p>
        </p:txBody>
      </p:sp>
      <p:sp>
        <p:nvSpPr>
          <p:cNvPr id="530846525" name="Text 0"/>
          <p:cNvSpPr/>
          <p:nvPr>
            <p:ph type="body" idx="102" hasCustomPrompt="1"/>
          </p:nvPr>
        </p:nvSpPr>
        <p:spPr bwMode="auto">
          <a:xfrm>
            <a:off x="548640" y="138988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00">
                <a:solidFill>
                  <a:schemeClr val="bg2"/>
                </a:solidFill>
              </a:rPr>
              <a:t>Source, attribution et licence sont précisés selon la fiche descriptive du notebook.</a:t>
            </a:r>
            <a:endParaRPr lang="en-US" sz="1500"/>
          </a:p>
        </p:txBody>
      </p:sp>
      <p:sp>
        <p:nvSpPr>
          <p:cNvPr id="1154899913" name="card-49"/>
          <p:cNvSpPr/>
          <p:nvPr/>
        </p:nvSpPr>
        <p:spPr bwMode="auto">
          <a:xfrm>
            <a:off x="548640" y="1920240"/>
            <a:ext cx="5760720" cy="4206240"/>
          </a:xfrm>
          <a:prstGeom prst="roundRect">
            <a:avLst>
              <a:gd name="adj" fmla="val 2609"/>
            </a:avLst>
          </a:prstGeom>
          <a:solidFill>
            <a:schemeClr val="tx2">
              <a:alpha val="92000"/>
            </a:schemeClr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725957874" name="text-50"/>
          <p:cNvSpPr txBox="1"/>
          <p:nvPr/>
        </p:nvSpPr>
        <p:spPr bwMode="auto">
          <a:xfrm>
            <a:off x="822960" y="2103120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b="1" spc="300">
                <a:solidFill>
                  <a:schemeClr val="accent1"/>
                </a:solidFill>
              </a:rPr>
              <a:t>SOURCE</a:t>
            </a:r>
            <a:endParaRPr lang="en-US" sz="1100"/>
          </a:p>
        </p:txBody>
      </p:sp>
      <p:sp>
        <p:nvSpPr>
          <p:cNvPr id="262283587" name="text-51"/>
          <p:cNvSpPr txBox="1"/>
          <p:nvPr/>
        </p:nvSpPr>
        <p:spPr bwMode="auto">
          <a:xfrm>
            <a:off x="822960" y="2395728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400">
                <a:solidFill>
                  <a:schemeClr val="bg1"/>
                </a:solidFill>
              </a:rPr>
              <a:t>Challenge « Facial Expression Recognition » (2013)</a:t>
            </a:r>
            <a:endParaRPr lang="en-US" sz="1400"/>
          </a:p>
          <a:p>
            <a:pPr marL="0" indent="0">
              <a:buNone/>
              <a:defRPr/>
            </a:pPr>
            <a:r>
              <a:rPr lang="en-US" sz="1400">
                <a:solidFill>
                  <a:schemeClr val="bg2"/>
                </a:solidFill>
              </a:rPr>
              <a:t>Copie publique : kaggle.com/datasets/msambare/fer2013</a:t>
            </a:r>
            <a:endParaRPr lang="en-US" sz="1400"/>
          </a:p>
        </p:txBody>
      </p:sp>
      <p:sp>
        <p:nvSpPr>
          <p:cNvPr id="2097631943" name="text-52"/>
          <p:cNvSpPr txBox="1"/>
          <p:nvPr/>
        </p:nvSpPr>
        <p:spPr bwMode="auto">
          <a:xfrm>
            <a:off x="822960" y="3108960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b="1" spc="300">
                <a:solidFill>
                  <a:schemeClr val="accent1"/>
                </a:solidFill>
              </a:rPr>
              <a:t>RÉFÉRENCES D’ORIGINE</a:t>
            </a:r>
            <a:endParaRPr lang="en-US" sz="1100"/>
          </a:p>
        </p:txBody>
      </p:sp>
      <p:sp>
        <p:nvSpPr>
          <p:cNvPr id="1296191712" name="text-53"/>
          <p:cNvSpPr txBox="1"/>
          <p:nvPr/>
        </p:nvSpPr>
        <p:spPr bwMode="auto">
          <a:xfrm>
            <a:off x="822960" y="3401568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400">
                <a:solidFill>
                  <a:schemeClr val="bg1"/>
                </a:solidFill>
              </a:rPr>
              <a:t>Pierre-Luc Carrier et Aaron Courville ; Goodfellow et al. (2013)</a:t>
            </a:r>
            <a:endParaRPr lang="en-US" sz="1400"/>
          </a:p>
        </p:txBody>
      </p:sp>
      <p:sp>
        <p:nvSpPr>
          <p:cNvPr id="1241652797" name="text-54"/>
          <p:cNvSpPr txBox="1"/>
          <p:nvPr/>
        </p:nvSpPr>
        <p:spPr bwMode="auto">
          <a:xfrm>
            <a:off x="822960" y="4114800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b="1" spc="300">
                <a:solidFill>
                  <a:schemeClr val="accent1"/>
                </a:solidFill>
              </a:rPr>
              <a:t>LICENCE INDIQUÉE (COPIE KAGGLE)</a:t>
            </a:r>
            <a:endParaRPr lang="en-US" sz="1100"/>
          </a:p>
        </p:txBody>
      </p:sp>
      <p:sp>
        <p:nvSpPr>
          <p:cNvPr id="1622426528" name="text-55"/>
          <p:cNvSpPr txBox="1"/>
          <p:nvPr/>
        </p:nvSpPr>
        <p:spPr bwMode="auto">
          <a:xfrm>
            <a:off x="822960" y="4407408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400">
                <a:solidFill>
                  <a:schemeClr val="bg1"/>
                </a:solidFill>
              </a:rPr>
              <a:t>« Database: Open Database, Contents: Database Contents »</a:t>
            </a:r>
            <a:endParaRPr lang="en-US" sz="1400"/>
          </a:p>
        </p:txBody>
      </p:sp>
      <p:sp>
        <p:nvSpPr>
          <p:cNvPr id="2066337506" name="text-56"/>
          <p:cNvSpPr txBox="1"/>
          <p:nvPr/>
        </p:nvSpPr>
        <p:spPr bwMode="auto">
          <a:xfrm>
            <a:off x="822960" y="5120640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b="1" spc="300">
                <a:solidFill>
                  <a:schemeClr val="accent1"/>
                </a:solidFill>
              </a:rPr>
              <a:t>FORMAT</a:t>
            </a:r>
            <a:endParaRPr lang="en-US" sz="1100"/>
          </a:p>
        </p:txBody>
      </p:sp>
      <p:sp>
        <p:nvSpPr>
          <p:cNvPr id="1937791711" name="text-57"/>
          <p:cNvSpPr txBox="1"/>
          <p:nvPr/>
        </p:nvSpPr>
        <p:spPr bwMode="auto">
          <a:xfrm>
            <a:off x="822960" y="5413248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400">
                <a:solidFill>
                  <a:schemeClr val="bg1"/>
                </a:solidFill>
              </a:rPr>
              <a:t>CSV : chaînes de 2 304 pixels ; images 48×48 en niveaux de gris</a:t>
            </a:r>
            <a:endParaRPr lang="en-US" sz="1400"/>
          </a:p>
        </p:txBody>
      </p:sp>
      <p:graphicFrame>
        <p:nvGraphicFramePr>
          <p:cNvPr id="1539439058" name="tableau-effectifs"/>
          <p:cNvGraphicFramePr>
            <a:graphicFrameLocks xmlns:a="http://schemas.openxmlformats.org/drawingml/2006/main" noGrp="1"/>
          </p:cNvGraphicFramePr>
          <p:nvPr/>
        </p:nvGraphicFramePr>
        <p:xfrm rot="0">
          <a:off x="6583680" y="1920240"/>
          <a:ext cx="5059375" cy="914400"/>
        </p:xfrm>
        <a:graphic>
          <a:graphicData uri="http://schemas.openxmlformats.org/drawingml/2006/table">
            <a:tbl>
              <a:tblPr firstRow="0" firstCol="0" lastRow="0" lastCol="0" bandRow="0" bandCol="0"/>
              <a:tblGrid>
                <a:gridCol w="3136813"/>
                <a:gridCol w="1922563"/>
              </a:tblGrid>
              <a:tr h="338328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200" b="1">
                          <a:solidFill>
                            <a:schemeClr val="bg1"/>
                          </a:solidFill>
                          <a:latin typeface="Calibri"/>
                          <a:ea typeface="Calibri"/>
                          <a:cs typeface="Calibri"/>
                        </a:rPr>
                        <a:t>Expression</a:t>
                      </a:r>
                      <a:endParaRPr lang="en-US"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137160" marR="137160" marT="27432" marB="27432" anchor="ctr">
                    <a:lnL w="9525" algn="ctr">
                      <a:solidFill>
                        <a:srgbClr val="24376B"/>
                      </a:solidFill>
                    </a:lnL>
                    <a:lnR w="9525" algn="ctr">
                      <a:solidFill>
                        <a:srgbClr val="24376B"/>
                      </a:solidFill>
                    </a:lnR>
                    <a:lnT w="9525" algn="ctr">
                      <a:solidFill>
                        <a:srgbClr val="24376B"/>
                      </a:solidFill>
                    </a:lnT>
                    <a:lnB w="9525" algn="ctr">
                      <a:solidFill>
                        <a:srgbClr val="24376B"/>
                      </a:solidFill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  <a:defRPr/>
                      </a:pPr>
                      <a:r>
                        <a:rPr lang="en-US" sz="1200" b="1">
                          <a:solidFill>
                            <a:schemeClr val="bg1"/>
                          </a:solidFill>
                          <a:latin typeface="Calibri"/>
                          <a:ea typeface="Calibri"/>
                          <a:cs typeface="Calibri"/>
                        </a:rPr>
                        <a:t>Images</a:t>
                      </a:r>
                      <a:endParaRPr lang="en-US"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137160" marR="137160" marT="27432" marB="27432" anchor="ctr">
                    <a:lnL w="9525" algn="ctr">
                      <a:solidFill>
                        <a:srgbClr val="24376B"/>
                      </a:solidFill>
                    </a:lnL>
                    <a:lnR w="9525" algn="ctr">
                      <a:solidFill>
                        <a:srgbClr val="24376B"/>
                      </a:solidFill>
                    </a:lnR>
                    <a:lnT w="9525" algn="ctr">
                      <a:solidFill>
                        <a:srgbClr val="24376B"/>
                      </a:solidFill>
                    </a:lnT>
                    <a:lnB w="9525" algn="ctr">
                      <a:solidFill>
                        <a:srgbClr val="24376B"/>
                      </a:solidFill>
                    </a:lnB>
                    <a:solidFill>
                      <a:schemeClr val="accent6"/>
                    </a:solidFill>
                  </a:tcPr>
                </a:tc>
              </a:tr>
              <a:tr h="338328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200">
                          <a:solidFill>
                            <a:schemeClr val="bg1"/>
                          </a:solidFill>
                          <a:latin typeface="Calibri"/>
                          <a:ea typeface="Calibri"/>
                          <a:cs typeface="Calibri"/>
                        </a:rPr>
                        <a:t>Colère (Angry)</a:t>
                      </a:r>
                      <a:endParaRPr lang="en-US"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137160" marR="137160" marT="27432" marB="27432" anchor="ctr">
                    <a:lnL w="9525" algn="ctr">
                      <a:solidFill>
                        <a:srgbClr val="24376B"/>
                      </a:solidFill>
                    </a:lnL>
                    <a:lnR w="9525" algn="ctr">
                      <a:solidFill>
                        <a:srgbClr val="24376B"/>
                      </a:solidFill>
                    </a:lnR>
                    <a:lnT w="9525" algn="ctr">
                      <a:solidFill>
                        <a:srgbClr val="24376B"/>
                      </a:solidFill>
                    </a:lnT>
                    <a:lnB w="9525" algn="ctr">
                      <a:solidFill>
                        <a:srgbClr val="24376B"/>
                      </a:solidFill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  <a:defRPr/>
                      </a:pPr>
                      <a:r>
                        <a:rPr lang="en-US" sz="1200">
                          <a:solidFill>
                            <a:schemeClr val="bg1"/>
                          </a:solidFill>
                          <a:latin typeface="Calibri"/>
                          <a:ea typeface="Calibri"/>
                          <a:cs typeface="Calibri"/>
                        </a:rPr>
                        <a:t>4 953</a:t>
                      </a:r>
                      <a:endParaRPr lang="en-US"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137160" marR="137160" marT="27432" marB="27432" anchor="ctr">
                    <a:lnL w="9525" algn="ctr">
                      <a:solidFill>
                        <a:srgbClr val="24376B"/>
                      </a:solidFill>
                    </a:lnL>
                    <a:lnR w="9525" algn="ctr">
                      <a:solidFill>
                        <a:srgbClr val="24376B"/>
                      </a:solidFill>
                    </a:lnR>
                    <a:lnT w="9525" algn="ctr">
                      <a:solidFill>
                        <a:srgbClr val="24376B"/>
                      </a:solidFill>
                    </a:lnT>
                    <a:lnB w="9525" algn="ctr">
                      <a:solidFill>
                        <a:srgbClr val="24376B"/>
                      </a:solidFill>
                    </a:lnB>
                    <a:solidFill>
                      <a:schemeClr val="tx2"/>
                    </a:solidFill>
                  </a:tcPr>
                </a:tc>
              </a:tr>
              <a:tr h="338328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200" b="1">
                          <a:solidFill>
                            <a:schemeClr val="accent4"/>
                          </a:solidFill>
                          <a:latin typeface="Calibri"/>
                          <a:ea typeface="Calibri"/>
                          <a:cs typeface="Calibri"/>
                        </a:rPr>
                        <a:t>Dégoût (Disgust)</a:t>
                      </a:r>
                      <a:endParaRPr lang="en-US"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137160" marR="137160" marT="27432" marB="27432" anchor="ctr">
                    <a:lnL w="9525" algn="ctr">
                      <a:solidFill>
                        <a:srgbClr val="24376B"/>
                      </a:solidFill>
                    </a:lnL>
                    <a:lnR w="9525" algn="ctr">
                      <a:solidFill>
                        <a:srgbClr val="24376B"/>
                      </a:solidFill>
                    </a:lnR>
                    <a:lnT w="9525" algn="ctr">
                      <a:solidFill>
                        <a:srgbClr val="24376B"/>
                      </a:solidFill>
                    </a:lnT>
                    <a:lnB w="9525" algn="ctr">
                      <a:solidFill>
                        <a:srgbClr val="24376B"/>
                      </a:solidFill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  <a:defRPr/>
                      </a:pPr>
                      <a:r>
                        <a:rPr lang="en-US" sz="1200" b="1">
                          <a:solidFill>
                            <a:schemeClr val="accent4"/>
                          </a:solidFill>
                          <a:latin typeface="Calibri"/>
                          <a:ea typeface="Calibri"/>
                          <a:cs typeface="Calibri"/>
                        </a:rPr>
                        <a:t>547</a:t>
                      </a:r>
                      <a:endParaRPr lang="en-US"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137160" marR="137160" marT="27432" marB="27432" anchor="ctr">
                    <a:lnL w="9525" algn="ctr">
                      <a:solidFill>
                        <a:srgbClr val="24376B"/>
                      </a:solidFill>
                    </a:lnL>
                    <a:lnR w="9525" algn="ctr">
                      <a:solidFill>
                        <a:srgbClr val="24376B"/>
                      </a:solidFill>
                    </a:lnR>
                    <a:lnT w="9525" algn="ctr">
                      <a:solidFill>
                        <a:srgbClr val="24376B"/>
                      </a:solidFill>
                    </a:lnT>
                    <a:lnB w="9525" algn="ctr">
                      <a:solidFill>
                        <a:srgbClr val="24376B"/>
                      </a:solidFill>
                    </a:lnB>
                    <a:solidFill>
                      <a:schemeClr val="tx2"/>
                    </a:solidFill>
                  </a:tcPr>
                </a:tc>
              </a:tr>
              <a:tr h="338328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200">
                          <a:solidFill>
                            <a:schemeClr val="bg1"/>
                          </a:solidFill>
                          <a:latin typeface="Calibri"/>
                          <a:ea typeface="Calibri"/>
                          <a:cs typeface="Calibri"/>
                        </a:rPr>
                        <a:t>Peur (Fear)</a:t>
                      </a:r>
                      <a:endParaRPr lang="en-US"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137160" marR="137160" marT="27432" marB="27432" anchor="ctr">
                    <a:lnL w="9525" algn="ctr">
                      <a:solidFill>
                        <a:srgbClr val="24376B"/>
                      </a:solidFill>
                    </a:lnL>
                    <a:lnR w="9525" algn="ctr">
                      <a:solidFill>
                        <a:srgbClr val="24376B"/>
                      </a:solidFill>
                    </a:lnR>
                    <a:lnT w="9525" algn="ctr">
                      <a:solidFill>
                        <a:srgbClr val="24376B"/>
                      </a:solidFill>
                    </a:lnT>
                    <a:lnB w="9525" algn="ctr">
                      <a:solidFill>
                        <a:srgbClr val="24376B"/>
                      </a:solidFill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  <a:defRPr/>
                      </a:pPr>
                      <a:r>
                        <a:rPr lang="en-US" sz="1200">
                          <a:solidFill>
                            <a:schemeClr val="bg1"/>
                          </a:solidFill>
                          <a:latin typeface="Calibri"/>
                          <a:ea typeface="Calibri"/>
                          <a:cs typeface="Calibri"/>
                        </a:rPr>
                        <a:t>5 121</a:t>
                      </a:r>
                      <a:endParaRPr lang="en-US"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137160" marR="137160" marT="27432" marB="27432" anchor="ctr">
                    <a:lnL w="9525" algn="ctr">
                      <a:solidFill>
                        <a:srgbClr val="24376B"/>
                      </a:solidFill>
                    </a:lnL>
                    <a:lnR w="9525" algn="ctr">
                      <a:solidFill>
                        <a:srgbClr val="24376B"/>
                      </a:solidFill>
                    </a:lnR>
                    <a:lnT w="9525" algn="ctr">
                      <a:solidFill>
                        <a:srgbClr val="24376B"/>
                      </a:solidFill>
                    </a:lnT>
                    <a:lnB w="9525" algn="ctr">
                      <a:solidFill>
                        <a:srgbClr val="24376B"/>
                      </a:solidFill>
                    </a:lnB>
                    <a:solidFill>
                      <a:schemeClr val="tx2"/>
                    </a:solidFill>
                  </a:tcPr>
                </a:tc>
              </a:tr>
              <a:tr h="338328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200">
                          <a:solidFill>
                            <a:schemeClr val="bg1"/>
                          </a:solidFill>
                          <a:latin typeface="Calibri"/>
                          <a:ea typeface="Calibri"/>
                          <a:cs typeface="Calibri"/>
                        </a:rPr>
                        <a:t>Joie (Happy)</a:t>
                      </a:r>
                      <a:endParaRPr lang="en-US"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137160" marR="137160" marT="27432" marB="27432" anchor="ctr">
                    <a:lnL w="9525" algn="ctr">
                      <a:solidFill>
                        <a:srgbClr val="24376B"/>
                      </a:solidFill>
                    </a:lnL>
                    <a:lnR w="9525" algn="ctr">
                      <a:solidFill>
                        <a:srgbClr val="24376B"/>
                      </a:solidFill>
                    </a:lnR>
                    <a:lnT w="9525" algn="ctr">
                      <a:solidFill>
                        <a:srgbClr val="24376B"/>
                      </a:solidFill>
                    </a:lnT>
                    <a:lnB w="9525" algn="ctr">
                      <a:solidFill>
                        <a:srgbClr val="24376B"/>
                      </a:solidFill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  <a:defRPr/>
                      </a:pPr>
                      <a:r>
                        <a:rPr lang="en-US" sz="1200">
                          <a:solidFill>
                            <a:schemeClr val="bg1"/>
                          </a:solidFill>
                          <a:latin typeface="Calibri"/>
                          <a:ea typeface="Calibri"/>
                          <a:cs typeface="Calibri"/>
                        </a:rPr>
                        <a:t>8 989</a:t>
                      </a:r>
                      <a:endParaRPr lang="en-US"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137160" marR="137160" marT="27432" marB="27432" anchor="ctr">
                    <a:lnL w="9525" algn="ctr">
                      <a:solidFill>
                        <a:srgbClr val="24376B"/>
                      </a:solidFill>
                    </a:lnL>
                    <a:lnR w="9525" algn="ctr">
                      <a:solidFill>
                        <a:srgbClr val="24376B"/>
                      </a:solidFill>
                    </a:lnR>
                    <a:lnT w="9525" algn="ctr">
                      <a:solidFill>
                        <a:srgbClr val="24376B"/>
                      </a:solidFill>
                    </a:lnT>
                    <a:lnB w="9525" algn="ctr">
                      <a:solidFill>
                        <a:srgbClr val="24376B"/>
                      </a:solidFill>
                    </a:lnB>
                    <a:solidFill>
                      <a:schemeClr val="tx2"/>
                    </a:solidFill>
                  </a:tcPr>
                </a:tc>
              </a:tr>
              <a:tr h="338328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200">
                          <a:solidFill>
                            <a:schemeClr val="bg1"/>
                          </a:solidFill>
                          <a:latin typeface="Calibri"/>
                          <a:ea typeface="Calibri"/>
                          <a:cs typeface="Calibri"/>
                        </a:rPr>
                        <a:t>Tristesse (Sad)</a:t>
                      </a:r>
                      <a:endParaRPr lang="en-US"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137160" marR="137160" marT="27432" marB="27432" anchor="ctr">
                    <a:lnL w="9525" algn="ctr">
                      <a:solidFill>
                        <a:srgbClr val="24376B"/>
                      </a:solidFill>
                    </a:lnL>
                    <a:lnR w="9525" algn="ctr">
                      <a:solidFill>
                        <a:srgbClr val="24376B"/>
                      </a:solidFill>
                    </a:lnR>
                    <a:lnT w="9525" algn="ctr">
                      <a:solidFill>
                        <a:srgbClr val="24376B"/>
                      </a:solidFill>
                    </a:lnT>
                    <a:lnB w="9525" algn="ctr">
                      <a:solidFill>
                        <a:srgbClr val="24376B"/>
                      </a:solidFill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  <a:defRPr/>
                      </a:pPr>
                      <a:r>
                        <a:rPr lang="en-US" sz="1200">
                          <a:solidFill>
                            <a:schemeClr val="bg1"/>
                          </a:solidFill>
                          <a:latin typeface="Calibri"/>
                          <a:ea typeface="Calibri"/>
                          <a:cs typeface="Calibri"/>
                        </a:rPr>
                        <a:t>6 077</a:t>
                      </a:r>
                      <a:endParaRPr lang="en-US"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137160" marR="137160" marT="27432" marB="27432" anchor="ctr">
                    <a:lnL w="9525" algn="ctr">
                      <a:solidFill>
                        <a:srgbClr val="24376B"/>
                      </a:solidFill>
                    </a:lnL>
                    <a:lnR w="9525" algn="ctr">
                      <a:solidFill>
                        <a:srgbClr val="24376B"/>
                      </a:solidFill>
                    </a:lnR>
                    <a:lnT w="9525" algn="ctr">
                      <a:solidFill>
                        <a:srgbClr val="24376B"/>
                      </a:solidFill>
                    </a:lnT>
                    <a:lnB w="9525" algn="ctr">
                      <a:solidFill>
                        <a:srgbClr val="24376B"/>
                      </a:solidFill>
                    </a:lnB>
                    <a:solidFill>
                      <a:schemeClr val="tx2"/>
                    </a:solidFill>
                  </a:tcPr>
                </a:tc>
              </a:tr>
              <a:tr h="338328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200">
                          <a:solidFill>
                            <a:schemeClr val="bg1"/>
                          </a:solidFill>
                          <a:latin typeface="Calibri"/>
                          <a:ea typeface="Calibri"/>
                          <a:cs typeface="Calibri"/>
                        </a:rPr>
                        <a:t>Surprise</a:t>
                      </a:r>
                      <a:endParaRPr lang="en-US"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137160" marR="137160" marT="27432" marB="27432" anchor="ctr">
                    <a:lnL w="9525" algn="ctr">
                      <a:solidFill>
                        <a:srgbClr val="24376B"/>
                      </a:solidFill>
                    </a:lnL>
                    <a:lnR w="9525" algn="ctr">
                      <a:solidFill>
                        <a:srgbClr val="24376B"/>
                      </a:solidFill>
                    </a:lnR>
                    <a:lnT w="9525" algn="ctr">
                      <a:solidFill>
                        <a:srgbClr val="24376B"/>
                      </a:solidFill>
                    </a:lnT>
                    <a:lnB w="9525" algn="ctr">
                      <a:solidFill>
                        <a:srgbClr val="24376B"/>
                      </a:solidFill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  <a:defRPr/>
                      </a:pPr>
                      <a:r>
                        <a:rPr lang="en-US" sz="1200">
                          <a:solidFill>
                            <a:schemeClr val="bg1"/>
                          </a:solidFill>
                          <a:latin typeface="Calibri"/>
                          <a:ea typeface="Calibri"/>
                          <a:cs typeface="Calibri"/>
                        </a:rPr>
                        <a:t>4 002</a:t>
                      </a:r>
                      <a:endParaRPr lang="en-US"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137160" marR="137160" marT="27432" marB="27432" anchor="ctr">
                    <a:lnL w="9525" algn="ctr">
                      <a:solidFill>
                        <a:srgbClr val="24376B"/>
                      </a:solidFill>
                    </a:lnL>
                    <a:lnR w="9525" algn="ctr">
                      <a:solidFill>
                        <a:srgbClr val="24376B"/>
                      </a:solidFill>
                    </a:lnR>
                    <a:lnT w="9525" algn="ctr">
                      <a:solidFill>
                        <a:srgbClr val="24376B"/>
                      </a:solidFill>
                    </a:lnT>
                    <a:lnB w="9525" algn="ctr">
                      <a:solidFill>
                        <a:srgbClr val="24376B"/>
                      </a:solidFill>
                    </a:lnB>
                    <a:solidFill>
                      <a:schemeClr val="tx2"/>
                    </a:solidFill>
                  </a:tcPr>
                </a:tc>
              </a:tr>
              <a:tr h="338328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200">
                          <a:solidFill>
                            <a:schemeClr val="bg1"/>
                          </a:solidFill>
                          <a:latin typeface="Calibri"/>
                          <a:ea typeface="Calibri"/>
                          <a:cs typeface="Calibri"/>
                        </a:rPr>
                        <a:t>Neutre</a:t>
                      </a:r>
                      <a:endParaRPr lang="en-US"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137160" marR="137160" marT="27432" marB="27432" anchor="ctr">
                    <a:lnL w="9525" algn="ctr">
                      <a:solidFill>
                        <a:srgbClr val="24376B"/>
                      </a:solidFill>
                    </a:lnL>
                    <a:lnR w="9525" algn="ctr">
                      <a:solidFill>
                        <a:srgbClr val="24376B"/>
                      </a:solidFill>
                    </a:lnR>
                    <a:lnT w="9525" algn="ctr">
                      <a:solidFill>
                        <a:srgbClr val="24376B"/>
                      </a:solidFill>
                    </a:lnT>
                    <a:lnB w="9525" algn="ctr">
                      <a:solidFill>
                        <a:srgbClr val="24376B"/>
                      </a:solidFill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  <a:defRPr/>
                      </a:pPr>
                      <a:r>
                        <a:rPr lang="en-US" sz="1200">
                          <a:solidFill>
                            <a:schemeClr val="bg1"/>
                          </a:solidFill>
                          <a:latin typeface="Calibri"/>
                          <a:ea typeface="Calibri"/>
                          <a:cs typeface="Calibri"/>
                        </a:rPr>
                        <a:t>6 198</a:t>
                      </a:r>
                      <a:endParaRPr lang="en-US"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137160" marR="137160" marT="27432" marB="27432" anchor="ctr">
                    <a:lnL w="9525" algn="ctr">
                      <a:solidFill>
                        <a:srgbClr val="24376B"/>
                      </a:solidFill>
                    </a:lnL>
                    <a:lnR w="9525" algn="ctr">
                      <a:solidFill>
                        <a:srgbClr val="24376B"/>
                      </a:solidFill>
                    </a:lnR>
                    <a:lnT w="9525" algn="ctr">
                      <a:solidFill>
                        <a:srgbClr val="24376B"/>
                      </a:solidFill>
                    </a:lnT>
                    <a:lnB w="9525" algn="ctr">
                      <a:solidFill>
                        <a:srgbClr val="24376B"/>
                      </a:solidFill>
                    </a:lnB>
                    <a:solidFill>
                      <a:schemeClr val="tx2"/>
                    </a:solidFill>
                  </a:tcPr>
                </a:tc>
              </a:tr>
              <a:tr h="338328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200" b="1">
                          <a:solidFill>
                            <a:schemeClr val="accent1"/>
                          </a:solidFill>
                          <a:latin typeface="Calibri"/>
                          <a:ea typeface="Calibri"/>
                          <a:cs typeface="Calibri"/>
                        </a:rPr>
                        <a:t>TOTAL</a:t>
                      </a:r>
                      <a:endParaRPr lang="en-US"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137160" marR="137160" marT="27432" marB="27432" anchor="ctr">
                    <a:lnL w="9525" algn="ctr">
                      <a:solidFill>
                        <a:srgbClr val="24376B"/>
                      </a:solidFill>
                    </a:lnL>
                    <a:lnR w="9525" algn="ctr">
                      <a:solidFill>
                        <a:srgbClr val="24376B"/>
                      </a:solidFill>
                    </a:lnR>
                    <a:lnT w="9525" algn="ctr">
                      <a:solidFill>
                        <a:srgbClr val="24376B"/>
                      </a:solidFill>
                    </a:lnT>
                    <a:lnB w="9525" algn="ctr">
                      <a:solidFill>
                        <a:srgbClr val="24376B"/>
                      </a:solidFill>
                    </a:lnB>
                    <a:solidFill>
                      <a:srgbClr val="0E3A4F"/>
                    </a:solidFill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  <a:defRPr/>
                      </a:pPr>
                      <a:r>
                        <a:rPr lang="en-US" sz="1200" b="1">
                          <a:solidFill>
                            <a:schemeClr val="accent1"/>
                          </a:solidFill>
                          <a:latin typeface="Calibri"/>
                          <a:ea typeface="Calibri"/>
                          <a:cs typeface="Calibri"/>
                        </a:rPr>
                        <a:t>35 887</a:t>
                      </a:r>
                      <a:endParaRPr lang="en-US"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137160" marR="137160" marT="27432" marB="27432" anchor="ctr">
                    <a:lnL w="9525" algn="ctr">
                      <a:solidFill>
                        <a:srgbClr val="24376B"/>
                      </a:solidFill>
                    </a:lnL>
                    <a:lnR w="9525" algn="ctr">
                      <a:solidFill>
                        <a:srgbClr val="24376B"/>
                      </a:solidFill>
                    </a:lnR>
                    <a:lnT w="9525" algn="ctr">
                      <a:solidFill>
                        <a:srgbClr val="24376B"/>
                      </a:solidFill>
                    </a:lnT>
                    <a:lnB w="9525" algn="ctr">
                      <a:solidFill>
                        <a:srgbClr val="24376B"/>
                      </a:solidFill>
                    </a:lnB>
                    <a:solidFill>
                      <a:srgbClr val="0E3A4F"/>
                    </a:solidFill>
                  </a:tcPr>
                </a:tc>
              </a:tr>
            </a:tbl>
          </a:graphicData>
        </a:graphic>
      </p:graphicFrame>
      <p:sp>
        <p:nvSpPr>
          <p:cNvPr id="678816556" name="card-58"/>
          <p:cNvSpPr/>
          <p:nvPr/>
        </p:nvSpPr>
        <p:spPr bwMode="auto">
          <a:xfrm>
            <a:off x="6583680" y="5120640"/>
            <a:ext cx="5059375" cy="1005840"/>
          </a:xfrm>
          <a:prstGeom prst="roundRect">
            <a:avLst>
              <a:gd name="adj" fmla="val 10909"/>
            </a:avLst>
          </a:prstGeom>
          <a:solidFill>
            <a:schemeClr val="tx2">
              <a:alpha val="92000"/>
            </a:schemeClr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744964019" name="text-59"/>
          <p:cNvSpPr txBox="1"/>
          <p:nvPr/>
        </p:nvSpPr>
        <p:spPr bwMode="auto">
          <a:xfrm>
            <a:off x="6858000" y="5120640"/>
            <a:ext cx="45107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chemeClr val="accent4"/>
                </a:solidFill>
              </a:rPr>
              <a:t>Remarque : </a:t>
            </a:r>
            <a:r>
              <a:rPr lang="en-US" sz="1400">
                <a:solidFill>
                  <a:schemeClr val="bg1"/>
                </a:solidFill>
              </a:rPr>
              <a:t>la classe Dégoût représente seulement 1,52 % du dataset (547 images sur 35 887).</a:t>
            </a:r>
            <a:endParaRPr lang="en-US" sz="1400"/>
          </a:p>
        </p:txBody>
      </p:sp>
      <p:sp>
        <p:nvSpPr>
          <p:cNvPr id="1213800402" name="Slide Number Placeholder 0"/>
          <p:cNvSpPr>
            <a:spLocks noGrp="1"/>
          </p:cNvSpPr>
          <p:nvPr>
            <p:ph type="sldNum" sz="quarter" idx="4294967295"/>
          </p:nvPr>
        </p:nvSpPr>
        <p:spPr bwMode="auto">
          <a:xfrm>
            <a:off x="11183112" y="6400800"/>
            <a:ext cx="457200" cy="228600"/>
          </a:xfrm>
          <a:prstGeom prst="rect">
            <a:avLst/>
          </a:prstGeom>
        </p:spPr>
        <p:txBody>
          <a:bodyPr lIns="0" tIns="0" rIns="0" bIns="0"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r">
              <a:defRPr/>
            </a:pPr>
            <a:fld id="{F7021451-1387-4CA6-816F-3879F97B5CBC}" type="slidenum">
              <a:rPr lang="en-US" b="1"/>
              <a:t>4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5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0926492" name="Text 0"/>
          <p:cNvSpPr/>
          <p:nvPr>
            <p:ph type="body" idx="100" hasCustomPrompt="1"/>
          </p:nvPr>
        </p:nvSpPr>
        <p:spPr bwMode="auto"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 spc="300">
                <a:solidFill>
                  <a:schemeClr val="accent1"/>
                </a:solidFill>
              </a:rPr>
              <a:t>03 / PRÉPARATION</a:t>
            </a:r>
            <a:endParaRPr lang="en-US" sz="1200"/>
          </a:p>
        </p:txBody>
      </p:sp>
      <p:sp>
        <p:nvSpPr>
          <p:cNvPr id="589208963" name="Text 0"/>
          <p:cNvSpPr/>
          <p:nvPr>
            <p:ph type="title" idx="101" hasCustomPrompt="1"/>
          </p:nvPr>
        </p:nvSpPr>
        <p:spPr bwMode="auto"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3400" b="1">
                <a:solidFill>
                  <a:schemeClr val="bg1"/>
                </a:solidFill>
              </a:rPr>
              <a:t>Prétraitement et exploration visuelle</a:t>
            </a:r>
            <a:endParaRPr lang="en-US" sz="3400"/>
          </a:p>
        </p:txBody>
      </p:sp>
      <p:sp>
        <p:nvSpPr>
          <p:cNvPr id="1274718559" name="Text 0"/>
          <p:cNvSpPr/>
          <p:nvPr>
            <p:ph type="body" idx="102" hasCustomPrompt="1"/>
          </p:nvPr>
        </p:nvSpPr>
        <p:spPr bwMode="auto">
          <a:xfrm>
            <a:off x="548640" y="138988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00">
                <a:solidFill>
                  <a:schemeClr val="bg2"/>
                </a:solidFill>
              </a:rPr>
              <a:t>Toutes les images sont traitées de manière cohérente avant l’entraînement.</a:t>
            </a:r>
            <a:endParaRPr lang="en-US" sz="1500"/>
          </a:p>
        </p:txBody>
      </p:sp>
      <p:sp>
        <p:nvSpPr>
          <p:cNvPr id="417897978" name="card-60"/>
          <p:cNvSpPr/>
          <p:nvPr/>
        </p:nvSpPr>
        <p:spPr bwMode="auto">
          <a:xfrm>
            <a:off x="548640" y="1920240"/>
            <a:ext cx="6675120" cy="621792"/>
          </a:xfrm>
          <a:prstGeom prst="roundRect">
            <a:avLst>
              <a:gd name="adj" fmla="val 17647"/>
            </a:avLst>
          </a:prstGeom>
          <a:solidFill>
            <a:schemeClr val="tx2">
              <a:alpha val="92000"/>
            </a:schemeClr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40655913" name="num-61"/>
          <p:cNvSpPr/>
          <p:nvPr/>
        </p:nvSpPr>
        <p:spPr bwMode="auto">
          <a:xfrm>
            <a:off x="749808" y="1993392"/>
            <a:ext cx="475488" cy="475488"/>
          </a:xfrm>
          <a:prstGeom prst="ellipse">
            <a:avLst/>
          </a:prstGeom>
          <a:solidFill>
            <a:schemeClr val="accent1">
              <a:alpha val="14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77218152" name="text-62"/>
          <p:cNvSpPr txBox="1"/>
          <p:nvPr/>
        </p:nvSpPr>
        <p:spPr bwMode="auto">
          <a:xfrm>
            <a:off x="749808" y="199339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600" b="1">
                <a:solidFill>
                  <a:schemeClr val="accent1"/>
                </a:solidFill>
              </a:rPr>
              <a:t>1</a:t>
            </a:r>
            <a:endParaRPr lang="en-US" sz="1600"/>
          </a:p>
        </p:txBody>
      </p:sp>
      <p:sp>
        <p:nvSpPr>
          <p:cNvPr id="1136141162" name="text-63"/>
          <p:cNvSpPr txBox="1"/>
          <p:nvPr/>
        </p:nvSpPr>
        <p:spPr bwMode="auto">
          <a:xfrm>
            <a:off x="1463040" y="1920240"/>
            <a:ext cx="5577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>
                <a:solidFill>
                  <a:schemeClr val="bg1"/>
                </a:solidFill>
              </a:rPr>
              <a:t>Conversion des chaînes de pixels en tenseurs 48×48×1</a:t>
            </a:r>
            <a:endParaRPr lang="en-US" sz="1400"/>
          </a:p>
        </p:txBody>
      </p:sp>
      <p:sp>
        <p:nvSpPr>
          <p:cNvPr id="2108899004" name="card-64"/>
          <p:cNvSpPr/>
          <p:nvPr/>
        </p:nvSpPr>
        <p:spPr bwMode="auto">
          <a:xfrm>
            <a:off x="548640" y="2615184"/>
            <a:ext cx="6675120" cy="621792"/>
          </a:xfrm>
          <a:prstGeom prst="roundRect">
            <a:avLst>
              <a:gd name="adj" fmla="val 17647"/>
            </a:avLst>
          </a:prstGeom>
          <a:solidFill>
            <a:schemeClr val="tx2">
              <a:alpha val="92000"/>
            </a:schemeClr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657926202" name="num-65"/>
          <p:cNvSpPr/>
          <p:nvPr/>
        </p:nvSpPr>
        <p:spPr bwMode="auto">
          <a:xfrm>
            <a:off x="749808" y="2688336"/>
            <a:ext cx="475488" cy="475488"/>
          </a:xfrm>
          <a:prstGeom prst="ellipse">
            <a:avLst/>
          </a:prstGeom>
          <a:solidFill>
            <a:schemeClr val="accent1">
              <a:alpha val="14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86601016" name="text-66"/>
          <p:cNvSpPr txBox="1"/>
          <p:nvPr/>
        </p:nvSpPr>
        <p:spPr bwMode="auto">
          <a:xfrm>
            <a:off x="749808" y="26883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600" b="1">
                <a:solidFill>
                  <a:schemeClr val="accent1"/>
                </a:solidFill>
              </a:rPr>
              <a:t>2</a:t>
            </a:r>
            <a:endParaRPr lang="en-US" sz="1600"/>
          </a:p>
        </p:txBody>
      </p:sp>
      <p:sp>
        <p:nvSpPr>
          <p:cNvPr id="1997590290" name="text-67"/>
          <p:cNvSpPr txBox="1"/>
          <p:nvPr/>
        </p:nvSpPr>
        <p:spPr bwMode="auto">
          <a:xfrm>
            <a:off x="1463040" y="2615184"/>
            <a:ext cx="5577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>
                <a:solidFill>
                  <a:schemeClr val="bg1"/>
                </a:solidFill>
              </a:rPr>
              <a:t>Normalisation des intensités entre 0 et 1</a:t>
            </a:r>
            <a:endParaRPr lang="en-US" sz="1400"/>
          </a:p>
        </p:txBody>
      </p:sp>
      <p:sp>
        <p:nvSpPr>
          <p:cNvPr id="420952188" name="card-68"/>
          <p:cNvSpPr/>
          <p:nvPr/>
        </p:nvSpPr>
        <p:spPr bwMode="auto">
          <a:xfrm>
            <a:off x="548640" y="3310127"/>
            <a:ext cx="6675120" cy="621792"/>
          </a:xfrm>
          <a:prstGeom prst="roundRect">
            <a:avLst>
              <a:gd name="adj" fmla="val 17647"/>
            </a:avLst>
          </a:prstGeom>
          <a:solidFill>
            <a:schemeClr val="tx2">
              <a:alpha val="92000"/>
            </a:schemeClr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953967647" name="num-69"/>
          <p:cNvSpPr/>
          <p:nvPr/>
        </p:nvSpPr>
        <p:spPr bwMode="auto">
          <a:xfrm>
            <a:off x="749808" y="3383280"/>
            <a:ext cx="475488" cy="475488"/>
          </a:xfrm>
          <a:prstGeom prst="ellipse">
            <a:avLst/>
          </a:prstGeom>
          <a:solidFill>
            <a:schemeClr val="accent1">
              <a:alpha val="14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87115661" name="text-70"/>
          <p:cNvSpPr txBox="1"/>
          <p:nvPr/>
        </p:nvSpPr>
        <p:spPr bwMode="auto">
          <a:xfrm>
            <a:off x="749808" y="33832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600" b="1">
                <a:solidFill>
                  <a:schemeClr val="accent1"/>
                </a:solidFill>
              </a:rPr>
              <a:t>3</a:t>
            </a:r>
            <a:endParaRPr lang="en-US" sz="1600"/>
          </a:p>
        </p:txBody>
      </p:sp>
      <p:sp>
        <p:nvSpPr>
          <p:cNvPr id="720513976" name="text-71"/>
          <p:cNvSpPr txBox="1"/>
          <p:nvPr/>
        </p:nvSpPr>
        <p:spPr bwMode="auto">
          <a:xfrm>
            <a:off x="1463040" y="3310127"/>
            <a:ext cx="5577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>
                <a:solidFill>
                  <a:schemeClr val="bg1"/>
                </a:solidFill>
              </a:rPr>
              <a:t>Labels conservés en entiers 0–6 (sparse categorical crossentropy)</a:t>
            </a:r>
            <a:endParaRPr lang="en-US" sz="1400"/>
          </a:p>
        </p:txBody>
      </p:sp>
      <p:sp>
        <p:nvSpPr>
          <p:cNvPr id="936024716" name="card-72"/>
          <p:cNvSpPr/>
          <p:nvPr/>
        </p:nvSpPr>
        <p:spPr bwMode="auto">
          <a:xfrm>
            <a:off x="548640" y="4005072"/>
            <a:ext cx="6675120" cy="621792"/>
          </a:xfrm>
          <a:prstGeom prst="roundRect">
            <a:avLst>
              <a:gd name="adj" fmla="val 17647"/>
            </a:avLst>
          </a:prstGeom>
          <a:solidFill>
            <a:schemeClr val="tx2">
              <a:alpha val="92000"/>
            </a:schemeClr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715711634" name="num-73"/>
          <p:cNvSpPr/>
          <p:nvPr/>
        </p:nvSpPr>
        <p:spPr bwMode="auto">
          <a:xfrm>
            <a:off x="749808" y="4078224"/>
            <a:ext cx="475488" cy="475488"/>
          </a:xfrm>
          <a:prstGeom prst="ellipse">
            <a:avLst/>
          </a:prstGeom>
          <a:solidFill>
            <a:schemeClr val="accent1">
              <a:alpha val="14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70587959" name="text-74"/>
          <p:cNvSpPr txBox="1"/>
          <p:nvPr/>
        </p:nvSpPr>
        <p:spPr bwMode="auto">
          <a:xfrm>
            <a:off x="749808" y="407822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600" b="1">
                <a:solidFill>
                  <a:schemeClr val="accent1"/>
                </a:solidFill>
              </a:rPr>
              <a:t>4</a:t>
            </a:r>
            <a:endParaRPr lang="en-US" sz="1600"/>
          </a:p>
        </p:txBody>
      </p:sp>
      <p:sp>
        <p:nvSpPr>
          <p:cNvPr id="1439747473" name="text-75"/>
          <p:cNvSpPr txBox="1"/>
          <p:nvPr/>
        </p:nvSpPr>
        <p:spPr bwMode="auto">
          <a:xfrm>
            <a:off x="1463040" y="4005072"/>
            <a:ext cx="5577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>
                <a:solidFill>
                  <a:schemeClr val="bg1"/>
                </a:solidFill>
              </a:rPr>
              <a:t>Split officiel : 28 709 train, 3 589 validation, 3 589 test</a:t>
            </a:r>
            <a:endParaRPr lang="en-US" sz="1400"/>
          </a:p>
        </p:txBody>
      </p:sp>
      <p:sp>
        <p:nvSpPr>
          <p:cNvPr id="716199559" name="card-76"/>
          <p:cNvSpPr/>
          <p:nvPr/>
        </p:nvSpPr>
        <p:spPr bwMode="auto">
          <a:xfrm>
            <a:off x="548640" y="4700016"/>
            <a:ext cx="6675120" cy="621792"/>
          </a:xfrm>
          <a:prstGeom prst="roundRect">
            <a:avLst>
              <a:gd name="adj" fmla="val 17647"/>
            </a:avLst>
          </a:prstGeom>
          <a:solidFill>
            <a:schemeClr val="tx2">
              <a:alpha val="92000"/>
            </a:schemeClr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629702809" name="num-77"/>
          <p:cNvSpPr/>
          <p:nvPr/>
        </p:nvSpPr>
        <p:spPr bwMode="auto">
          <a:xfrm>
            <a:off x="749808" y="4773168"/>
            <a:ext cx="475488" cy="475488"/>
          </a:xfrm>
          <a:prstGeom prst="ellipse">
            <a:avLst/>
          </a:prstGeom>
          <a:solidFill>
            <a:schemeClr val="accent1">
              <a:alpha val="14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98591221" name="text-78"/>
          <p:cNvSpPr txBox="1"/>
          <p:nvPr/>
        </p:nvSpPr>
        <p:spPr bwMode="auto">
          <a:xfrm>
            <a:off x="749808" y="47731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600" b="1">
                <a:solidFill>
                  <a:schemeClr val="accent1"/>
                </a:solidFill>
              </a:rPr>
              <a:t>5</a:t>
            </a:r>
            <a:endParaRPr lang="en-US" sz="1600"/>
          </a:p>
        </p:txBody>
      </p:sp>
      <p:sp>
        <p:nvSpPr>
          <p:cNvPr id="1963019018" name="text-79"/>
          <p:cNvSpPr txBox="1"/>
          <p:nvPr/>
        </p:nvSpPr>
        <p:spPr bwMode="auto">
          <a:xfrm>
            <a:off x="1463040" y="4700016"/>
            <a:ext cx="5577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>
                <a:solidFill>
                  <a:schemeClr val="bg1"/>
                </a:solidFill>
              </a:rPr>
              <a:t>Jeu de test conservé uniquement pour l’évaluation finale</a:t>
            </a:r>
            <a:endParaRPr lang="en-US" sz="1400"/>
          </a:p>
        </p:txBody>
      </p:sp>
      <p:sp>
        <p:nvSpPr>
          <p:cNvPr id="977234612" name="highlight-80"/>
          <p:cNvSpPr/>
          <p:nvPr/>
        </p:nvSpPr>
        <p:spPr bwMode="auto">
          <a:xfrm>
            <a:off x="548640" y="5431536"/>
            <a:ext cx="6675120" cy="694944"/>
          </a:xfrm>
          <a:prstGeom prst="roundRect">
            <a:avLst>
              <a:gd name="adj" fmla="val 15789"/>
            </a:avLst>
          </a:prstGeom>
          <a:solidFill>
            <a:schemeClr val="accent1">
              <a:alpha val="12000"/>
            </a:schemeClr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665018084" name="text-81"/>
          <p:cNvSpPr txBox="1"/>
          <p:nvPr/>
        </p:nvSpPr>
        <p:spPr bwMode="auto">
          <a:xfrm>
            <a:off x="822960" y="5431536"/>
            <a:ext cx="61264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chemeClr val="accent1"/>
                </a:solidFill>
              </a:rPr>
              <a:t>Pourquoi ? </a:t>
            </a:r>
            <a:r>
              <a:rPr lang="en-US" sz="1400">
                <a:solidFill>
                  <a:schemeClr val="bg1"/>
                </a:solidFill>
              </a:rPr>
              <a:t>Normalisation : optimisation plus stable ; labels entiers : loss sparse ; train / val / test : éviter toute fuite de données.</a:t>
            </a:r>
            <a:endParaRPr lang="en-US" sz="1400"/>
          </a:p>
        </p:txBody>
      </p:sp>
      <p:sp>
        <p:nvSpPr>
          <p:cNvPr id="1385150822" name="card-82"/>
          <p:cNvSpPr/>
          <p:nvPr/>
        </p:nvSpPr>
        <p:spPr bwMode="auto">
          <a:xfrm>
            <a:off x="7498080" y="1920240"/>
            <a:ext cx="4144975" cy="4206240"/>
          </a:xfrm>
          <a:prstGeom prst="roundRect">
            <a:avLst>
              <a:gd name="adj" fmla="val 2647"/>
            </a:avLst>
          </a:prstGeom>
          <a:solidFill>
            <a:schemeClr val="tx2">
              <a:alpha val="92000"/>
            </a:schemeClr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37492082" name="text-83"/>
          <p:cNvSpPr txBox="1"/>
          <p:nvPr/>
        </p:nvSpPr>
        <p:spPr bwMode="auto">
          <a:xfrm>
            <a:off x="7726680" y="2029968"/>
            <a:ext cx="36877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chemeClr val="bg1"/>
                </a:solidFill>
              </a:rPr>
              <a:t>Exemples d’images par classe</a:t>
            </a:r>
            <a:endParaRPr lang="en-US" sz="1500"/>
          </a:p>
        </p:txBody>
      </p:sp>
      <p:sp>
        <p:nvSpPr>
          <p:cNvPr id="572162117" name="whitecard-84"/>
          <p:cNvSpPr/>
          <p:nvPr/>
        </p:nvSpPr>
        <p:spPr bwMode="auto">
          <a:xfrm>
            <a:off x="7726680" y="2468880"/>
            <a:ext cx="3687775" cy="3520440"/>
          </a:xfrm>
          <a:prstGeom prst="roundRect">
            <a:avLst>
              <a:gd name="adj" fmla="val 3117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1565505872" name="img-85" descr="Exemples de visages FER2013 par classe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8384180" y="2523744"/>
            <a:ext cx="2372776" cy="3410712"/>
          </a:xfrm>
          <a:prstGeom prst="rect">
            <a:avLst/>
          </a:prstGeom>
        </p:spPr>
      </p:pic>
      <p:sp>
        <p:nvSpPr>
          <p:cNvPr id="307102426" name="Slide Number Placeholder 0"/>
          <p:cNvSpPr>
            <a:spLocks noGrp="1"/>
          </p:cNvSpPr>
          <p:nvPr>
            <p:ph type="sldNum" sz="quarter" idx="4294967295"/>
          </p:nvPr>
        </p:nvSpPr>
        <p:spPr bwMode="auto">
          <a:xfrm>
            <a:off x="11183112" y="6400800"/>
            <a:ext cx="457200" cy="228600"/>
          </a:xfrm>
          <a:prstGeom prst="rect">
            <a:avLst/>
          </a:prstGeom>
        </p:spPr>
        <p:txBody>
          <a:bodyPr lIns="0" tIns="0" rIns="0" bIns="0"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r">
              <a:defRPr/>
            </a:pPr>
            <a:fld id="{F7021451-1387-4CA6-816F-3879F97B5CBC}" type="slidenum">
              <a:rPr lang="en-US" b="1"/>
              <a:t>5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6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7286464" name="Text 0"/>
          <p:cNvSpPr/>
          <p:nvPr>
            <p:ph type="body" idx="100" hasCustomPrompt="1"/>
          </p:nvPr>
        </p:nvSpPr>
        <p:spPr bwMode="auto"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 spc="300">
                <a:solidFill>
                  <a:schemeClr val="accent1"/>
                </a:solidFill>
              </a:rPr>
              <a:t>04 / MODÈLE DE RÉFÉRENCE</a:t>
            </a:r>
            <a:endParaRPr lang="en-US" sz="1200"/>
          </a:p>
        </p:txBody>
      </p:sp>
      <p:sp>
        <p:nvSpPr>
          <p:cNvPr id="1063956593" name="Text 0"/>
          <p:cNvSpPr/>
          <p:nvPr>
            <p:ph type="title" idx="101" hasCustomPrompt="1"/>
          </p:nvPr>
        </p:nvSpPr>
        <p:spPr bwMode="auto"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3400" b="1">
                <a:solidFill>
                  <a:schemeClr val="bg1"/>
                </a:solidFill>
              </a:rPr>
              <a:t>Baseline dense (MLP)</a:t>
            </a:r>
            <a:endParaRPr lang="en-US" sz="3400"/>
          </a:p>
        </p:txBody>
      </p:sp>
      <p:sp>
        <p:nvSpPr>
          <p:cNvPr id="1575827768" name="Text 0"/>
          <p:cNvSpPr/>
          <p:nvPr>
            <p:ph type="body" idx="102" hasCustomPrompt="1"/>
          </p:nvPr>
        </p:nvSpPr>
        <p:spPr bwMode="auto">
          <a:xfrm>
            <a:off x="548640" y="138988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00">
                <a:solidFill>
                  <a:schemeClr val="bg2"/>
                </a:solidFill>
              </a:rPr>
              <a:t>Un modèle simple sert de point de comparaison avant de passer aux convolutions.</a:t>
            </a:r>
            <a:endParaRPr lang="en-US" sz="1500"/>
          </a:p>
        </p:txBody>
      </p:sp>
      <p:sp>
        <p:nvSpPr>
          <p:cNvPr id="896232502" name="card-86"/>
          <p:cNvSpPr/>
          <p:nvPr/>
        </p:nvSpPr>
        <p:spPr bwMode="auto">
          <a:xfrm>
            <a:off x="548640" y="1920240"/>
            <a:ext cx="7406640" cy="2423160"/>
          </a:xfrm>
          <a:prstGeom prst="roundRect">
            <a:avLst>
              <a:gd name="adj" fmla="val 4528"/>
            </a:avLst>
          </a:prstGeom>
          <a:solidFill>
            <a:schemeClr val="tx2">
              <a:alpha val="92000"/>
            </a:schemeClr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588696283" name="text-87"/>
          <p:cNvSpPr txBox="1"/>
          <p:nvPr/>
        </p:nvSpPr>
        <p:spPr bwMode="auto">
          <a:xfrm>
            <a:off x="822960" y="20299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chemeClr val="bg1"/>
                </a:solidFill>
              </a:rPr>
              <a:t>Architecture</a:t>
            </a:r>
            <a:endParaRPr lang="en-US" sz="1500"/>
          </a:p>
        </p:txBody>
      </p:sp>
      <p:sp>
        <p:nvSpPr>
          <p:cNvPr id="1436350889" name="block-88"/>
          <p:cNvSpPr/>
          <p:nvPr/>
        </p:nvSpPr>
        <p:spPr bwMode="auto">
          <a:xfrm>
            <a:off x="891540" y="2560320"/>
            <a:ext cx="1371600" cy="731520"/>
          </a:xfrm>
          <a:prstGeom prst="roundRect">
            <a:avLst>
              <a:gd name="adj" fmla="val 12500"/>
            </a:avLst>
          </a:prstGeom>
          <a:solidFill>
            <a:schemeClr val="accent2">
              <a:alpha val="22000"/>
            </a:schemeClr>
          </a:solidFill>
          <a:ln w="15875">
            <a:solidFill>
              <a:schemeClr val="accent2"/>
            </a:solidFill>
            <a:prstDash val="solid"/>
          </a:ln>
        </p:spPr>
      </p:sp>
      <p:sp>
        <p:nvSpPr>
          <p:cNvPr id="1652895420" name="text-89"/>
          <p:cNvSpPr txBox="1"/>
          <p:nvPr/>
        </p:nvSpPr>
        <p:spPr bwMode="auto">
          <a:xfrm>
            <a:off x="891540" y="256032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chemeClr val="bg1"/>
                </a:solidFill>
              </a:rPr>
              <a:t>Input</a:t>
            </a:r>
            <a:endParaRPr lang="en-US" sz="1400"/>
          </a:p>
        </p:txBody>
      </p:sp>
      <p:sp>
        <p:nvSpPr>
          <p:cNvPr id="382114934" name="text-90"/>
          <p:cNvSpPr txBox="1"/>
          <p:nvPr/>
        </p:nvSpPr>
        <p:spPr bwMode="auto">
          <a:xfrm>
            <a:off x="891540" y="33649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  <a:defRPr/>
            </a:pPr>
            <a:r>
              <a:rPr lang="en-US" sz="1300">
                <a:solidFill>
                  <a:schemeClr val="bg2"/>
                </a:solidFill>
              </a:rPr>
              <a:t>48×48×1</a:t>
            </a:r>
            <a:endParaRPr lang="en-US" sz="1300"/>
          </a:p>
        </p:txBody>
      </p:sp>
      <p:sp>
        <p:nvSpPr>
          <p:cNvPr id="1492280412" name="chev-91"/>
          <p:cNvSpPr/>
          <p:nvPr/>
        </p:nvSpPr>
        <p:spPr bwMode="auto">
          <a:xfrm>
            <a:off x="2377440" y="2788920"/>
            <a:ext cx="182880" cy="274320"/>
          </a:xfrm>
          <a:prstGeom prst="chevron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2138538440" name="block-92"/>
          <p:cNvSpPr/>
          <p:nvPr/>
        </p:nvSpPr>
        <p:spPr bwMode="auto">
          <a:xfrm>
            <a:off x="2674620" y="2560320"/>
            <a:ext cx="1371600" cy="731520"/>
          </a:xfrm>
          <a:prstGeom prst="roundRect">
            <a:avLst>
              <a:gd name="adj" fmla="val 12500"/>
            </a:avLst>
          </a:prstGeom>
          <a:solidFill>
            <a:schemeClr val="accent3">
              <a:alpha val="22000"/>
            </a:schemeClr>
          </a:solidFill>
          <a:ln w="15875">
            <a:solidFill>
              <a:schemeClr val="accent3"/>
            </a:solidFill>
            <a:prstDash val="solid"/>
          </a:ln>
        </p:spPr>
      </p:sp>
      <p:sp>
        <p:nvSpPr>
          <p:cNvPr id="2145021154" name="text-93"/>
          <p:cNvSpPr txBox="1"/>
          <p:nvPr/>
        </p:nvSpPr>
        <p:spPr bwMode="auto">
          <a:xfrm>
            <a:off x="2674620" y="256032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chemeClr val="bg1"/>
                </a:solidFill>
              </a:rPr>
              <a:t>Flatten</a:t>
            </a:r>
            <a:endParaRPr lang="en-US" sz="1400"/>
          </a:p>
        </p:txBody>
      </p:sp>
      <p:sp>
        <p:nvSpPr>
          <p:cNvPr id="997789146" name="text-94"/>
          <p:cNvSpPr txBox="1"/>
          <p:nvPr/>
        </p:nvSpPr>
        <p:spPr bwMode="auto">
          <a:xfrm>
            <a:off x="2674620" y="33649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  <a:defRPr/>
            </a:pPr>
            <a:r>
              <a:rPr lang="en-US" sz="1300">
                <a:solidFill>
                  <a:schemeClr val="bg2"/>
                </a:solidFill>
              </a:rPr>
              <a:t>2304</a:t>
            </a:r>
            <a:endParaRPr lang="en-US" sz="1300"/>
          </a:p>
        </p:txBody>
      </p:sp>
      <p:sp>
        <p:nvSpPr>
          <p:cNvPr id="1815624489" name="chev-95"/>
          <p:cNvSpPr/>
          <p:nvPr/>
        </p:nvSpPr>
        <p:spPr bwMode="auto">
          <a:xfrm>
            <a:off x="4160519" y="2788920"/>
            <a:ext cx="182880" cy="274320"/>
          </a:xfrm>
          <a:prstGeom prst="chevron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858037108" name="block-96"/>
          <p:cNvSpPr/>
          <p:nvPr/>
        </p:nvSpPr>
        <p:spPr bwMode="auto">
          <a:xfrm>
            <a:off x="4457700" y="2560320"/>
            <a:ext cx="1371600" cy="731520"/>
          </a:xfrm>
          <a:prstGeom prst="roundRect">
            <a:avLst>
              <a:gd name="adj" fmla="val 12500"/>
            </a:avLst>
          </a:prstGeom>
          <a:solidFill>
            <a:schemeClr val="accent1">
              <a:alpha val="22000"/>
            </a:schemeClr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098620086" name="text-97"/>
          <p:cNvSpPr txBox="1"/>
          <p:nvPr/>
        </p:nvSpPr>
        <p:spPr bwMode="auto">
          <a:xfrm>
            <a:off x="4457700" y="256032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chemeClr val="bg1"/>
                </a:solidFill>
              </a:rPr>
              <a:t>Dense + ReLU</a:t>
            </a:r>
            <a:endParaRPr lang="en-US" sz="1400"/>
          </a:p>
        </p:txBody>
      </p:sp>
      <p:sp>
        <p:nvSpPr>
          <p:cNvPr id="750741374" name="text-98"/>
          <p:cNvSpPr txBox="1"/>
          <p:nvPr/>
        </p:nvSpPr>
        <p:spPr bwMode="auto">
          <a:xfrm>
            <a:off x="4457700" y="33649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  <a:defRPr/>
            </a:pPr>
            <a:r>
              <a:rPr lang="en-US" sz="1300">
                <a:solidFill>
                  <a:schemeClr val="bg2"/>
                </a:solidFill>
              </a:rPr>
              <a:t>256</a:t>
            </a:r>
            <a:endParaRPr lang="en-US" sz="1300"/>
          </a:p>
        </p:txBody>
      </p:sp>
      <p:sp>
        <p:nvSpPr>
          <p:cNvPr id="2043369629" name="chev-99"/>
          <p:cNvSpPr/>
          <p:nvPr/>
        </p:nvSpPr>
        <p:spPr bwMode="auto">
          <a:xfrm>
            <a:off x="5943600" y="2788920"/>
            <a:ext cx="182880" cy="274320"/>
          </a:xfrm>
          <a:prstGeom prst="chevron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663407120" name="block-100"/>
          <p:cNvSpPr/>
          <p:nvPr/>
        </p:nvSpPr>
        <p:spPr bwMode="auto">
          <a:xfrm>
            <a:off x="6240780" y="2560320"/>
            <a:ext cx="1371600" cy="731520"/>
          </a:xfrm>
          <a:prstGeom prst="roundRect">
            <a:avLst>
              <a:gd name="adj" fmla="val 12500"/>
            </a:avLst>
          </a:prstGeom>
          <a:solidFill>
            <a:schemeClr val="accent5">
              <a:alpha val="22000"/>
            </a:schemeClr>
          </a:solidFill>
          <a:ln w="15875">
            <a:solidFill>
              <a:schemeClr val="accent5"/>
            </a:solidFill>
            <a:prstDash val="solid"/>
          </a:ln>
        </p:spPr>
      </p:sp>
      <p:sp>
        <p:nvSpPr>
          <p:cNvPr id="1995242608" name="text-101"/>
          <p:cNvSpPr txBox="1"/>
          <p:nvPr/>
        </p:nvSpPr>
        <p:spPr bwMode="auto">
          <a:xfrm>
            <a:off x="6240780" y="256032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chemeClr val="bg1"/>
                </a:solidFill>
              </a:rPr>
              <a:t>Softmax</a:t>
            </a:r>
            <a:endParaRPr lang="en-US" sz="1400"/>
          </a:p>
        </p:txBody>
      </p:sp>
      <p:sp>
        <p:nvSpPr>
          <p:cNvPr id="1036912849" name="text-102"/>
          <p:cNvSpPr txBox="1"/>
          <p:nvPr/>
        </p:nvSpPr>
        <p:spPr bwMode="auto">
          <a:xfrm>
            <a:off x="6240780" y="33649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  <a:defRPr/>
            </a:pPr>
            <a:r>
              <a:rPr lang="en-US" sz="1300">
                <a:solidFill>
                  <a:schemeClr val="bg2"/>
                </a:solidFill>
              </a:rPr>
              <a:t>7</a:t>
            </a:r>
            <a:endParaRPr lang="en-US" sz="1300"/>
          </a:p>
        </p:txBody>
      </p:sp>
      <p:sp>
        <p:nvSpPr>
          <p:cNvPr id="1681249286" name="text-103"/>
          <p:cNvSpPr txBox="1"/>
          <p:nvPr/>
        </p:nvSpPr>
        <p:spPr bwMode="auto">
          <a:xfrm>
            <a:off x="822960" y="379476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600" b="1">
                <a:solidFill>
                  <a:schemeClr val="accent1"/>
                </a:solidFill>
              </a:rPr>
              <a:t>591 879</a:t>
            </a:r>
            <a:r>
              <a:rPr lang="en-US" sz="1600">
                <a:solidFill>
                  <a:schemeClr val="bg2"/>
                </a:solidFill>
              </a:rPr>
              <a:t> paramètres entraînables</a:t>
            </a:r>
            <a:endParaRPr lang="en-US" sz="1600"/>
          </a:p>
        </p:txBody>
      </p:sp>
      <p:sp>
        <p:nvSpPr>
          <p:cNvPr id="1131459699" name="card-104"/>
          <p:cNvSpPr/>
          <p:nvPr/>
        </p:nvSpPr>
        <p:spPr bwMode="auto">
          <a:xfrm>
            <a:off x="8183880" y="1920240"/>
            <a:ext cx="3459175" cy="1143000"/>
          </a:xfrm>
          <a:prstGeom prst="roundRect">
            <a:avLst>
              <a:gd name="adj" fmla="val 9600"/>
            </a:avLst>
          </a:prstGeom>
          <a:solidFill>
            <a:schemeClr val="tx2">
              <a:alpha val="92000"/>
            </a:schemeClr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696166510" name="text-105"/>
          <p:cNvSpPr txBox="1"/>
          <p:nvPr/>
        </p:nvSpPr>
        <p:spPr bwMode="auto">
          <a:xfrm>
            <a:off x="8321039" y="2029968"/>
            <a:ext cx="3184855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3200" b="1">
                <a:solidFill>
                  <a:schemeClr val="accent1"/>
                </a:solidFill>
              </a:rPr>
              <a:t>36,83 %</a:t>
            </a:r>
            <a:endParaRPr lang="en-US" sz="3200"/>
          </a:p>
        </p:txBody>
      </p:sp>
      <p:sp>
        <p:nvSpPr>
          <p:cNvPr id="1921487861" name="text-106"/>
          <p:cNvSpPr txBox="1"/>
          <p:nvPr/>
        </p:nvSpPr>
        <p:spPr bwMode="auto">
          <a:xfrm>
            <a:off x="8321039" y="2628900"/>
            <a:ext cx="318485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  <a:defRPr/>
            </a:pPr>
            <a:r>
              <a:rPr lang="en-US" sz="1100" spc="200">
                <a:solidFill>
                  <a:schemeClr val="bg2"/>
                </a:solidFill>
              </a:rPr>
              <a:t>VALIDATION ACCURACY</a:t>
            </a:r>
            <a:endParaRPr lang="en-US" sz="1100"/>
          </a:p>
        </p:txBody>
      </p:sp>
      <p:sp>
        <p:nvSpPr>
          <p:cNvPr id="1162350395" name="card-107"/>
          <p:cNvSpPr/>
          <p:nvPr/>
        </p:nvSpPr>
        <p:spPr bwMode="auto">
          <a:xfrm>
            <a:off x="8183880" y="3200400"/>
            <a:ext cx="3459175" cy="1143000"/>
          </a:xfrm>
          <a:prstGeom prst="roundRect">
            <a:avLst>
              <a:gd name="adj" fmla="val 9600"/>
            </a:avLst>
          </a:prstGeom>
          <a:solidFill>
            <a:schemeClr val="tx2">
              <a:alpha val="92000"/>
            </a:schemeClr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810956024" name="text-108"/>
          <p:cNvSpPr txBox="1"/>
          <p:nvPr/>
        </p:nvSpPr>
        <p:spPr bwMode="auto">
          <a:xfrm>
            <a:off x="8321039" y="3310127"/>
            <a:ext cx="3184855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3200" b="1">
                <a:solidFill>
                  <a:schemeClr val="accent4"/>
                </a:solidFill>
              </a:rPr>
              <a:t>1,6058</a:t>
            </a:r>
            <a:endParaRPr lang="en-US" sz="3200"/>
          </a:p>
        </p:txBody>
      </p:sp>
      <p:sp>
        <p:nvSpPr>
          <p:cNvPr id="1194579790" name="text-109"/>
          <p:cNvSpPr txBox="1"/>
          <p:nvPr/>
        </p:nvSpPr>
        <p:spPr bwMode="auto">
          <a:xfrm>
            <a:off x="8321039" y="3909060"/>
            <a:ext cx="318485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  <a:defRPr/>
            </a:pPr>
            <a:r>
              <a:rPr lang="en-US" sz="1100" spc="200">
                <a:solidFill>
                  <a:schemeClr val="bg2"/>
                </a:solidFill>
              </a:rPr>
              <a:t>VALIDATION LOSS</a:t>
            </a:r>
            <a:endParaRPr lang="en-US" sz="1100"/>
          </a:p>
        </p:txBody>
      </p:sp>
      <p:sp>
        <p:nvSpPr>
          <p:cNvPr id="1705008815" name="card-110"/>
          <p:cNvSpPr/>
          <p:nvPr/>
        </p:nvSpPr>
        <p:spPr bwMode="auto">
          <a:xfrm>
            <a:off x="548640" y="4572000"/>
            <a:ext cx="3545738" cy="1371600"/>
          </a:xfrm>
          <a:prstGeom prst="roundRect">
            <a:avLst>
              <a:gd name="adj" fmla="val 8000"/>
            </a:avLst>
          </a:prstGeom>
          <a:solidFill>
            <a:schemeClr val="tx2">
              <a:alpha val="92000"/>
            </a:schemeClr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071400353" name="iconbg-111"/>
          <p:cNvSpPr/>
          <p:nvPr/>
        </p:nvSpPr>
        <p:spPr bwMode="auto">
          <a:xfrm>
            <a:off x="777240" y="5006340"/>
            <a:ext cx="502920" cy="502920"/>
          </a:xfrm>
          <a:prstGeom prst="ellipse">
            <a:avLst/>
          </a:prstGeom>
          <a:solidFill>
            <a:schemeClr val="accent1">
              <a:alpha val="14000"/>
            </a:schemeClr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59561659" name="icon-112" descr="icône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913028" y="5142128"/>
            <a:ext cx="231343" cy="231343"/>
          </a:xfrm>
          <a:prstGeom prst="rect">
            <a:avLst/>
          </a:prstGeom>
        </p:spPr>
      </p:pic>
      <p:sp>
        <p:nvSpPr>
          <p:cNvPr id="2073605455" name="text-113"/>
          <p:cNvSpPr txBox="1"/>
          <p:nvPr/>
        </p:nvSpPr>
        <p:spPr bwMode="auto">
          <a:xfrm>
            <a:off x="1417320" y="4572000"/>
            <a:ext cx="244845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>
                <a:solidFill>
                  <a:schemeClr val="bg1"/>
                </a:solidFill>
              </a:rPr>
              <a:t>Ne modélise pas explicitement la structure spatiale du visage.</a:t>
            </a:r>
            <a:endParaRPr lang="en-US" sz="1400"/>
          </a:p>
        </p:txBody>
      </p:sp>
      <p:sp>
        <p:nvSpPr>
          <p:cNvPr id="783243894" name="card-114"/>
          <p:cNvSpPr/>
          <p:nvPr/>
        </p:nvSpPr>
        <p:spPr bwMode="auto">
          <a:xfrm>
            <a:off x="4322978" y="4572000"/>
            <a:ext cx="3545738" cy="1371600"/>
          </a:xfrm>
          <a:prstGeom prst="roundRect">
            <a:avLst>
              <a:gd name="adj" fmla="val 8000"/>
            </a:avLst>
          </a:prstGeom>
          <a:solidFill>
            <a:schemeClr val="tx2">
              <a:alpha val="92000"/>
            </a:schemeClr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974084714" name="iconbg-115"/>
          <p:cNvSpPr/>
          <p:nvPr/>
        </p:nvSpPr>
        <p:spPr bwMode="auto">
          <a:xfrm>
            <a:off x="4551578" y="5006340"/>
            <a:ext cx="502920" cy="502920"/>
          </a:xfrm>
          <a:prstGeom prst="ellipse">
            <a:avLst/>
          </a:prstGeom>
          <a:solidFill>
            <a:schemeClr val="accent1">
              <a:alpha val="14000"/>
            </a:schemeClr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473059340" name="icon-116" descr="icône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4687367" y="5142128"/>
            <a:ext cx="231343" cy="231343"/>
          </a:xfrm>
          <a:prstGeom prst="rect">
            <a:avLst/>
          </a:prstGeom>
        </p:spPr>
      </p:pic>
      <p:sp>
        <p:nvSpPr>
          <p:cNvPr id="2026696283" name="text-117"/>
          <p:cNvSpPr txBox="1"/>
          <p:nvPr/>
        </p:nvSpPr>
        <p:spPr bwMode="auto">
          <a:xfrm>
            <a:off x="5191658" y="4572000"/>
            <a:ext cx="244845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>
                <a:solidFill>
                  <a:schemeClr val="bg1"/>
                </a:solidFill>
              </a:rPr>
              <a:t>Mesure le gain apporté par les convolutions.</a:t>
            </a:r>
            <a:endParaRPr lang="en-US" sz="1400"/>
          </a:p>
        </p:txBody>
      </p:sp>
      <p:sp>
        <p:nvSpPr>
          <p:cNvPr id="828949342" name="card-118"/>
          <p:cNvSpPr/>
          <p:nvPr/>
        </p:nvSpPr>
        <p:spPr bwMode="auto">
          <a:xfrm>
            <a:off x="8097317" y="4572000"/>
            <a:ext cx="3545738" cy="1371600"/>
          </a:xfrm>
          <a:prstGeom prst="roundRect">
            <a:avLst>
              <a:gd name="adj" fmla="val 8000"/>
            </a:avLst>
          </a:prstGeom>
          <a:solidFill>
            <a:schemeClr val="tx2">
              <a:alpha val="92000"/>
            </a:schemeClr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673659764" name="iconbg-119"/>
          <p:cNvSpPr/>
          <p:nvPr/>
        </p:nvSpPr>
        <p:spPr bwMode="auto">
          <a:xfrm>
            <a:off x="8325917" y="5006340"/>
            <a:ext cx="502920" cy="502920"/>
          </a:xfrm>
          <a:prstGeom prst="ellipse">
            <a:avLst/>
          </a:prstGeom>
          <a:solidFill>
            <a:schemeClr val="accent1">
              <a:alpha val="14000"/>
            </a:schemeClr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520239065" name="icon-120" descr="icône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8461705" y="5142128"/>
            <a:ext cx="231343" cy="231343"/>
          </a:xfrm>
          <a:prstGeom prst="rect">
            <a:avLst/>
          </a:prstGeom>
        </p:spPr>
      </p:pic>
      <p:sp>
        <p:nvSpPr>
          <p:cNvPr id="1501348222" name="text-121"/>
          <p:cNvSpPr txBox="1"/>
          <p:nvPr/>
        </p:nvSpPr>
        <p:spPr bwMode="auto">
          <a:xfrm>
            <a:off x="8965997" y="4572000"/>
            <a:ext cx="244845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>
                <a:solidFill>
                  <a:schemeClr val="bg1"/>
                </a:solidFill>
              </a:rPr>
              <a:t>Nettement inférieur aux CNN testés ensuite.</a:t>
            </a:r>
            <a:endParaRPr lang="en-US" sz="1400"/>
          </a:p>
        </p:txBody>
      </p:sp>
      <p:sp>
        <p:nvSpPr>
          <p:cNvPr id="1354934388" name="Slide Number Placeholder 0"/>
          <p:cNvSpPr>
            <a:spLocks noGrp="1"/>
          </p:cNvSpPr>
          <p:nvPr>
            <p:ph type="sldNum" sz="quarter" idx="4294967295"/>
          </p:nvPr>
        </p:nvSpPr>
        <p:spPr bwMode="auto">
          <a:xfrm>
            <a:off x="11183112" y="6400800"/>
            <a:ext cx="457200" cy="228600"/>
          </a:xfrm>
          <a:prstGeom prst="rect">
            <a:avLst/>
          </a:prstGeom>
        </p:spPr>
        <p:txBody>
          <a:bodyPr lIns="0" tIns="0" rIns="0" bIns="0"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r">
              <a:defRPr/>
            </a:pPr>
            <a:fld id="{F7021451-1387-4CA6-816F-3879F97B5CBC}" type="slidenum">
              <a:rPr lang="en-US" b="1"/>
              <a:t>6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7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3089272" name="Text 0"/>
          <p:cNvSpPr/>
          <p:nvPr>
            <p:ph type="body" idx="100" hasCustomPrompt="1"/>
          </p:nvPr>
        </p:nvSpPr>
        <p:spPr bwMode="auto"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 spc="300">
                <a:solidFill>
                  <a:schemeClr val="accent1"/>
                </a:solidFill>
              </a:rPr>
              <a:t>04 / MLP — MÉCANISMES</a:t>
            </a:r>
            <a:endParaRPr lang="en-US" sz="1200"/>
          </a:p>
        </p:txBody>
      </p:sp>
      <p:sp>
        <p:nvSpPr>
          <p:cNvPr id="179710218" name="Text 0"/>
          <p:cNvSpPr/>
          <p:nvPr>
            <p:ph type="title" idx="101" hasCustomPrompt="1"/>
          </p:nvPr>
        </p:nvSpPr>
        <p:spPr bwMode="auto"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3400" b="1">
                <a:solidFill>
                  <a:schemeClr val="bg1"/>
                </a:solidFill>
              </a:rPr>
              <a:t>Du neurone à la rétropropagation</a:t>
            </a:r>
            <a:endParaRPr lang="en-US" sz="3400"/>
          </a:p>
        </p:txBody>
      </p:sp>
      <p:sp>
        <p:nvSpPr>
          <p:cNvPr id="2067646803" name="Text 0"/>
          <p:cNvSpPr/>
          <p:nvPr>
            <p:ph type="body" idx="102" hasCustomPrompt="1"/>
          </p:nvPr>
        </p:nvSpPr>
        <p:spPr bwMode="auto">
          <a:xfrm>
            <a:off x="548640" y="138988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00">
                <a:solidFill>
                  <a:schemeClr val="bg2"/>
                </a:solidFill>
              </a:rPr>
              <a:t>Les mécanismes du MLP servent aussi de fondement à l’entraînement du CNN.</a:t>
            </a:r>
            <a:endParaRPr lang="en-US" sz="1500"/>
          </a:p>
        </p:txBody>
      </p:sp>
      <p:sp>
        <p:nvSpPr>
          <p:cNvPr id="1043332050" name="card-122"/>
          <p:cNvSpPr/>
          <p:nvPr/>
        </p:nvSpPr>
        <p:spPr bwMode="auto">
          <a:xfrm>
            <a:off x="548640" y="1920240"/>
            <a:ext cx="3520440" cy="2971800"/>
          </a:xfrm>
          <a:prstGeom prst="roundRect">
            <a:avLst>
              <a:gd name="adj" fmla="val 3692"/>
            </a:avLst>
          </a:prstGeom>
          <a:solidFill>
            <a:schemeClr val="tx2">
              <a:alpha val="92000"/>
            </a:schemeClr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330949726" name="num-123"/>
          <p:cNvSpPr/>
          <p:nvPr/>
        </p:nvSpPr>
        <p:spPr bwMode="auto">
          <a:xfrm>
            <a:off x="822960" y="2148840"/>
            <a:ext cx="502920" cy="502920"/>
          </a:xfrm>
          <a:prstGeom prst="ellipse">
            <a:avLst/>
          </a:prstGeom>
          <a:solidFill>
            <a:schemeClr val="accent1">
              <a:alpha val="14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01665099" name="text-124"/>
          <p:cNvSpPr txBox="1"/>
          <p:nvPr/>
        </p:nvSpPr>
        <p:spPr bwMode="auto">
          <a:xfrm>
            <a:off x="82296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500" b="1">
                <a:solidFill>
                  <a:schemeClr val="accent1"/>
                </a:solidFill>
              </a:rPr>
              <a:t>01</a:t>
            </a:r>
            <a:endParaRPr lang="en-US" sz="1500"/>
          </a:p>
        </p:txBody>
      </p:sp>
      <p:sp>
        <p:nvSpPr>
          <p:cNvPr id="52630051" name="text-125"/>
          <p:cNvSpPr txBox="1"/>
          <p:nvPr/>
        </p:nvSpPr>
        <p:spPr bwMode="auto">
          <a:xfrm>
            <a:off x="1508759" y="214884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800" b="1">
                <a:solidFill>
                  <a:schemeClr val="bg1"/>
                </a:solidFill>
              </a:rPr>
              <a:t>Propagation avant</a:t>
            </a:r>
            <a:endParaRPr lang="en-US" sz="1800"/>
          </a:p>
        </p:txBody>
      </p:sp>
      <p:sp>
        <p:nvSpPr>
          <p:cNvPr id="1181451956" name="formule-126"/>
          <p:cNvSpPr/>
          <p:nvPr/>
        </p:nvSpPr>
        <p:spPr bwMode="auto">
          <a:xfrm>
            <a:off x="822960" y="2834640"/>
            <a:ext cx="2971800" cy="502920"/>
          </a:xfrm>
          <a:prstGeom prst="roundRect">
            <a:avLst>
              <a:gd name="adj" fmla="val 14545"/>
            </a:avLst>
          </a:prstGeom>
          <a:solidFill>
            <a:schemeClr val="accent1">
              <a:alpha val="12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01639689" name="text-127"/>
          <p:cNvSpPr txBox="1"/>
          <p:nvPr/>
        </p:nvSpPr>
        <p:spPr bwMode="auto">
          <a:xfrm>
            <a:off x="822960" y="283464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600" b="1">
                <a:solidFill>
                  <a:schemeClr val="accent1"/>
                </a:solidFill>
              </a:rPr>
              <a:t>z = W·x + b</a:t>
            </a:r>
            <a:endParaRPr lang="en-US" sz="1600"/>
          </a:p>
        </p:txBody>
      </p:sp>
      <p:sp>
        <p:nvSpPr>
          <p:cNvPr id="536094558" name="text-128"/>
          <p:cNvSpPr txBox="1"/>
          <p:nvPr/>
        </p:nvSpPr>
        <p:spPr bwMode="auto">
          <a:xfrm>
            <a:off x="822960" y="3520440"/>
            <a:ext cx="2971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  <a:defRPr/>
            </a:pPr>
            <a:r>
              <a:rPr lang="en-US" sz="1400">
                <a:solidFill>
                  <a:schemeClr val="bg1"/>
                </a:solidFill>
              </a:rPr>
              <a:t>Les poids pondèrent les entrées et le biais décale la somme.</a:t>
            </a:r>
            <a:endParaRPr lang="en-US" sz="1400"/>
          </a:p>
          <a:p>
            <a:pPr marL="0" indent="0">
              <a:spcAft>
                <a:spcPts val="800"/>
              </a:spcAft>
              <a:buNone/>
              <a:defRPr/>
            </a:pPr>
            <a:r>
              <a:rPr lang="en-US" sz="1400">
                <a:solidFill>
                  <a:schemeClr val="bg2"/>
                </a:solidFill>
              </a:rPr>
              <a:t>ReLU(z) = max(0, z) introduit une non-linéarité.</a:t>
            </a:r>
            <a:endParaRPr lang="en-US" sz="1400"/>
          </a:p>
        </p:txBody>
      </p:sp>
      <p:sp>
        <p:nvSpPr>
          <p:cNvPr id="1333521216" name="card-129"/>
          <p:cNvSpPr/>
          <p:nvPr/>
        </p:nvSpPr>
        <p:spPr bwMode="auto">
          <a:xfrm>
            <a:off x="4334256" y="1920240"/>
            <a:ext cx="3520440" cy="2971800"/>
          </a:xfrm>
          <a:prstGeom prst="roundRect">
            <a:avLst>
              <a:gd name="adj" fmla="val 3692"/>
            </a:avLst>
          </a:prstGeom>
          <a:solidFill>
            <a:schemeClr val="tx2">
              <a:alpha val="92000"/>
            </a:schemeClr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76563078" name="num-130"/>
          <p:cNvSpPr/>
          <p:nvPr/>
        </p:nvSpPr>
        <p:spPr bwMode="auto">
          <a:xfrm>
            <a:off x="4608576" y="2148840"/>
            <a:ext cx="502920" cy="502920"/>
          </a:xfrm>
          <a:prstGeom prst="ellipse">
            <a:avLst/>
          </a:prstGeom>
          <a:solidFill>
            <a:schemeClr val="accent1">
              <a:alpha val="14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70228471" name="text-131"/>
          <p:cNvSpPr txBox="1"/>
          <p:nvPr/>
        </p:nvSpPr>
        <p:spPr bwMode="auto">
          <a:xfrm>
            <a:off x="4608576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500" b="1">
                <a:solidFill>
                  <a:schemeClr val="accent1"/>
                </a:solidFill>
              </a:rPr>
              <a:t>02</a:t>
            </a:r>
            <a:endParaRPr lang="en-US" sz="1500"/>
          </a:p>
        </p:txBody>
      </p:sp>
      <p:sp>
        <p:nvSpPr>
          <p:cNvPr id="1143368843" name="text-132"/>
          <p:cNvSpPr txBox="1"/>
          <p:nvPr/>
        </p:nvSpPr>
        <p:spPr bwMode="auto">
          <a:xfrm>
            <a:off x="5294376" y="214884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800" b="1">
                <a:solidFill>
                  <a:schemeClr val="bg1"/>
                </a:solidFill>
              </a:rPr>
              <a:t>Prédiction multiclasse</a:t>
            </a:r>
            <a:endParaRPr lang="en-US" sz="1800"/>
          </a:p>
        </p:txBody>
      </p:sp>
      <p:sp>
        <p:nvSpPr>
          <p:cNvPr id="1041383149" name="formule-133"/>
          <p:cNvSpPr/>
          <p:nvPr/>
        </p:nvSpPr>
        <p:spPr bwMode="auto">
          <a:xfrm>
            <a:off x="4608576" y="2834640"/>
            <a:ext cx="2971800" cy="502920"/>
          </a:xfrm>
          <a:prstGeom prst="roundRect">
            <a:avLst>
              <a:gd name="adj" fmla="val 14545"/>
            </a:avLst>
          </a:prstGeom>
          <a:solidFill>
            <a:schemeClr val="accent1">
              <a:alpha val="12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41810081" name="text-134"/>
          <p:cNvSpPr txBox="1"/>
          <p:nvPr/>
        </p:nvSpPr>
        <p:spPr bwMode="auto">
          <a:xfrm>
            <a:off x="4608576" y="283464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600" b="1">
                <a:solidFill>
                  <a:schemeClr val="accent1"/>
                </a:solidFill>
              </a:rPr>
              <a:t>Dense(7) + Softmax</a:t>
            </a:r>
            <a:endParaRPr lang="en-US" sz="1600"/>
          </a:p>
        </p:txBody>
      </p:sp>
      <p:sp>
        <p:nvSpPr>
          <p:cNvPr id="1604898792" name="text-135"/>
          <p:cNvSpPr txBox="1"/>
          <p:nvPr/>
        </p:nvSpPr>
        <p:spPr bwMode="auto">
          <a:xfrm>
            <a:off x="4608576" y="3520440"/>
            <a:ext cx="2971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  <a:defRPr/>
            </a:pPr>
            <a:r>
              <a:rPr lang="en-US" sz="1400">
                <a:solidFill>
                  <a:schemeClr val="bg1"/>
                </a:solidFill>
              </a:rPr>
              <a:t>Produit 7 probabilités, dont la somme vaut 1.</a:t>
            </a:r>
            <a:endParaRPr lang="en-US" sz="1400"/>
          </a:p>
          <a:p>
            <a:pPr marL="0" indent="0">
              <a:spcAft>
                <a:spcPts val="800"/>
              </a:spcAft>
              <a:buNone/>
              <a:defRPr/>
            </a:pPr>
            <a:r>
              <a:rPr lang="en-US" sz="1400">
                <a:solidFill>
                  <a:schemeClr val="bg2"/>
                </a:solidFill>
              </a:rPr>
              <a:t>La classe retenue est celle de probabilité maximale (argmax).</a:t>
            </a:r>
            <a:endParaRPr lang="en-US" sz="1400"/>
          </a:p>
        </p:txBody>
      </p:sp>
      <p:sp>
        <p:nvSpPr>
          <p:cNvPr id="831677856" name="card-136"/>
          <p:cNvSpPr/>
          <p:nvPr/>
        </p:nvSpPr>
        <p:spPr bwMode="auto">
          <a:xfrm>
            <a:off x="8119872" y="1920240"/>
            <a:ext cx="3520440" cy="2971800"/>
          </a:xfrm>
          <a:prstGeom prst="roundRect">
            <a:avLst>
              <a:gd name="adj" fmla="val 3692"/>
            </a:avLst>
          </a:prstGeom>
          <a:solidFill>
            <a:schemeClr val="tx2">
              <a:alpha val="92000"/>
            </a:schemeClr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508192348" name="num-137"/>
          <p:cNvSpPr/>
          <p:nvPr/>
        </p:nvSpPr>
        <p:spPr bwMode="auto">
          <a:xfrm>
            <a:off x="8394192" y="2148840"/>
            <a:ext cx="502920" cy="502920"/>
          </a:xfrm>
          <a:prstGeom prst="ellipse">
            <a:avLst/>
          </a:prstGeom>
          <a:solidFill>
            <a:schemeClr val="accent1">
              <a:alpha val="14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84870" name="text-138"/>
          <p:cNvSpPr txBox="1"/>
          <p:nvPr/>
        </p:nvSpPr>
        <p:spPr bwMode="auto">
          <a:xfrm>
            <a:off x="8394192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500" b="1">
                <a:solidFill>
                  <a:schemeClr val="accent1"/>
                </a:solidFill>
              </a:rPr>
              <a:t>03</a:t>
            </a:r>
            <a:endParaRPr lang="en-US" sz="1500"/>
          </a:p>
        </p:txBody>
      </p:sp>
      <p:sp>
        <p:nvSpPr>
          <p:cNvPr id="75358405" name="text-139"/>
          <p:cNvSpPr txBox="1"/>
          <p:nvPr/>
        </p:nvSpPr>
        <p:spPr bwMode="auto">
          <a:xfrm>
            <a:off x="9079992" y="214884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800" b="1">
                <a:solidFill>
                  <a:schemeClr val="bg1"/>
                </a:solidFill>
              </a:rPr>
              <a:t>Apprentissage</a:t>
            </a:r>
            <a:endParaRPr lang="en-US" sz="1800"/>
          </a:p>
        </p:txBody>
      </p:sp>
      <p:sp>
        <p:nvSpPr>
          <p:cNvPr id="1733696124" name="formule-140"/>
          <p:cNvSpPr/>
          <p:nvPr/>
        </p:nvSpPr>
        <p:spPr bwMode="auto">
          <a:xfrm>
            <a:off x="8394192" y="2834640"/>
            <a:ext cx="2971800" cy="502920"/>
          </a:xfrm>
          <a:prstGeom prst="roundRect">
            <a:avLst>
              <a:gd name="adj" fmla="val 14545"/>
            </a:avLst>
          </a:prstGeom>
          <a:solidFill>
            <a:schemeClr val="accent1">
              <a:alpha val="12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02987443" name="text-141"/>
          <p:cNvSpPr txBox="1"/>
          <p:nvPr/>
        </p:nvSpPr>
        <p:spPr bwMode="auto">
          <a:xfrm>
            <a:off x="8394192" y="283464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300" b="1">
                <a:solidFill>
                  <a:schemeClr val="accent1"/>
                </a:solidFill>
              </a:rPr>
              <a:t>sparse_categorical_crossentropy</a:t>
            </a:r>
            <a:endParaRPr lang="en-US" sz="1300"/>
          </a:p>
        </p:txBody>
      </p:sp>
      <p:sp>
        <p:nvSpPr>
          <p:cNvPr id="1481334575" name="text-142"/>
          <p:cNvSpPr txBox="1"/>
          <p:nvPr/>
        </p:nvSpPr>
        <p:spPr bwMode="auto">
          <a:xfrm>
            <a:off x="8394192" y="3520440"/>
            <a:ext cx="2971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  <a:defRPr/>
            </a:pPr>
            <a:r>
              <a:rPr lang="en-US" sz="1400">
                <a:solidFill>
                  <a:schemeClr val="bg1"/>
                </a:solidFill>
              </a:rPr>
              <a:t>La loss mesure l’erreur de prédiction.</a:t>
            </a:r>
            <a:endParaRPr lang="en-US" sz="1400"/>
          </a:p>
          <a:p>
            <a:pPr marL="0" indent="0">
              <a:spcAft>
                <a:spcPts val="800"/>
              </a:spcAft>
              <a:buNone/>
              <a:defRPr/>
            </a:pPr>
            <a:r>
              <a:rPr lang="en-US" sz="1400">
                <a:solidFill>
                  <a:schemeClr val="bg2"/>
                </a:solidFill>
              </a:rPr>
              <a:t>La rétropropagation calcule les gradients ; Adam met à jour poids et biais.</a:t>
            </a:r>
            <a:endParaRPr lang="en-US" sz="1400"/>
          </a:p>
        </p:txBody>
      </p:sp>
      <p:sp>
        <p:nvSpPr>
          <p:cNvPr id="307225728" name="text-143"/>
          <p:cNvSpPr txBox="1"/>
          <p:nvPr/>
        </p:nvSpPr>
        <p:spPr bwMode="auto">
          <a:xfrm>
            <a:off x="548640" y="5029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b="1" spc="300">
                <a:solidFill>
                  <a:schemeClr val="accent1"/>
                </a:solidFill>
              </a:rPr>
              <a:t>CYCLE D’ENTRAÎNEMENT</a:t>
            </a:r>
            <a:endParaRPr lang="en-US" sz="1100"/>
          </a:p>
        </p:txBody>
      </p:sp>
      <p:sp>
        <p:nvSpPr>
          <p:cNvPr id="1771509716" name="block-144"/>
          <p:cNvSpPr/>
          <p:nvPr/>
        </p:nvSpPr>
        <p:spPr bwMode="auto">
          <a:xfrm>
            <a:off x="548640" y="5349240"/>
            <a:ext cx="2286000" cy="685800"/>
          </a:xfrm>
          <a:prstGeom prst="roundRect">
            <a:avLst>
              <a:gd name="adj" fmla="val 13333"/>
            </a:avLst>
          </a:prstGeom>
          <a:solidFill>
            <a:schemeClr val="accent2">
              <a:alpha val="22000"/>
            </a:schemeClr>
          </a:solidFill>
          <a:ln w="15875">
            <a:solidFill>
              <a:schemeClr val="accent2"/>
            </a:solidFill>
            <a:prstDash val="solid"/>
          </a:ln>
        </p:spPr>
      </p:sp>
      <p:sp>
        <p:nvSpPr>
          <p:cNvPr id="2027369584" name="text-145"/>
          <p:cNvSpPr txBox="1"/>
          <p:nvPr/>
        </p:nvSpPr>
        <p:spPr bwMode="auto">
          <a:xfrm>
            <a:off x="548640" y="534924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500" b="1">
                <a:solidFill>
                  <a:schemeClr val="bg1"/>
                </a:solidFill>
              </a:rPr>
              <a:t>Forward pass</a:t>
            </a:r>
            <a:endParaRPr lang="en-US" sz="1500"/>
          </a:p>
        </p:txBody>
      </p:sp>
      <p:sp>
        <p:nvSpPr>
          <p:cNvPr id="686441986" name="chev-146"/>
          <p:cNvSpPr/>
          <p:nvPr/>
        </p:nvSpPr>
        <p:spPr bwMode="auto">
          <a:xfrm>
            <a:off x="3059125" y="5554980"/>
            <a:ext cx="201168" cy="274320"/>
          </a:xfrm>
          <a:prstGeom prst="chevron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571871398" name="block-147"/>
          <p:cNvSpPr/>
          <p:nvPr/>
        </p:nvSpPr>
        <p:spPr bwMode="auto">
          <a:xfrm>
            <a:off x="3484778" y="5349240"/>
            <a:ext cx="2286000" cy="685800"/>
          </a:xfrm>
          <a:prstGeom prst="roundRect">
            <a:avLst>
              <a:gd name="adj" fmla="val 13333"/>
            </a:avLst>
          </a:prstGeom>
          <a:solidFill>
            <a:schemeClr val="accent4">
              <a:alpha val="22000"/>
            </a:schemeClr>
          </a:solidFill>
          <a:ln w="15875">
            <a:solidFill>
              <a:schemeClr val="accent4"/>
            </a:solidFill>
            <a:prstDash val="solid"/>
          </a:ln>
        </p:spPr>
      </p:sp>
      <p:sp>
        <p:nvSpPr>
          <p:cNvPr id="1117650253" name="text-148"/>
          <p:cNvSpPr txBox="1"/>
          <p:nvPr/>
        </p:nvSpPr>
        <p:spPr bwMode="auto">
          <a:xfrm>
            <a:off x="3484778" y="534924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500" b="1">
                <a:solidFill>
                  <a:schemeClr val="bg1"/>
                </a:solidFill>
              </a:rPr>
              <a:t>Loss</a:t>
            </a:r>
            <a:endParaRPr lang="en-US" sz="1500"/>
          </a:p>
        </p:txBody>
      </p:sp>
      <p:sp>
        <p:nvSpPr>
          <p:cNvPr id="1465090011" name="chev-149"/>
          <p:cNvSpPr/>
          <p:nvPr/>
        </p:nvSpPr>
        <p:spPr bwMode="auto">
          <a:xfrm>
            <a:off x="5995264" y="5554980"/>
            <a:ext cx="201168" cy="274320"/>
          </a:xfrm>
          <a:prstGeom prst="chevron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982844997" name="block-150"/>
          <p:cNvSpPr/>
          <p:nvPr/>
        </p:nvSpPr>
        <p:spPr bwMode="auto">
          <a:xfrm>
            <a:off x="6420917" y="5349240"/>
            <a:ext cx="2286000" cy="685800"/>
          </a:xfrm>
          <a:prstGeom prst="roundRect">
            <a:avLst>
              <a:gd name="adj" fmla="val 13333"/>
            </a:avLst>
          </a:prstGeom>
          <a:solidFill>
            <a:schemeClr val="accent3">
              <a:alpha val="22000"/>
            </a:schemeClr>
          </a:solidFill>
          <a:ln w="15875">
            <a:solidFill>
              <a:schemeClr val="accent3"/>
            </a:solidFill>
            <a:prstDash val="solid"/>
          </a:ln>
        </p:spPr>
      </p:sp>
      <p:sp>
        <p:nvSpPr>
          <p:cNvPr id="747512464" name="text-151"/>
          <p:cNvSpPr txBox="1"/>
          <p:nvPr/>
        </p:nvSpPr>
        <p:spPr bwMode="auto">
          <a:xfrm>
            <a:off x="6420917" y="534924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500" b="1">
                <a:solidFill>
                  <a:schemeClr val="bg1"/>
                </a:solidFill>
              </a:rPr>
              <a:t>Backpropagation</a:t>
            </a:r>
            <a:endParaRPr lang="en-US" sz="1500"/>
          </a:p>
        </p:txBody>
      </p:sp>
      <p:sp>
        <p:nvSpPr>
          <p:cNvPr id="474636369" name="chev-152"/>
          <p:cNvSpPr/>
          <p:nvPr/>
        </p:nvSpPr>
        <p:spPr bwMode="auto">
          <a:xfrm>
            <a:off x="8931402" y="5554980"/>
            <a:ext cx="201168" cy="274320"/>
          </a:xfrm>
          <a:prstGeom prst="chevron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708976826" name="block-153"/>
          <p:cNvSpPr/>
          <p:nvPr/>
        </p:nvSpPr>
        <p:spPr bwMode="auto">
          <a:xfrm>
            <a:off x="9357055" y="5349240"/>
            <a:ext cx="2286000" cy="685800"/>
          </a:xfrm>
          <a:prstGeom prst="roundRect">
            <a:avLst>
              <a:gd name="adj" fmla="val 13333"/>
            </a:avLst>
          </a:prstGeom>
          <a:solidFill>
            <a:schemeClr val="accent1">
              <a:alpha val="22000"/>
            </a:schemeClr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2125492995" name="text-154"/>
          <p:cNvSpPr txBox="1"/>
          <p:nvPr/>
        </p:nvSpPr>
        <p:spPr bwMode="auto">
          <a:xfrm>
            <a:off x="9357055" y="534924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500" b="1">
                <a:solidFill>
                  <a:schemeClr val="bg1"/>
                </a:solidFill>
              </a:rPr>
              <a:t>Mise à jour (Adam)</a:t>
            </a:r>
            <a:endParaRPr lang="en-US" sz="1500"/>
          </a:p>
        </p:txBody>
      </p:sp>
      <p:sp>
        <p:nvSpPr>
          <p:cNvPr id="1941594901" name="Slide Number Placeholder 0"/>
          <p:cNvSpPr>
            <a:spLocks noGrp="1"/>
          </p:cNvSpPr>
          <p:nvPr>
            <p:ph type="sldNum" sz="quarter" idx="4294967295"/>
          </p:nvPr>
        </p:nvSpPr>
        <p:spPr bwMode="auto">
          <a:xfrm>
            <a:off x="11183112" y="6400800"/>
            <a:ext cx="457200" cy="228600"/>
          </a:xfrm>
          <a:prstGeom prst="rect">
            <a:avLst/>
          </a:prstGeom>
        </p:spPr>
        <p:txBody>
          <a:bodyPr lIns="0" tIns="0" rIns="0" bIns="0"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r">
              <a:defRPr/>
            </a:pPr>
            <a:fld id="{F7021451-1387-4CA6-816F-3879F97B5CBC}" type="slidenum">
              <a:rPr lang="en-US" b="1"/>
              <a:t>7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8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0595203" name="Text 0"/>
          <p:cNvSpPr/>
          <p:nvPr>
            <p:ph type="body" idx="100" hasCustomPrompt="1"/>
          </p:nvPr>
        </p:nvSpPr>
        <p:spPr bwMode="auto"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 spc="300">
                <a:solidFill>
                  <a:schemeClr val="accent1"/>
                </a:solidFill>
              </a:rPr>
              <a:t>05 / CNN</a:t>
            </a:r>
            <a:endParaRPr lang="en-US" sz="1200"/>
          </a:p>
        </p:txBody>
      </p:sp>
      <p:sp>
        <p:nvSpPr>
          <p:cNvPr id="1920325722" name="Text 0"/>
          <p:cNvSpPr/>
          <p:nvPr>
            <p:ph type="title" idx="101" hasCustomPrompt="1"/>
          </p:nvPr>
        </p:nvSpPr>
        <p:spPr bwMode="auto"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3400" b="1">
                <a:solidFill>
                  <a:schemeClr val="bg1"/>
                </a:solidFill>
              </a:rPr>
              <a:t>Architecture CNN retenue comme base</a:t>
            </a:r>
            <a:endParaRPr lang="en-US" sz="3400"/>
          </a:p>
        </p:txBody>
      </p:sp>
      <p:sp>
        <p:nvSpPr>
          <p:cNvPr id="1525146383" name="Text 0"/>
          <p:cNvSpPr/>
          <p:nvPr>
            <p:ph type="body" idx="102" hasCustomPrompt="1"/>
          </p:nvPr>
        </p:nvSpPr>
        <p:spPr bwMode="auto">
          <a:xfrm>
            <a:off x="548640" y="138988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00">
                <a:solidFill>
                  <a:schemeClr val="bg2"/>
                </a:solidFill>
              </a:rPr>
              <a:t>Trois blocs convolution / pooling puis une tête Dense + Dropout + Softmax.</a:t>
            </a:r>
            <a:endParaRPr lang="en-US" sz="1500"/>
          </a:p>
        </p:txBody>
      </p:sp>
      <p:sp>
        <p:nvSpPr>
          <p:cNvPr id="1586934456" name="block-155"/>
          <p:cNvSpPr/>
          <p:nvPr/>
        </p:nvSpPr>
        <p:spPr bwMode="auto">
          <a:xfrm>
            <a:off x="548640" y="1920240"/>
            <a:ext cx="1325880" cy="777240"/>
          </a:xfrm>
          <a:prstGeom prst="roundRect">
            <a:avLst>
              <a:gd name="adj" fmla="val 11765"/>
            </a:avLst>
          </a:prstGeom>
          <a:solidFill>
            <a:schemeClr val="accent2">
              <a:alpha val="22000"/>
            </a:schemeClr>
          </a:solidFill>
          <a:ln w="15875">
            <a:solidFill>
              <a:schemeClr val="accent2"/>
            </a:solidFill>
            <a:prstDash val="solid"/>
          </a:ln>
        </p:spPr>
      </p:sp>
      <p:sp>
        <p:nvSpPr>
          <p:cNvPr id="1985676774" name="text-156"/>
          <p:cNvSpPr txBox="1"/>
          <p:nvPr/>
        </p:nvSpPr>
        <p:spPr bwMode="auto">
          <a:xfrm>
            <a:off x="548640" y="1920240"/>
            <a:ext cx="1325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chemeClr val="bg1"/>
                </a:solidFill>
              </a:rPr>
              <a:t>Input</a:t>
            </a:r>
            <a:endParaRPr lang="en-US" sz="1400"/>
          </a:p>
        </p:txBody>
      </p:sp>
      <p:sp>
        <p:nvSpPr>
          <p:cNvPr id="914916308" name="text-157"/>
          <p:cNvSpPr txBox="1"/>
          <p:nvPr/>
        </p:nvSpPr>
        <p:spPr bwMode="auto">
          <a:xfrm>
            <a:off x="548640" y="276148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  <a:defRPr/>
            </a:pPr>
            <a:r>
              <a:rPr lang="en-US" sz="1300">
                <a:solidFill>
                  <a:schemeClr val="bg2"/>
                </a:solidFill>
              </a:rPr>
              <a:t>48×48×1</a:t>
            </a:r>
            <a:endParaRPr lang="en-US" sz="1300"/>
          </a:p>
        </p:txBody>
      </p:sp>
      <p:sp>
        <p:nvSpPr>
          <p:cNvPr id="1718861853" name="chev-158"/>
          <p:cNvSpPr/>
          <p:nvPr/>
        </p:nvSpPr>
        <p:spPr bwMode="auto">
          <a:xfrm>
            <a:off x="1934185" y="2171700"/>
            <a:ext cx="182880" cy="274320"/>
          </a:xfrm>
          <a:prstGeom prst="chevron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156261003" name="block-159"/>
          <p:cNvSpPr/>
          <p:nvPr/>
        </p:nvSpPr>
        <p:spPr bwMode="auto">
          <a:xfrm>
            <a:off x="2176729" y="1920240"/>
            <a:ext cx="1325880" cy="777240"/>
          </a:xfrm>
          <a:prstGeom prst="roundRect">
            <a:avLst>
              <a:gd name="adj" fmla="val 11765"/>
            </a:avLst>
          </a:prstGeom>
          <a:solidFill>
            <a:schemeClr val="accent1">
              <a:alpha val="22000"/>
            </a:schemeClr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315890569" name="text-160"/>
          <p:cNvSpPr txBox="1"/>
          <p:nvPr/>
        </p:nvSpPr>
        <p:spPr bwMode="auto">
          <a:xfrm>
            <a:off x="2176729" y="1920240"/>
            <a:ext cx="1325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chemeClr val="bg1"/>
                </a:solidFill>
              </a:rPr>
              <a:t>Conv 3×3</a:t>
            </a:r>
            <a:endParaRPr lang="en-US" sz="1400"/>
          </a:p>
          <a:p>
            <a:pPr marL="0" indent="0" algn="ctr">
              <a:buNone/>
              <a:defRPr/>
            </a:pPr>
            <a:r>
              <a:rPr lang="en-US" sz="1400" b="1">
                <a:solidFill>
                  <a:schemeClr val="bg1"/>
                </a:solidFill>
              </a:rPr>
              <a:t>32 filtres</a:t>
            </a:r>
            <a:endParaRPr lang="en-US" sz="1400"/>
          </a:p>
        </p:txBody>
      </p:sp>
      <p:sp>
        <p:nvSpPr>
          <p:cNvPr id="375430005" name="text-161"/>
          <p:cNvSpPr txBox="1"/>
          <p:nvPr/>
        </p:nvSpPr>
        <p:spPr bwMode="auto">
          <a:xfrm>
            <a:off x="2176729" y="276148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  <a:defRPr/>
            </a:pPr>
            <a:r>
              <a:rPr lang="en-US" sz="1300">
                <a:solidFill>
                  <a:schemeClr val="bg2"/>
                </a:solidFill>
              </a:rPr>
              <a:t>48×48×32</a:t>
            </a:r>
            <a:endParaRPr lang="en-US" sz="1300"/>
          </a:p>
        </p:txBody>
      </p:sp>
      <p:sp>
        <p:nvSpPr>
          <p:cNvPr id="1707021803" name="chev-162"/>
          <p:cNvSpPr/>
          <p:nvPr/>
        </p:nvSpPr>
        <p:spPr bwMode="auto">
          <a:xfrm>
            <a:off x="3562274" y="2171700"/>
            <a:ext cx="182880" cy="274320"/>
          </a:xfrm>
          <a:prstGeom prst="chevron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655957822" name="block-163"/>
          <p:cNvSpPr/>
          <p:nvPr/>
        </p:nvSpPr>
        <p:spPr bwMode="auto">
          <a:xfrm>
            <a:off x="3804818" y="1920240"/>
            <a:ext cx="1325880" cy="777240"/>
          </a:xfrm>
          <a:prstGeom prst="roundRect">
            <a:avLst>
              <a:gd name="adj" fmla="val 11765"/>
            </a:avLst>
          </a:prstGeom>
          <a:solidFill>
            <a:schemeClr val="accent3">
              <a:alpha val="22000"/>
            </a:schemeClr>
          </a:solidFill>
          <a:ln w="15875">
            <a:solidFill>
              <a:schemeClr val="accent3"/>
            </a:solidFill>
            <a:prstDash val="solid"/>
          </a:ln>
        </p:spPr>
      </p:sp>
      <p:sp>
        <p:nvSpPr>
          <p:cNvPr id="937936840" name="text-164"/>
          <p:cNvSpPr txBox="1"/>
          <p:nvPr/>
        </p:nvSpPr>
        <p:spPr bwMode="auto">
          <a:xfrm>
            <a:off x="3804818" y="1920240"/>
            <a:ext cx="1325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chemeClr val="bg1"/>
                </a:solidFill>
              </a:rPr>
              <a:t>MaxPool</a:t>
            </a:r>
            <a:endParaRPr lang="en-US" sz="1400"/>
          </a:p>
        </p:txBody>
      </p:sp>
      <p:sp>
        <p:nvSpPr>
          <p:cNvPr id="1849743074" name="text-165"/>
          <p:cNvSpPr txBox="1"/>
          <p:nvPr/>
        </p:nvSpPr>
        <p:spPr bwMode="auto">
          <a:xfrm>
            <a:off x="3804818" y="276148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  <a:defRPr/>
            </a:pPr>
            <a:r>
              <a:rPr lang="en-US" sz="1300">
                <a:solidFill>
                  <a:schemeClr val="bg2"/>
                </a:solidFill>
              </a:rPr>
              <a:t>24×24×32</a:t>
            </a:r>
            <a:endParaRPr lang="en-US" sz="1300"/>
          </a:p>
        </p:txBody>
      </p:sp>
      <p:sp>
        <p:nvSpPr>
          <p:cNvPr id="720339675" name="chev-166"/>
          <p:cNvSpPr/>
          <p:nvPr/>
        </p:nvSpPr>
        <p:spPr bwMode="auto">
          <a:xfrm>
            <a:off x="5190363" y="2171700"/>
            <a:ext cx="182880" cy="274320"/>
          </a:xfrm>
          <a:prstGeom prst="chevron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981232986" name="block-167"/>
          <p:cNvSpPr/>
          <p:nvPr/>
        </p:nvSpPr>
        <p:spPr bwMode="auto">
          <a:xfrm>
            <a:off x="5432908" y="1920240"/>
            <a:ext cx="1325880" cy="777240"/>
          </a:xfrm>
          <a:prstGeom prst="roundRect">
            <a:avLst>
              <a:gd name="adj" fmla="val 11765"/>
            </a:avLst>
          </a:prstGeom>
          <a:solidFill>
            <a:schemeClr val="accent1">
              <a:alpha val="22000"/>
            </a:schemeClr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459240813" name="text-168"/>
          <p:cNvSpPr txBox="1"/>
          <p:nvPr/>
        </p:nvSpPr>
        <p:spPr bwMode="auto">
          <a:xfrm>
            <a:off x="5432908" y="1920240"/>
            <a:ext cx="1325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chemeClr val="bg1"/>
                </a:solidFill>
              </a:rPr>
              <a:t>Conv 3×3</a:t>
            </a:r>
            <a:endParaRPr lang="en-US" sz="1400"/>
          </a:p>
          <a:p>
            <a:pPr marL="0" indent="0" algn="ctr">
              <a:buNone/>
              <a:defRPr/>
            </a:pPr>
            <a:r>
              <a:rPr lang="en-US" sz="1400" b="1">
                <a:solidFill>
                  <a:schemeClr val="bg1"/>
                </a:solidFill>
              </a:rPr>
              <a:t>64 filtres</a:t>
            </a:r>
            <a:endParaRPr lang="en-US" sz="1400"/>
          </a:p>
        </p:txBody>
      </p:sp>
      <p:sp>
        <p:nvSpPr>
          <p:cNvPr id="1061798399" name="text-169"/>
          <p:cNvSpPr txBox="1"/>
          <p:nvPr/>
        </p:nvSpPr>
        <p:spPr bwMode="auto">
          <a:xfrm>
            <a:off x="5432908" y="276148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  <a:defRPr/>
            </a:pPr>
            <a:r>
              <a:rPr lang="en-US" sz="1300">
                <a:solidFill>
                  <a:schemeClr val="bg2"/>
                </a:solidFill>
              </a:rPr>
              <a:t>24×24×64</a:t>
            </a:r>
            <a:endParaRPr lang="en-US" sz="1300"/>
          </a:p>
        </p:txBody>
      </p:sp>
      <p:sp>
        <p:nvSpPr>
          <p:cNvPr id="1407027019" name="chev-170"/>
          <p:cNvSpPr/>
          <p:nvPr/>
        </p:nvSpPr>
        <p:spPr bwMode="auto">
          <a:xfrm>
            <a:off x="6818452" y="2171700"/>
            <a:ext cx="182880" cy="274320"/>
          </a:xfrm>
          <a:prstGeom prst="chevron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456980339" name="block-171"/>
          <p:cNvSpPr/>
          <p:nvPr/>
        </p:nvSpPr>
        <p:spPr bwMode="auto">
          <a:xfrm>
            <a:off x="7060997" y="1920240"/>
            <a:ext cx="1325880" cy="777240"/>
          </a:xfrm>
          <a:prstGeom prst="roundRect">
            <a:avLst>
              <a:gd name="adj" fmla="val 11765"/>
            </a:avLst>
          </a:prstGeom>
          <a:solidFill>
            <a:schemeClr val="accent3">
              <a:alpha val="22000"/>
            </a:schemeClr>
          </a:solidFill>
          <a:ln w="15875">
            <a:solidFill>
              <a:schemeClr val="accent3"/>
            </a:solidFill>
            <a:prstDash val="solid"/>
          </a:ln>
        </p:spPr>
      </p:sp>
      <p:sp>
        <p:nvSpPr>
          <p:cNvPr id="220224562" name="text-172"/>
          <p:cNvSpPr txBox="1"/>
          <p:nvPr/>
        </p:nvSpPr>
        <p:spPr bwMode="auto">
          <a:xfrm>
            <a:off x="7060997" y="1920240"/>
            <a:ext cx="1325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chemeClr val="bg1"/>
                </a:solidFill>
              </a:rPr>
              <a:t>MaxPool</a:t>
            </a:r>
            <a:endParaRPr lang="en-US" sz="1400"/>
          </a:p>
        </p:txBody>
      </p:sp>
      <p:sp>
        <p:nvSpPr>
          <p:cNvPr id="450923847" name="text-173"/>
          <p:cNvSpPr txBox="1"/>
          <p:nvPr/>
        </p:nvSpPr>
        <p:spPr bwMode="auto">
          <a:xfrm>
            <a:off x="7060997" y="276148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  <a:defRPr/>
            </a:pPr>
            <a:r>
              <a:rPr lang="en-US" sz="1300">
                <a:solidFill>
                  <a:schemeClr val="bg2"/>
                </a:solidFill>
              </a:rPr>
              <a:t>12×12×64</a:t>
            </a:r>
            <a:endParaRPr lang="en-US" sz="1300"/>
          </a:p>
        </p:txBody>
      </p:sp>
      <p:sp>
        <p:nvSpPr>
          <p:cNvPr id="57566393" name="chev-174"/>
          <p:cNvSpPr/>
          <p:nvPr/>
        </p:nvSpPr>
        <p:spPr bwMode="auto">
          <a:xfrm>
            <a:off x="8446541" y="2171700"/>
            <a:ext cx="182880" cy="274320"/>
          </a:xfrm>
          <a:prstGeom prst="chevron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956536930" name="block-175"/>
          <p:cNvSpPr/>
          <p:nvPr/>
        </p:nvSpPr>
        <p:spPr bwMode="auto">
          <a:xfrm>
            <a:off x="8689086" y="1920240"/>
            <a:ext cx="1325880" cy="777240"/>
          </a:xfrm>
          <a:prstGeom prst="roundRect">
            <a:avLst>
              <a:gd name="adj" fmla="val 11765"/>
            </a:avLst>
          </a:prstGeom>
          <a:solidFill>
            <a:schemeClr val="accent1">
              <a:alpha val="22000"/>
            </a:schemeClr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321241201" name="text-176"/>
          <p:cNvSpPr txBox="1"/>
          <p:nvPr/>
        </p:nvSpPr>
        <p:spPr bwMode="auto">
          <a:xfrm>
            <a:off x="8689086" y="1920240"/>
            <a:ext cx="1325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chemeClr val="bg1"/>
                </a:solidFill>
              </a:rPr>
              <a:t>Conv 3×3</a:t>
            </a:r>
            <a:endParaRPr lang="en-US" sz="1400"/>
          </a:p>
          <a:p>
            <a:pPr marL="0" indent="0" algn="ctr">
              <a:buNone/>
              <a:defRPr/>
            </a:pPr>
            <a:r>
              <a:rPr lang="en-US" sz="1400" b="1">
                <a:solidFill>
                  <a:schemeClr val="bg1"/>
                </a:solidFill>
              </a:rPr>
              <a:t>128 filtres</a:t>
            </a:r>
            <a:endParaRPr lang="en-US" sz="1400"/>
          </a:p>
        </p:txBody>
      </p:sp>
      <p:sp>
        <p:nvSpPr>
          <p:cNvPr id="560223378" name="text-177"/>
          <p:cNvSpPr txBox="1"/>
          <p:nvPr/>
        </p:nvSpPr>
        <p:spPr bwMode="auto">
          <a:xfrm>
            <a:off x="8689086" y="276148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  <a:defRPr/>
            </a:pPr>
            <a:r>
              <a:rPr lang="en-US" sz="1300">
                <a:solidFill>
                  <a:schemeClr val="bg2"/>
                </a:solidFill>
              </a:rPr>
              <a:t>12×12×128</a:t>
            </a:r>
            <a:endParaRPr lang="en-US" sz="1300"/>
          </a:p>
        </p:txBody>
      </p:sp>
      <p:sp>
        <p:nvSpPr>
          <p:cNvPr id="374977535" name="chev-178"/>
          <p:cNvSpPr/>
          <p:nvPr/>
        </p:nvSpPr>
        <p:spPr bwMode="auto">
          <a:xfrm>
            <a:off x="10074631" y="2171700"/>
            <a:ext cx="182880" cy="274320"/>
          </a:xfrm>
          <a:prstGeom prst="chevron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208788424" name="block-179"/>
          <p:cNvSpPr/>
          <p:nvPr/>
        </p:nvSpPr>
        <p:spPr bwMode="auto">
          <a:xfrm>
            <a:off x="10317175" y="1920240"/>
            <a:ext cx="1325880" cy="777240"/>
          </a:xfrm>
          <a:prstGeom prst="roundRect">
            <a:avLst>
              <a:gd name="adj" fmla="val 11765"/>
            </a:avLst>
          </a:prstGeom>
          <a:solidFill>
            <a:schemeClr val="accent3">
              <a:alpha val="22000"/>
            </a:schemeClr>
          </a:solidFill>
          <a:ln w="15875">
            <a:solidFill>
              <a:schemeClr val="accent3"/>
            </a:solidFill>
            <a:prstDash val="solid"/>
          </a:ln>
        </p:spPr>
      </p:sp>
      <p:sp>
        <p:nvSpPr>
          <p:cNvPr id="2002548296" name="text-180"/>
          <p:cNvSpPr txBox="1"/>
          <p:nvPr/>
        </p:nvSpPr>
        <p:spPr bwMode="auto">
          <a:xfrm>
            <a:off x="10317175" y="1920240"/>
            <a:ext cx="1325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chemeClr val="bg1"/>
                </a:solidFill>
              </a:rPr>
              <a:t>MaxPool</a:t>
            </a:r>
            <a:endParaRPr lang="en-US" sz="1400"/>
          </a:p>
        </p:txBody>
      </p:sp>
      <p:sp>
        <p:nvSpPr>
          <p:cNvPr id="225326907" name="text-181"/>
          <p:cNvSpPr txBox="1"/>
          <p:nvPr/>
        </p:nvSpPr>
        <p:spPr bwMode="auto">
          <a:xfrm>
            <a:off x="10317175" y="276148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  <a:defRPr/>
            </a:pPr>
            <a:r>
              <a:rPr lang="en-US" sz="1300">
                <a:solidFill>
                  <a:schemeClr val="bg2"/>
                </a:solidFill>
              </a:rPr>
              <a:t>6×6×128</a:t>
            </a:r>
            <a:endParaRPr lang="en-US" sz="1300"/>
          </a:p>
        </p:txBody>
      </p:sp>
      <p:sp>
        <p:nvSpPr>
          <p:cNvPr id="1284485127" name="block-182"/>
          <p:cNvSpPr/>
          <p:nvPr/>
        </p:nvSpPr>
        <p:spPr bwMode="auto">
          <a:xfrm>
            <a:off x="548640" y="3337560"/>
            <a:ext cx="1325880" cy="777240"/>
          </a:xfrm>
          <a:prstGeom prst="roundRect">
            <a:avLst>
              <a:gd name="adj" fmla="val 11765"/>
            </a:avLst>
          </a:prstGeom>
          <a:solidFill>
            <a:schemeClr val="accent3">
              <a:alpha val="22000"/>
            </a:schemeClr>
          </a:solidFill>
          <a:ln w="15875">
            <a:solidFill>
              <a:schemeClr val="accent3"/>
            </a:solidFill>
            <a:prstDash val="solid"/>
          </a:ln>
        </p:spPr>
      </p:sp>
      <p:sp>
        <p:nvSpPr>
          <p:cNvPr id="1622207201" name="text-183"/>
          <p:cNvSpPr txBox="1"/>
          <p:nvPr/>
        </p:nvSpPr>
        <p:spPr bwMode="auto">
          <a:xfrm>
            <a:off x="548640" y="3337560"/>
            <a:ext cx="1325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chemeClr val="bg1"/>
                </a:solidFill>
              </a:rPr>
              <a:t>Flatten</a:t>
            </a:r>
            <a:endParaRPr lang="en-US" sz="1400"/>
          </a:p>
        </p:txBody>
      </p:sp>
      <p:sp>
        <p:nvSpPr>
          <p:cNvPr id="1040342918" name="text-184"/>
          <p:cNvSpPr txBox="1"/>
          <p:nvPr/>
        </p:nvSpPr>
        <p:spPr bwMode="auto">
          <a:xfrm>
            <a:off x="548640" y="417880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  <a:defRPr/>
            </a:pPr>
            <a:r>
              <a:rPr lang="en-US" sz="1300">
                <a:solidFill>
                  <a:schemeClr val="bg2"/>
                </a:solidFill>
              </a:rPr>
              <a:t>4608</a:t>
            </a:r>
            <a:endParaRPr lang="en-US" sz="1300"/>
          </a:p>
        </p:txBody>
      </p:sp>
      <p:sp>
        <p:nvSpPr>
          <p:cNvPr id="1303720323" name="chev-185"/>
          <p:cNvSpPr/>
          <p:nvPr/>
        </p:nvSpPr>
        <p:spPr bwMode="auto">
          <a:xfrm>
            <a:off x="1934185" y="3589019"/>
            <a:ext cx="182880" cy="274320"/>
          </a:xfrm>
          <a:prstGeom prst="chevron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9237815" name="block-186"/>
          <p:cNvSpPr/>
          <p:nvPr/>
        </p:nvSpPr>
        <p:spPr bwMode="auto">
          <a:xfrm>
            <a:off x="2176729" y="3337560"/>
            <a:ext cx="1325880" cy="777240"/>
          </a:xfrm>
          <a:prstGeom prst="roundRect">
            <a:avLst>
              <a:gd name="adj" fmla="val 11765"/>
            </a:avLst>
          </a:prstGeom>
          <a:solidFill>
            <a:schemeClr val="accent2">
              <a:alpha val="22000"/>
            </a:schemeClr>
          </a:solidFill>
          <a:ln w="15875">
            <a:solidFill>
              <a:schemeClr val="accent2"/>
            </a:solidFill>
            <a:prstDash val="solid"/>
          </a:ln>
        </p:spPr>
      </p:sp>
      <p:sp>
        <p:nvSpPr>
          <p:cNvPr id="1831359843" name="text-187"/>
          <p:cNvSpPr txBox="1"/>
          <p:nvPr/>
        </p:nvSpPr>
        <p:spPr bwMode="auto">
          <a:xfrm>
            <a:off x="2176729" y="3337560"/>
            <a:ext cx="1325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chemeClr val="bg1"/>
                </a:solidFill>
              </a:rPr>
              <a:t>Dense + ReLU</a:t>
            </a:r>
            <a:endParaRPr lang="en-US" sz="1400"/>
          </a:p>
        </p:txBody>
      </p:sp>
      <p:sp>
        <p:nvSpPr>
          <p:cNvPr id="976448026" name="text-188"/>
          <p:cNvSpPr txBox="1"/>
          <p:nvPr/>
        </p:nvSpPr>
        <p:spPr bwMode="auto">
          <a:xfrm>
            <a:off x="2176729" y="417880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  <a:defRPr/>
            </a:pPr>
            <a:r>
              <a:rPr lang="en-US" sz="1300">
                <a:solidFill>
                  <a:schemeClr val="bg2"/>
                </a:solidFill>
              </a:rPr>
              <a:t>128</a:t>
            </a:r>
            <a:endParaRPr lang="en-US" sz="1300"/>
          </a:p>
        </p:txBody>
      </p:sp>
      <p:sp>
        <p:nvSpPr>
          <p:cNvPr id="1999614236" name="chev-189"/>
          <p:cNvSpPr/>
          <p:nvPr/>
        </p:nvSpPr>
        <p:spPr bwMode="auto">
          <a:xfrm>
            <a:off x="3562274" y="3589019"/>
            <a:ext cx="182880" cy="274320"/>
          </a:xfrm>
          <a:prstGeom prst="chevron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575153253" name="block-190"/>
          <p:cNvSpPr/>
          <p:nvPr/>
        </p:nvSpPr>
        <p:spPr bwMode="auto">
          <a:xfrm>
            <a:off x="3804818" y="3337560"/>
            <a:ext cx="1325880" cy="777240"/>
          </a:xfrm>
          <a:prstGeom prst="roundRect">
            <a:avLst>
              <a:gd name="adj" fmla="val 11765"/>
            </a:avLst>
          </a:prstGeom>
          <a:solidFill>
            <a:schemeClr val="accent4">
              <a:alpha val="22000"/>
            </a:schemeClr>
          </a:solidFill>
          <a:ln w="15875">
            <a:solidFill>
              <a:schemeClr val="accent4"/>
            </a:solidFill>
            <a:prstDash val="solid"/>
          </a:ln>
        </p:spPr>
      </p:sp>
      <p:sp>
        <p:nvSpPr>
          <p:cNvPr id="785706382" name="text-191"/>
          <p:cNvSpPr txBox="1"/>
          <p:nvPr/>
        </p:nvSpPr>
        <p:spPr bwMode="auto">
          <a:xfrm>
            <a:off x="3804818" y="3337560"/>
            <a:ext cx="1325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chemeClr val="bg1"/>
                </a:solidFill>
              </a:rPr>
              <a:t>Dropout</a:t>
            </a:r>
            <a:endParaRPr lang="en-US" sz="1400"/>
          </a:p>
        </p:txBody>
      </p:sp>
      <p:sp>
        <p:nvSpPr>
          <p:cNvPr id="1644497044" name="text-192"/>
          <p:cNvSpPr txBox="1"/>
          <p:nvPr/>
        </p:nvSpPr>
        <p:spPr bwMode="auto">
          <a:xfrm>
            <a:off x="3804818" y="417880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  <a:defRPr/>
            </a:pPr>
            <a:r>
              <a:rPr lang="en-US" sz="1300">
                <a:solidFill>
                  <a:schemeClr val="bg2"/>
                </a:solidFill>
              </a:rPr>
              <a:t>0.30</a:t>
            </a:r>
            <a:endParaRPr lang="en-US" sz="1300"/>
          </a:p>
        </p:txBody>
      </p:sp>
      <p:sp>
        <p:nvSpPr>
          <p:cNvPr id="1074212560" name="chev-193"/>
          <p:cNvSpPr/>
          <p:nvPr/>
        </p:nvSpPr>
        <p:spPr bwMode="auto">
          <a:xfrm>
            <a:off x="5190363" y="3589019"/>
            <a:ext cx="182880" cy="274320"/>
          </a:xfrm>
          <a:prstGeom prst="chevron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642113508" name="block-194"/>
          <p:cNvSpPr/>
          <p:nvPr/>
        </p:nvSpPr>
        <p:spPr bwMode="auto">
          <a:xfrm>
            <a:off x="5432908" y="3337560"/>
            <a:ext cx="1325880" cy="777240"/>
          </a:xfrm>
          <a:prstGeom prst="roundRect">
            <a:avLst>
              <a:gd name="adj" fmla="val 11765"/>
            </a:avLst>
          </a:prstGeom>
          <a:solidFill>
            <a:schemeClr val="accent5">
              <a:alpha val="22000"/>
            </a:schemeClr>
          </a:solidFill>
          <a:ln w="15875">
            <a:solidFill>
              <a:schemeClr val="accent5"/>
            </a:solidFill>
            <a:prstDash val="solid"/>
          </a:ln>
        </p:spPr>
      </p:sp>
      <p:sp>
        <p:nvSpPr>
          <p:cNvPr id="679664745" name="text-195"/>
          <p:cNvSpPr txBox="1"/>
          <p:nvPr/>
        </p:nvSpPr>
        <p:spPr bwMode="auto">
          <a:xfrm>
            <a:off x="5432908" y="3337560"/>
            <a:ext cx="1325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chemeClr val="bg1"/>
                </a:solidFill>
              </a:rPr>
              <a:t>Softmax</a:t>
            </a:r>
            <a:endParaRPr lang="en-US" sz="1400"/>
          </a:p>
        </p:txBody>
      </p:sp>
      <p:sp>
        <p:nvSpPr>
          <p:cNvPr id="1781654403" name="text-196"/>
          <p:cNvSpPr txBox="1"/>
          <p:nvPr/>
        </p:nvSpPr>
        <p:spPr bwMode="auto">
          <a:xfrm>
            <a:off x="5432908" y="417880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  <a:defRPr/>
            </a:pPr>
            <a:r>
              <a:rPr lang="en-US" sz="1300">
                <a:solidFill>
                  <a:schemeClr val="bg2"/>
                </a:solidFill>
              </a:rPr>
              <a:t>7 classes</a:t>
            </a:r>
            <a:endParaRPr lang="en-US" sz="1300"/>
          </a:p>
        </p:txBody>
      </p:sp>
      <p:sp>
        <p:nvSpPr>
          <p:cNvPr id="1513250736" name="card-197"/>
          <p:cNvSpPr/>
          <p:nvPr/>
        </p:nvSpPr>
        <p:spPr bwMode="auto">
          <a:xfrm>
            <a:off x="7152437" y="3246120"/>
            <a:ext cx="4490618" cy="1234440"/>
          </a:xfrm>
          <a:prstGeom prst="roundRect">
            <a:avLst>
              <a:gd name="adj" fmla="val 8889"/>
            </a:avLst>
          </a:prstGeom>
          <a:solidFill>
            <a:schemeClr val="tx2">
              <a:alpha val="92000"/>
            </a:schemeClr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756549856" name="text-198"/>
          <p:cNvSpPr txBox="1"/>
          <p:nvPr/>
        </p:nvSpPr>
        <p:spPr bwMode="auto">
          <a:xfrm>
            <a:off x="7426757" y="3319272"/>
            <a:ext cx="394197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3000" b="1">
                <a:solidFill>
                  <a:schemeClr val="accent1"/>
                </a:solidFill>
              </a:rPr>
              <a:t>683 527</a:t>
            </a:r>
            <a:r>
              <a:rPr lang="en-US" sz="1500">
                <a:solidFill>
                  <a:schemeClr val="bg2"/>
                </a:solidFill>
              </a:rPr>
              <a:t>  paramètres au total</a:t>
            </a:r>
            <a:endParaRPr lang="en-US" sz="1400"/>
          </a:p>
        </p:txBody>
      </p:sp>
      <p:sp>
        <p:nvSpPr>
          <p:cNvPr id="2082782512" name="text-199"/>
          <p:cNvSpPr txBox="1"/>
          <p:nvPr/>
        </p:nvSpPr>
        <p:spPr bwMode="auto">
          <a:xfrm>
            <a:off x="7426757" y="3904488"/>
            <a:ext cx="39419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400">
                <a:solidFill>
                  <a:schemeClr val="bg2"/>
                </a:solidFill>
              </a:rPr>
              <a:t>Couche la plus lourde : Dense 128 (589 952 paramètres)</a:t>
            </a:r>
            <a:endParaRPr lang="en-US" sz="1400"/>
          </a:p>
        </p:txBody>
      </p:sp>
      <p:sp>
        <p:nvSpPr>
          <p:cNvPr id="2011180850" name="card-200"/>
          <p:cNvSpPr/>
          <p:nvPr/>
        </p:nvSpPr>
        <p:spPr bwMode="auto">
          <a:xfrm>
            <a:off x="548640" y="4709160"/>
            <a:ext cx="3545738" cy="594360"/>
          </a:xfrm>
          <a:prstGeom prst="roundRect">
            <a:avLst>
              <a:gd name="adj" fmla="val 18462"/>
            </a:avLst>
          </a:prstGeom>
          <a:solidFill>
            <a:schemeClr val="tx2">
              <a:alpha val="92000"/>
            </a:schemeClr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306759331" name="icon-201" descr="icône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749808" y="4892039"/>
            <a:ext cx="228600" cy="228600"/>
          </a:xfrm>
          <a:prstGeom prst="rect">
            <a:avLst/>
          </a:prstGeom>
        </p:spPr>
      </p:pic>
      <p:sp>
        <p:nvSpPr>
          <p:cNvPr id="1638040274" name="text-202"/>
          <p:cNvSpPr txBox="1"/>
          <p:nvPr/>
        </p:nvSpPr>
        <p:spPr bwMode="auto">
          <a:xfrm>
            <a:off x="1143000" y="4709160"/>
            <a:ext cx="281421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>
                <a:solidFill>
                  <a:schemeClr val="bg1"/>
                </a:solidFill>
              </a:rPr>
              <a:t>Optimiseur : Adam, lr initial 1e-3</a:t>
            </a:r>
            <a:endParaRPr lang="en-US" sz="1400"/>
          </a:p>
        </p:txBody>
      </p:sp>
      <p:sp>
        <p:nvSpPr>
          <p:cNvPr id="1802532417" name="card-203"/>
          <p:cNvSpPr/>
          <p:nvPr/>
        </p:nvSpPr>
        <p:spPr bwMode="auto">
          <a:xfrm>
            <a:off x="4322978" y="4709160"/>
            <a:ext cx="3545738" cy="594360"/>
          </a:xfrm>
          <a:prstGeom prst="roundRect">
            <a:avLst>
              <a:gd name="adj" fmla="val 18462"/>
            </a:avLst>
          </a:prstGeom>
          <a:solidFill>
            <a:schemeClr val="tx2">
              <a:alpha val="92000"/>
            </a:schemeClr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944802369" name="icon-204" descr="icône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4524146" y="4892039"/>
            <a:ext cx="228600" cy="228600"/>
          </a:xfrm>
          <a:prstGeom prst="rect">
            <a:avLst/>
          </a:prstGeom>
        </p:spPr>
      </p:pic>
      <p:sp>
        <p:nvSpPr>
          <p:cNvPr id="1406958900" name="text-205"/>
          <p:cNvSpPr txBox="1"/>
          <p:nvPr/>
        </p:nvSpPr>
        <p:spPr bwMode="auto">
          <a:xfrm>
            <a:off x="4917338" y="4709160"/>
            <a:ext cx="281421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>
                <a:solidFill>
                  <a:schemeClr val="bg1"/>
                </a:solidFill>
              </a:rPr>
              <a:t>Loss : sparse categorical crossentropy</a:t>
            </a:r>
            <a:endParaRPr lang="en-US" sz="1400"/>
          </a:p>
        </p:txBody>
      </p:sp>
      <p:sp>
        <p:nvSpPr>
          <p:cNvPr id="186488041" name="card-206"/>
          <p:cNvSpPr/>
          <p:nvPr/>
        </p:nvSpPr>
        <p:spPr bwMode="auto">
          <a:xfrm>
            <a:off x="8097317" y="4709160"/>
            <a:ext cx="3545738" cy="594360"/>
          </a:xfrm>
          <a:prstGeom prst="roundRect">
            <a:avLst>
              <a:gd name="adj" fmla="val 18462"/>
            </a:avLst>
          </a:prstGeom>
          <a:solidFill>
            <a:schemeClr val="tx2">
              <a:alpha val="92000"/>
            </a:schemeClr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1846823219" name="icon-207" descr="icône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8298485" y="4892039"/>
            <a:ext cx="228600" cy="228600"/>
          </a:xfrm>
          <a:prstGeom prst="rect">
            <a:avLst/>
          </a:prstGeom>
        </p:spPr>
      </p:pic>
      <p:sp>
        <p:nvSpPr>
          <p:cNvPr id="1628763240" name="text-208"/>
          <p:cNvSpPr txBox="1"/>
          <p:nvPr/>
        </p:nvSpPr>
        <p:spPr bwMode="auto">
          <a:xfrm>
            <a:off x="8691677" y="4709160"/>
            <a:ext cx="281421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>
                <a:solidFill>
                  <a:schemeClr val="bg1"/>
                </a:solidFill>
              </a:rPr>
              <a:t>Dropout : 0,30 sur le CNN de référence</a:t>
            </a:r>
            <a:endParaRPr lang="en-US" sz="1400"/>
          </a:p>
        </p:txBody>
      </p:sp>
      <p:sp>
        <p:nvSpPr>
          <p:cNvPr id="1534533922" name="highlight-209"/>
          <p:cNvSpPr/>
          <p:nvPr/>
        </p:nvSpPr>
        <p:spPr bwMode="auto">
          <a:xfrm>
            <a:off x="548640" y="5486400"/>
            <a:ext cx="11094415" cy="640080"/>
          </a:xfrm>
          <a:prstGeom prst="roundRect">
            <a:avLst>
              <a:gd name="adj" fmla="val 17143"/>
            </a:avLst>
          </a:prstGeom>
          <a:solidFill>
            <a:schemeClr val="accent1">
              <a:alpha val="12000"/>
            </a:schemeClr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787250544" name="text-210"/>
          <p:cNvSpPr txBox="1"/>
          <p:nvPr/>
        </p:nvSpPr>
        <p:spPr bwMode="auto">
          <a:xfrm>
            <a:off x="822960" y="5486400"/>
            <a:ext cx="105457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400">
                <a:solidFill>
                  <a:schemeClr val="bg1"/>
                </a:solidFill>
              </a:rPr>
              <a:t>Par rapport au MLP, le CNN exploite le voisinage spatial et apprend des filtres locaux (contours, sourcils, bouche, yeux).</a:t>
            </a:r>
            <a:endParaRPr lang="en-US" sz="1400"/>
          </a:p>
        </p:txBody>
      </p:sp>
      <p:sp>
        <p:nvSpPr>
          <p:cNvPr id="522632116" name="Slide Number Placeholder 0"/>
          <p:cNvSpPr>
            <a:spLocks noGrp="1"/>
          </p:cNvSpPr>
          <p:nvPr>
            <p:ph type="sldNum" sz="quarter" idx="4294967295"/>
          </p:nvPr>
        </p:nvSpPr>
        <p:spPr bwMode="auto">
          <a:xfrm>
            <a:off x="11183112" y="6400800"/>
            <a:ext cx="457200" cy="228600"/>
          </a:xfrm>
          <a:prstGeom prst="rect">
            <a:avLst/>
          </a:prstGeom>
        </p:spPr>
        <p:txBody>
          <a:bodyPr lIns="0" tIns="0" rIns="0" bIns="0"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r">
              <a:defRPr/>
            </a:pPr>
            <a:fld id="{F7021451-1387-4CA6-816F-3879F97B5CBC}" type="slidenum">
              <a:rPr lang="en-US" b="1"/>
              <a:t>8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9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2184456" name="Text 0"/>
          <p:cNvSpPr/>
          <p:nvPr>
            <p:ph type="body" idx="100" hasCustomPrompt="1"/>
          </p:nvPr>
        </p:nvSpPr>
        <p:spPr bwMode="auto"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 spc="300">
                <a:solidFill>
                  <a:schemeClr val="accent1"/>
                </a:solidFill>
              </a:rPr>
              <a:t>05 / CNN — DÉTAILS TECHNIQUES</a:t>
            </a:r>
            <a:endParaRPr lang="en-US" sz="1200"/>
          </a:p>
        </p:txBody>
      </p:sp>
      <p:sp>
        <p:nvSpPr>
          <p:cNvPr id="856652180" name="Text 0"/>
          <p:cNvSpPr/>
          <p:nvPr>
            <p:ph type="title" idx="101" hasCustomPrompt="1"/>
          </p:nvPr>
        </p:nvSpPr>
        <p:spPr bwMode="auto"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3400" b="1">
                <a:solidFill>
                  <a:schemeClr val="bg1"/>
                </a:solidFill>
              </a:rPr>
              <a:t>Dimensions et paramètres couche par couche</a:t>
            </a:r>
            <a:endParaRPr lang="en-US" sz="3400"/>
          </a:p>
        </p:txBody>
      </p:sp>
      <p:sp>
        <p:nvSpPr>
          <p:cNvPr id="760855553" name="Text 0"/>
          <p:cNvSpPr/>
          <p:nvPr>
            <p:ph type="body" idx="102" hasCustomPrompt="1"/>
          </p:nvPr>
        </p:nvSpPr>
        <p:spPr bwMode="auto">
          <a:xfrm>
            <a:off x="548640" y="138988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00">
                <a:solidFill>
                  <a:schemeClr val="bg2"/>
                </a:solidFill>
              </a:rPr>
              <a:t>Architecture réelle issue du model.summary() du notebook ; sortie Softmax à 7 classes.</a:t>
            </a:r>
            <a:endParaRPr lang="en-US" sz="1500"/>
          </a:p>
        </p:txBody>
      </p:sp>
      <p:graphicFrame>
        <p:nvGraphicFramePr>
          <p:cNvPr id="519171741" name="tableau-cnn"/>
          <p:cNvGraphicFramePr>
            <a:graphicFrameLocks xmlns:a="http://schemas.openxmlformats.org/drawingml/2006/main" noGrp="1"/>
          </p:cNvGraphicFramePr>
          <p:nvPr/>
        </p:nvGraphicFramePr>
        <p:xfrm rot="0">
          <a:off x="548640" y="1920240"/>
          <a:ext cx="6035039" cy="914400"/>
        </p:xfrm>
        <a:graphic>
          <a:graphicData uri="http://schemas.openxmlformats.org/drawingml/2006/table">
            <a:tbl>
              <a:tblPr firstRow="0" firstCol="0" lastRow="0" lastCol="0" bandRow="0" bandCol="0"/>
              <a:tblGrid>
                <a:gridCol w="2468880"/>
                <a:gridCol w="1828800"/>
                <a:gridCol w="1737360"/>
              </a:tblGrid>
              <a:tr h="320040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200" b="1">
                          <a:solidFill>
                            <a:schemeClr val="bg1"/>
                          </a:solidFill>
                          <a:latin typeface="Calibri"/>
                          <a:ea typeface="Calibri"/>
                          <a:cs typeface="Calibri"/>
                        </a:rPr>
                        <a:t>Couche</a:t>
                      </a:r>
                      <a:endParaRPr lang="en-US"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137160" marR="137160" marT="27432" marB="27432" anchor="ctr">
                    <a:lnL w="9525" algn="ctr">
                      <a:solidFill>
                        <a:srgbClr val="24376B"/>
                      </a:solidFill>
                    </a:lnL>
                    <a:lnR w="9525" algn="ctr">
                      <a:solidFill>
                        <a:srgbClr val="24376B"/>
                      </a:solidFill>
                    </a:lnR>
                    <a:lnT w="9525" algn="ctr">
                      <a:solidFill>
                        <a:srgbClr val="24376B"/>
                      </a:solidFill>
                    </a:lnT>
                    <a:lnB w="9525" algn="ctr">
                      <a:solidFill>
                        <a:srgbClr val="24376B"/>
                      </a:solidFill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200" b="1">
                          <a:solidFill>
                            <a:schemeClr val="bg1"/>
                          </a:solidFill>
                          <a:latin typeface="Calibri"/>
                          <a:ea typeface="Calibri"/>
                          <a:cs typeface="Calibri"/>
                        </a:rPr>
                        <a:t>Sortie</a:t>
                      </a:r>
                      <a:endParaRPr lang="en-US"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137160" marR="137160" marT="27432" marB="27432" anchor="ctr">
                    <a:lnL w="9525" algn="ctr">
                      <a:solidFill>
                        <a:srgbClr val="24376B"/>
                      </a:solidFill>
                    </a:lnL>
                    <a:lnR w="9525" algn="ctr">
                      <a:solidFill>
                        <a:srgbClr val="24376B"/>
                      </a:solidFill>
                    </a:lnR>
                    <a:lnT w="9525" algn="ctr">
                      <a:solidFill>
                        <a:srgbClr val="24376B"/>
                      </a:solidFill>
                    </a:lnT>
                    <a:lnB w="9525" algn="ctr">
                      <a:solidFill>
                        <a:srgbClr val="24376B"/>
                      </a:solidFill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  <a:defRPr/>
                      </a:pPr>
                      <a:r>
                        <a:rPr lang="en-US" sz="1200" b="1">
                          <a:solidFill>
                            <a:schemeClr val="bg1"/>
                          </a:solidFill>
                          <a:latin typeface="Calibri"/>
                          <a:ea typeface="Calibri"/>
                          <a:cs typeface="Calibri"/>
                        </a:rPr>
                        <a:t>Paramètres</a:t>
                      </a:r>
                      <a:endParaRPr lang="en-US"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137160" marR="137160" marT="27432" marB="27432" anchor="ctr">
                    <a:lnL w="9525" algn="ctr">
                      <a:solidFill>
                        <a:srgbClr val="24376B"/>
                      </a:solidFill>
                    </a:lnL>
                    <a:lnR w="9525" algn="ctr">
                      <a:solidFill>
                        <a:srgbClr val="24376B"/>
                      </a:solidFill>
                    </a:lnR>
                    <a:lnT w="9525" algn="ctr">
                      <a:solidFill>
                        <a:srgbClr val="24376B"/>
                      </a:solidFill>
                    </a:lnT>
                    <a:lnB w="9525" algn="ctr">
                      <a:solidFill>
                        <a:srgbClr val="24376B"/>
                      </a:solidFill>
                    </a:lnB>
                    <a:solidFill>
                      <a:schemeClr val="accent6"/>
                    </a:solidFill>
                  </a:tcPr>
                </a:tc>
              </a:tr>
              <a:tr h="320040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200">
                          <a:solidFill>
                            <a:schemeClr val="bg1"/>
                          </a:solidFill>
                          <a:latin typeface="Calibri"/>
                          <a:ea typeface="Calibri"/>
                          <a:cs typeface="Calibri"/>
                        </a:rPr>
                        <a:t>Input</a:t>
                      </a:r>
                      <a:endParaRPr lang="en-US"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137160" marR="137160" marT="27432" marB="27432" anchor="ctr">
                    <a:lnL w="9525" algn="ctr">
                      <a:solidFill>
                        <a:srgbClr val="24376B"/>
                      </a:solidFill>
                    </a:lnL>
                    <a:lnR w="9525" algn="ctr">
                      <a:solidFill>
                        <a:srgbClr val="24376B"/>
                      </a:solidFill>
                    </a:lnR>
                    <a:lnT w="9525" algn="ctr">
                      <a:solidFill>
                        <a:srgbClr val="24376B"/>
                      </a:solidFill>
                    </a:lnT>
                    <a:lnB w="9525" algn="ctr">
                      <a:solidFill>
                        <a:srgbClr val="24376B"/>
                      </a:solidFill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200">
                          <a:solidFill>
                            <a:schemeClr val="bg1"/>
                          </a:solidFill>
                          <a:latin typeface="Calibri"/>
                          <a:ea typeface="Calibri"/>
                          <a:cs typeface="Calibri"/>
                        </a:rPr>
                        <a:t>48×48×1</a:t>
                      </a:r>
                      <a:endParaRPr lang="en-US"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137160" marR="137160" marT="27432" marB="27432" anchor="ctr">
                    <a:lnL w="9525" algn="ctr">
                      <a:solidFill>
                        <a:srgbClr val="24376B"/>
                      </a:solidFill>
                    </a:lnL>
                    <a:lnR w="9525" algn="ctr">
                      <a:solidFill>
                        <a:srgbClr val="24376B"/>
                      </a:solidFill>
                    </a:lnR>
                    <a:lnT w="9525" algn="ctr">
                      <a:solidFill>
                        <a:srgbClr val="24376B"/>
                      </a:solidFill>
                    </a:lnT>
                    <a:lnB w="9525" algn="ctr">
                      <a:solidFill>
                        <a:srgbClr val="24376B"/>
                      </a:solidFill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  <a:defRPr/>
                      </a:pPr>
                      <a:r>
                        <a:rPr lang="en-US" sz="1200">
                          <a:solidFill>
                            <a:schemeClr val="bg1"/>
                          </a:solidFill>
                          <a:latin typeface="Calibri"/>
                          <a:ea typeface="Calibri"/>
                          <a:cs typeface="Calibri"/>
                        </a:rPr>
                        <a:t>0</a:t>
                      </a:r>
                      <a:endParaRPr lang="en-US"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137160" marR="137160" marT="27432" marB="27432" anchor="ctr">
                    <a:lnL w="9525" algn="ctr">
                      <a:solidFill>
                        <a:srgbClr val="24376B"/>
                      </a:solidFill>
                    </a:lnL>
                    <a:lnR w="9525" algn="ctr">
                      <a:solidFill>
                        <a:srgbClr val="24376B"/>
                      </a:solidFill>
                    </a:lnR>
                    <a:lnT w="9525" algn="ctr">
                      <a:solidFill>
                        <a:srgbClr val="24376B"/>
                      </a:solidFill>
                    </a:lnT>
                    <a:lnB w="9525" algn="ctr">
                      <a:solidFill>
                        <a:srgbClr val="24376B"/>
                      </a:solidFill>
                    </a:lnB>
                    <a:solidFill>
                      <a:schemeClr val="tx2"/>
                    </a:solidFill>
                  </a:tcPr>
                </a:tc>
              </a:tr>
              <a:tr h="320040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200">
                          <a:solidFill>
                            <a:schemeClr val="bg1"/>
                          </a:solidFill>
                          <a:latin typeface="Calibri"/>
                          <a:ea typeface="Calibri"/>
                          <a:cs typeface="Calibri"/>
                        </a:rPr>
                        <a:t>Conv2D — 32</a:t>
                      </a:r>
                      <a:endParaRPr lang="en-US"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137160" marR="137160" marT="27432" marB="27432" anchor="ctr">
                    <a:lnL w="9525" algn="ctr">
                      <a:solidFill>
                        <a:srgbClr val="24376B"/>
                      </a:solidFill>
                    </a:lnL>
                    <a:lnR w="9525" algn="ctr">
                      <a:solidFill>
                        <a:srgbClr val="24376B"/>
                      </a:solidFill>
                    </a:lnR>
                    <a:lnT w="9525" algn="ctr">
                      <a:solidFill>
                        <a:srgbClr val="24376B"/>
                      </a:solidFill>
                    </a:lnT>
                    <a:lnB w="9525" algn="ctr">
                      <a:solidFill>
                        <a:srgbClr val="24376B"/>
                      </a:solidFill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200">
                          <a:solidFill>
                            <a:schemeClr val="bg1"/>
                          </a:solidFill>
                          <a:latin typeface="Calibri"/>
                          <a:ea typeface="Calibri"/>
                          <a:cs typeface="Calibri"/>
                        </a:rPr>
                        <a:t>48×48×32</a:t>
                      </a:r>
                      <a:endParaRPr lang="en-US"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137160" marR="137160" marT="27432" marB="27432" anchor="ctr">
                    <a:lnL w="9525" algn="ctr">
                      <a:solidFill>
                        <a:srgbClr val="24376B"/>
                      </a:solidFill>
                    </a:lnL>
                    <a:lnR w="9525" algn="ctr">
                      <a:solidFill>
                        <a:srgbClr val="24376B"/>
                      </a:solidFill>
                    </a:lnR>
                    <a:lnT w="9525" algn="ctr">
                      <a:solidFill>
                        <a:srgbClr val="24376B"/>
                      </a:solidFill>
                    </a:lnT>
                    <a:lnB w="9525" algn="ctr">
                      <a:solidFill>
                        <a:srgbClr val="24376B"/>
                      </a:solidFill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  <a:defRPr/>
                      </a:pPr>
                      <a:r>
                        <a:rPr lang="en-US" sz="1200">
                          <a:solidFill>
                            <a:schemeClr val="bg1"/>
                          </a:solidFill>
                          <a:latin typeface="Calibri"/>
                          <a:ea typeface="Calibri"/>
                          <a:cs typeface="Calibri"/>
                        </a:rPr>
                        <a:t>320</a:t>
                      </a:r>
                      <a:endParaRPr lang="en-US"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137160" marR="137160" marT="27432" marB="27432" anchor="ctr">
                    <a:lnL w="9525" algn="ctr">
                      <a:solidFill>
                        <a:srgbClr val="24376B"/>
                      </a:solidFill>
                    </a:lnL>
                    <a:lnR w="9525" algn="ctr">
                      <a:solidFill>
                        <a:srgbClr val="24376B"/>
                      </a:solidFill>
                    </a:lnR>
                    <a:lnT w="9525" algn="ctr">
                      <a:solidFill>
                        <a:srgbClr val="24376B"/>
                      </a:solidFill>
                    </a:lnT>
                    <a:lnB w="9525" algn="ctr">
                      <a:solidFill>
                        <a:srgbClr val="24376B"/>
                      </a:solidFill>
                    </a:lnB>
                    <a:solidFill>
                      <a:schemeClr val="tx2"/>
                    </a:solidFill>
                  </a:tcPr>
                </a:tc>
              </a:tr>
              <a:tr h="320040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200">
                          <a:solidFill>
                            <a:schemeClr val="bg1"/>
                          </a:solidFill>
                          <a:latin typeface="Calibri"/>
                          <a:ea typeface="Calibri"/>
                          <a:cs typeface="Calibri"/>
                        </a:rPr>
                        <a:t>MaxPooling2D</a:t>
                      </a:r>
                      <a:endParaRPr lang="en-US"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137160" marR="137160" marT="27432" marB="27432" anchor="ctr">
                    <a:lnL w="9525" algn="ctr">
                      <a:solidFill>
                        <a:srgbClr val="24376B"/>
                      </a:solidFill>
                    </a:lnL>
                    <a:lnR w="9525" algn="ctr">
                      <a:solidFill>
                        <a:srgbClr val="24376B"/>
                      </a:solidFill>
                    </a:lnR>
                    <a:lnT w="9525" algn="ctr">
                      <a:solidFill>
                        <a:srgbClr val="24376B"/>
                      </a:solidFill>
                    </a:lnT>
                    <a:lnB w="9525" algn="ctr">
                      <a:solidFill>
                        <a:srgbClr val="24376B"/>
                      </a:solidFill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200">
                          <a:solidFill>
                            <a:schemeClr val="bg1"/>
                          </a:solidFill>
                          <a:latin typeface="Calibri"/>
                          <a:ea typeface="Calibri"/>
                          <a:cs typeface="Calibri"/>
                        </a:rPr>
                        <a:t>24×24×32</a:t>
                      </a:r>
                      <a:endParaRPr lang="en-US"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137160" marR="137160" marT="27432" marB="27432" anchor="ctr">
                    <a:lnL w="9525" algn="ctr">
                      <a:solidFill>
                        <a:srgbClr val="24376B"/>
                      </a:solidFill>
                    </a:lnL>
                    <a:lnR w="9525" algn="ctr">
                      <a:solidFill>
                        <a:srgbClr val="24376B"/>
                      </a:solidFill>
                    </a:lnR>
                    <a:lnT w="9525" algn="ctr">
                      <a:solidFill>
                        <a:srgbClr val="24376B"/>
                      </a:solidFill>
                    </a:lnT>
                    <a:lnB w="9525" algn="ctr">
                      <a:solidFill>
                        <a:srgbClr val="24376B"/>
                      </a:solidFill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  <a:defRPr/>
                      </a:pPr>
                      <a:r>
                        <a:rPr lang="en-US" sz="1200">
                          <a:solidFill>
                            <a:schemeClr val="bg1"/>
                          </a:solidFill>
                          <a:latin typeface="Calibri"/>
                          <a:ea typeface="Calibri"/>
                          <a:cs typeface="Calibri"/>
                        </a:rPr>
                        <a:t>0</a:t>
                      </a:r>
                      <a:endParaRPr lang="en-US"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137160" marR="137160" marT="27432" marB="27432" anchor="ctr">
                    <a:lnL w="9525" algn="ctr">
                      <a:solidFill>
                        <a:srgbClr val="24376B"/>
                      </a:solidFill>
                    </a:lnL>
                    <a:lnR w="9525" algn="ctr">
                      <a:solidFill>
                        <a:srgbClr val="24376B"/>
                      </a:solidFill>
                    </a:lnR>
                    <a:lnT w="9525" algn="ctr">
                      <a:solidFill>
                        <a:srgbClr val="24376B"/>
                      </a:solidFill>
                    </a:lnT>
                    <a:lnB w="9525" algn="ctr">
                      <a:solidFill>
                        <a:srgbClr val="24376B"/>
                      </a:solidFill>
                    </a:lnB>
                    <a:solidFill>
                      <a:schemeClr val="tx2"/>
                    </a:solidFill>
                  </a:tcPr>
                </a:tc>
              </a:tr>
              <a:tr h="320040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200">
                          <a:solidFill>
                            <a:schemeClr val="bg1"/>
                          </a:solidFill>
                          <a:latin typeface="Calibri"/>
                          <a:ea typeface="Calibri"/>
                          <a:cs typeface="Calibri"/>
                        </a:rPr>
                        <a:t>Conv2D — 64</a:t>
                      </a:r>
                      <a:endParaRPr lang="en-US"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137160" marR="137160" marT="27432" marB="27432" anchor="ctr">
                    <a:lnL w="9525" algn="ctr">
                      <a:solidFill>
                        <a:srgbClr val="24376B"/>
                      </a:solidFill>
                    </a:lnL>
                    <a:lnR w="9525" algn="ctr">
                      <a:solidFill>
                        <a:srgbClr val="24376B"/>
                      </a:solidFill>
                    </a:lnR>
                    <a:lnT w="9525" algn="ctr">
                      <a:solidFill>
                        <a:srgbClr val="24376B"/>
                      </a:solidFill>
                    </a:lnT>
                    <a:lnB w="9525" algn="ctr">
                      <a:solidFill>
                        <a:srgbClr val="24376B"/>
                      </a:solidFill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200">
                          <a:solidFill>
                            <a:schemeClr val="bg1"/>
                          </a:solidFill>
                          <a:latin typeface="Calibri"/>
                          <a:ea typeface="Calibri"/>
                          <a:cs typeface="Calibri"/>
                        </a:rPr>
                        <a:t>24×24×64</a:t>
                      </a:r>
                      <a:endParaRPr lang="en-US"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137160" marR="137160" marT="27432" marB="27432" anchor="ctr">
                    <a:lnL w="9525" algn="ctr">
                      <a:solidFill>
                        <a:srgbClr val="24376B"/>
                      </a:solidFill>
                    </a:lnL>
                    <a:lnR w="9525" algn="ctr">
                      <a:solidFill>
                        <a:srgbClr val="24376B"/>
                      </a:solidFill>
                    </a:lnR>
                    <a:lnT w="9525" algn="ctr">
                      <a:solidFill>
                        <a:srgbClr val="24376B"/>
                      </a:solidFill>
                    </a:lnT>
                    <a:lnB w="9525" algn="ctr">
                      <a:solidFill>
                        <a:srgbClr val="24376B"/>
                      </a:solidFill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  <a:defRPr/>
                      </a:pPr>
                      <a:r>
                        <a:rPr lang="en-US" sz="1200">
                          <a:solidFill>
                            <a:schemeClr val="bg1"/>
                          </a:solidFill>
                          <a:latin typeface="Calibri"/>
                          <a:ea typeface="Calibri"/>
                          <a:cs typeface="Calibri"/>
                        </a:rPr>
                        <a:t>18 496</a:t>
                      </a:r>
                      <a:endParaRPr lang="en-US"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137160" marR="137160" marT="27432" marB="27432" anchor="ctr">
                    <a:lnL w="9525" algn="ctr">
                      <a:solidFill>
                        <a:srgbClr val="24376B"/>
                      </a:solidFill>
                    </a:lnL>
                    <a:lnR w="9525" algn="ctr">
                      <a:solidFill>
                        <a:srgbClr val="24376B"/>
                      </a:solidFill>
                    </a:lnR>
                    <a:lnT w="9525" algn="ctr">
                      <a:solidFill>
                        <a:srgbClr val="24376B"/>
                      </a:solidFill>
                    </a:lnT>
                    <a:lnB w="9525" algn="ctr">
                      <a:solidFill>
                        <a:srgbClr val="24376B"/>
                      </a:solidFill>
                    </a:lnB>
                    <a:solidFill>
                      <a:schemeClr val="tx2"/>
                    </a:solidFill>
                  </a:tcPr>
                </a:tc>
              </a:tr>
              <a:tr h="320040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200">
                          <a:solidFill>
                            <a:schemeClr val="bg1"/>
                          </a:solidFill>
                          <a:latin typeface="Calibri"/>
                          <a:ea typeface="Calibri"/>
                          <a:cs typeface="Calibri"/>
                        </a:rPr>
                        <a:t>MaxPooling2D</a:t>
                      </a:r>
                      <a:endParaRPr lang="en-US"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137160" marR="137160" marT="27432" marB="27432" anchor="ctr">
                    <a:lnL w="9525" algn="ctr">
                      <a:solidFill>
                        <a:srgbClr val="24376B"/>
                      </a:solidFill>
                    </a:lnL>
                    <a:lnR w="9525" algn="ctr">
                      <a:solidFill>
                        <a:srgbClr val="24376B"/>
                      </a:solidFill>
                    </a:lnR>
                    <a:lnT w="9525" algn="ctr">
                      <a:solidFill>
                        <a:srgbClr val="24376B"/>
                      </a:solidFill>
                    </a:lnT>
                    <a:lnB w="9525" algn="ctr">
                      <a:solidFill>
                        <a:srgbClr val="24376B"/>
                      </a:solidFill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200">
                          <a:solidFill>
                            <a:schemeClr val="bg1"/>
                          </a:solidFill>
                          <a:latin typeface="Calibri"/>
                          <a:ea typeface="Calibri"/>
                          <a:cs typeface="Calibri"/>
                        </a:rPr>
                        <a:t>12×12×64</a:t>
                      </a:r>
                      <a:endParaRPr lang="en-US"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137160" marR="137160" marT="27432" marB="27432" anchor="ctr">
                    <a:lnL w="9525" algn="ctr">
                      <a:solidFill>
                        <a:srgbClr val="24376B"/>
                      </a:solidFill>
                    </a:lnL>
                    <a:lnR w="9525" algn="ctr">
                      <a:solidFill>
                        <a:srgbClr val="24376B"/>
                      </a:solidFill>
                    </a:lnR>
                    <a:lnT w="9525" algn="ctr">
                      <a:solidFill>
                        <a:srgbClr val="24376B"/>
                      </a:solidFill>
                    </a:lnT>
                    <a:lnB w="9525" algn="ctr">
                      <a:solidFill>
                        <a:srgbClr val="24376B"/>
                      </a:solidFill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  <a:defRPr/>
                      </a:pPr>
                      <a:r>
                        <a:rPr lang="en-US" sz="1200">
                          <a:solidFill>
                            <a:schemeClr val="bg1"/>
                          </a:solidFill>
                          <a:latin typeface="Calibri"/>
                          <a:ea typeface="Calibri"/>
                          <a:cs typeface="Calibri"/>
                        </a:rPr>
                        <a:t>0</a:t>
                      </a:r>
                      <a:endParaRPr lang="en-US"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137160" marR="137160" marT="27432" marB="27432" anchor="ctr">
                    <a:lnL w="9525" algn="ctr">
                      <a:solidFill>
                        <a:srgbClr val="24376B"/>
                      </a:solidFill>
                    </a:lnL>
                    <a:lnR w="9525" algn="ctr">
                      <a:solidFill>
                        <a:srgbClr val="24376B"/>
                      </a:solidFill>
                    </a:lnR>
                    <a:lnT w="9525" algn="ctr">
                      <a:solidFill>
                        <a:srgbClr val="24376B"/>
                      </a:solidFill>
                    </a:lnT>
                    <a:lnB w="9525" algn="ctr">
                      <a:solidFill>
                        <a:srgbClr val="24376B"/>
                      </a:solidFill>
                    </a:lnB>
                    <a:solidFill>
                      <a:schemeClr val="tx2"/>
                    </a:solidFill>
                  </a:tcPr>
                </a:tc>
              </a:tr>
              <a:tr h="320040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200">
                          <a:solidFill>
                            <a:schemeClr val="bg1"/>
                          </a:solidFill>
                          <a:latin typeface="Calibri"/>
                          <a:ea typeface="Calibri"/>
                          <a:cs typeface="Calibri"/>
                        </a:rPr>
                        <a:t>Conv2D — 128</a:t>
                      </a:r>
                      <a:endParaRPr lang="en-US"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137160" marR="137160" marT="27432" marB="27432" anchor="ctr">
                    <a:lnL w="9525" algn="ctr">
                      <a:solidFill>
                        <a:srgbClr val="24376B"/>
                      </a:solidFill>
                    </a:lnL>
                    <a:lnR w="9525" algn="ctr">
                      <a:solidFill>
                        <a:srgbClr val="24376B"/>
                      </a:solidFill>
                    </a:lnR>
                    <a:lnT w="9525" algn="ctr">
                      <a:solidFill>
                        <a:srgbClr val="24376B"/>
                      </a:solidFill>
                    </a:lnT>
                    <a:lnB w="9525" algn="ctr">
                      <a:solidFill>
                        <a:srgbClr val="24376B"/>
                      </a:solidFill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200">
                          <a:solidFill>
                            <a:schemeClr val="bg1"/>
                          </a:solidFill>
                          <a:latin typeface="Calibri"/>
                          <a:ea typeface="Calibri"/>
                          <a:cs typeface="Calibri"/>
                        </a:rPr>
                        <a:t>12×12×128</a:t>
                      </a:r>
                      <a:endParaRPr lang="en-US"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137160" marR="137160" marT="27432" marB="27432" anchor="ctr">
                    <a:lnL w="9525" algn="ctr">
                      <a:solidFill>
                        <a:srgbClr val="24376B"/>
                      </a:solidFill>
                    </a:lnL>
                    <a:lnR w="9525" algn="ctr">
                      <a:solidFill>
                        <a:srgbClr val="24376B"/>
                      </a:solidFill>
                    </a:lnR>
                    <a:lnT w="9525" algn="ctr">
                      <a:solidFill>
                        <a:srgbClr val="24376B"/>
                      </a:solidFill>
                    </a:lnT>
                    <a:lnB w="9525" algn="ctr">
                      <a:solidFill>
                        <a:srgbClr val="24376B"/>
                      </a:solidFill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  <a:defRPr/>
                      </a:pPr>
                      <a:r>
                        <a:rPr lang="en-US" sz="1200">
                          <a:solidFill>
                            <a:schemeClr val="bg1"/>
                          </a:solidFill>
                          <a:latin typeface="Calibri"/>
                          <a:ea typeface="Calibri"/>
                          <a:cs typeface="Calibri"/>
                        </a:rPr>
                        <a:t>73 856</a:t>
                      </a:r>
                      <a:endParaRPr lang="en-US"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137160" marR="137160" marT="27432" marB="27432" anchor="ctr">
                    <a:lnL w="9525" algn="ctr">
                      <a:solidFill>
                        <a:srgbClr val="24376B"/>
                      </a:solidFill>
                    </a:lnL>
                    <a:lnR w="9525" algn="ctr">
                      <a:solidFill>
                        <a:srgbClr val="24376B"/>
                      </a:solidFill>
                    </a:lnR>
                    <a:lnT w="9525" algn="ctr">
                      <a:solidFill>
                        <a:srgbClr val="24376B"/>
                      </a:solidFill>
                    </a:lnT>
                    <a:lnB w="9525" algn="ctr">
                      <a:solidFill>
                        <a:srgbClr val="24376B"/>
                      </a:solidFill>
                    </a:lnB>
                    <a:solidFill>
                      <a:schemeClr val="tx2"/>
                    </a:solidFill>
                  </a:tcPr>
                </a:tc>
              </a:tr>
              <a:tr h="320040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200">
                          <a:solidFill>
                            <a:schemeClr val="bg1"/>
                          </a:solidFill>
                          <a:latin typeface="Calibri"/>
                          <a:ea typeface="Calibri"/>
                          <a:cs typeface="Calibri"/>
                        </a:rPr>
                        <a:t>MaxPooling2D</a:t>
                      </a:r>
                      <a:endParaRPr lang="en-US"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137160" marR="137160" marT="27432" marB="27432" anchor="ctr">
                    <a:lnL w="9525" algn="ctr">
                      <a:solidFill>
                        <a:srgbClr val="24376B"/>
                      </a:solidFill>
                    </a:lnL>
                    <a:lnR w="9525" algn="ctr">
                      <a:solidFill>
                        <a:srgbClr val="24376B"/>
                      </a:solidFill>
                    </a:lnR>
                    <a:lnT w="9525" algn="ctr">
                      <a:solidFill>
                        <a:srgbClr val="24376B"/>
                      </a:solidFill>
                    </a:lnT>
                    <a:lnB w="9525" algn="ctr">
                      <a:solidFill>
                        <a:srgbClr val="24376B"/>
                      </a:solidFill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200">
                          <a:solidFill>
                            <a:schemeClr val="bg1"/>
                          </a:solidFill>
                          <a:latin typeface="Calibri"/>
                          <a:ea typeface="Calibri"/>
                          <a:cs typeface="Calibri"/>
                        </a:rPr>
                        <a:t>6×6×128</a:t>
                      </a:r>
                      <a:endParaRPr lang="en-US"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137160" marR="137160" marT="27432" marB="27432" anchor="ctr">
                    <a:lnL w="9525" algn="ctr">
                      <a:solidFill>
                        <a:srgbClr val="24376B"/>
                      </a:solidFill>
                    </a:lnL>
                    <a:lnR w="9525" algn="ctr">
                      <a:solidFill>
                        <a:srgbClr val="24376B"/>
                      </a:solidFill>
                    </a:lnR>
                    <a:lnT w="9525" algn="ctr">
                      <a:solidFill>
                        <a:srgbClr val="24376B"/>
                      </a:solidFill>
                    </a:lnT>
                    <a:lnB w="9525" algn="ctr">
                      <a:solidFill>
                        <a:srgbClr val="24376B"/>
                      </a:solidFill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  <a:defRPr/>
                      </a:pPr>
                      <a:r>
                        <a:rPr lang="en-US" sz="1200">
                          <a:solidFill>
                            <a:schemeClr val="bg1"/>
                          </a:solidFill>
                          <a:latin typeface="Calibri"/>
                          <a:ea typeface="Calibri"/>
                          <a:cs typeface="Calibri"/>
                        </a:rPr>
                        <a:t>0</a:t>
                      </a:r>
                      <a:endParaRPr lang="en-US"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137160" marR="137160" marT="27432" marB="27432" anchor="ctr">
                    <a:lnL w="9525" algn="ctr">
                      <a:solidFill>
                        <a:srgbClr val="24376B"/>
                      </a:solidFill>
                    </a:lnL>
                    <a:lnR w="9525" algn="ctr">
                      <a:solidFill>
                        <a:srgbClr val="24376B"/>
                      </a:solidFill>
                    </a:lnR>
                    <a:lnT w="9525" algn="ctr">
                      <a:solidFill>
                        <a:srgbClr val="24376B"/>
                      </a:solidFill>
                    </a:lnT>
                    <a:lnB w="9525" algn="ctr">
                      <a:solidFill>
                        <a:srgbClr val="24376B"/>
                      </a:solidFill>
                    </a:lnB>
                    <a:solidFill>
                      <a:schemeClr val="tx2"/>
                    </a:solidFill>
                  </a:tcPr>
                </a:tc>
              </a:tr>
              <a:tr h="320040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200">
                          <a:solidFill>
                            <a:schemeClr val="bg1"/>
                          </a:solidFill>
                          <a:latin typeface="Calibri"/>
                          <a:ea typeface="Calibri"/>
                          <a:cs typeface="Calibri"/>
                        </a:rPr>
                        <a:t>Flatten</a:t>
                      </a:r>
                      <a:endParaRPr lang="en-US"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137160" marR="137160" marT="27432" marB="27432" anchor="ctr">
                    <a:lnL w="9525" algn="ctr">
                      <a:solidFill>
                        <a:srgbClr val="24376B"/>
                      </a:solidFill>
                    </a:lnL>
                    <a:lnR w="9525" algn="ctr">
                      <a:solidFill>
                        <a:srgbClr val="24376B"/>
                      </a:solidFill>
                    </a:lnR>
                    <a:lnT w="9525" algn="ctr">
                      <a:solidFill>
                        <a:srgbClr val="24376B"/>
                      </a:solidFill>
                    </a:lnT>
                    <a:lnB w="9525" algn="ctr">
                      <a:solidFill>
                        <a:srgbClr val="24376B"/>
                      </a:solidFill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200">
                          <a:solidFill>
                            <a:schemeClr val="bg1"/>
                          </a:solidFill>
                          <a:latin typeface="Calibri"/>
                          <a:ea typeface="Calibri"/>
                          <a:cs typeface="Calibri"/>
                        </a:rPr>
                        <a:t>4 608</a:t>
                      </a:r>
                      <a:endParaRPr lang="en-US"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137160" marR="137160" marT="27432" marB="27432" anchor="ctr">
                    <a:lnL w="9525" algn="ctr">
                      <a:solidFill>
                        <a:srgbClr val="24376B"/>
                      </a:solidFill>
                    </a:lnL>
                    <a:lnR w="9525" algn="ctr">
                      <a:solidFill>
                        <a:srgbClr val="24376B"/>
                      </a:solidFill>
                    </a:lnR>
                    <a:lnT w="9525" algn="ctr">
                      <a:solidFill>
                        <a:srgbClr val="24376B"/>
                      </a:solidFill>
                    </a:lnT>
                    <a:lnB w="9525" algn="ctr">
                      <a:solidFill>
                        <a:srgbClr val="24376B"/>
                      </a:solidFill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  <a:defRPr/>
                      </a:pPr>
                      <a:r>
                        <a:rPr lang="en-US" sz="1200">
                          <a:solidFill>
                            <a:schemeClr val="bg1"/>
                          </a:solidFill>
                          <a:latin typeface="Calibri"/>
                          <a:ea typeface="Calibri"/>
                          <a:cs typeface="Calibri"/>
                        </a:rPr>
                        <a:t>0</a:t>
                      </a:r>
                      <a:endParaRPr lang="en-US"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137160" marR="137160" marT="27432" marB="27432" anchor="ctr">
                    <a:lnL w="9525" algn="ctr">
                      <a:solidFill>
                        <a:srgbClr val="24376B"/>
                      </a:solidFill>
                    </a:lnL>
                    <a:lnR w="9525" algn="ctr">
                      <a:solidFill>
                        <a:srgbClr val="24376B"/>
                      </a:solidFill>
                    </a:lnR>
                    <a:lnT w="9525" algn="ctr">
                      <a:solidFill>
                        <a:srgbClr val="24376B"/>
                      </a:solidFill>
                    </a:lnT>
                    <a:lnB w="9525" algn="ctr">
                      <a:solidFill>
                        <a:srgbClr val="24376B"/>
                      </a:solidFill>
                    </a:lnB>
                    <a:solidFill>
                      <a:schemeClr val="tx2"/>
                    </a:solidFill>
                  </a:tcPr>
                </a:tc>
              </a:tr>
              <a:tr h="320040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200" b="1">
                          <a:solidFill>
                            <a:schemeClr val="accent4"/>
                          </a:solidFill>
                          <a:latin typeface="Calibri"/>
                          <a:ea typeface="Calibri"/>
                          <a:cs typeface="Calibri"/>
                        </a:rPr>
                        <a:t>Dense — 128</a:t>
                      </a:r>
                      <a:endParaRPr lang="en-US"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137160" marR="137160" marT="27432" marB="27432" anchor="ctr">
                    <a:lnL w="9525" algn="ctr">
                      <a:solidFill>
                        <a:srgbClr val="24376B"/>
                      </a:solidFill>
                    </a:lnL>
                    <a:lnR w="9525" algn="ctr">
                      <a:solidFill>
                        <a:srgbClr val="24376B"/>
                      </a:solidFill>
                    </a:lnR>
                    <a:lnT w="9525" algn="ctr">
                      <a:solidFill>
                        <a:srgbClr val="24376B"/>
                      </a:solidFill>
                    </a:lnT>
                    <a:lnB w="9525" algn="ctr">
                      <a:solidFill>
                        <a:srgbClr val="24376B"/>
                      </a:solidFill>
                    </a:lnB>
                    <a:solidFill>
                      <a:srgbClr val="3A2A0E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200" b="1">
                          <a:solidFill>
                            <a:schemeClr val="accent4"/>
                          </a:solidFill>
                          <a:latin typeface="Calibri"/>
                          <a:ea typeface="Calibri"/>
                          <a:cs typeface="Calibri"/>
                        </a:rPr>
                        <a:t>128</a:t>
                      </a:r>
                      <a:endParaRPr lang="en-US"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137160" marR="137160" marT="27432" marB="27432" anchor="ctr">
                    <a:lnL w="9525" algn="ctr">
                      <a:solidFill>
                        <a:srgbClr val="24376B"/>
                      </a:solidFill>
                    </a:lnL>
                    <a:lnR w="9525" algn="ctr">
                      <a:solidFill>
                        <a:srgbClr val="24376B"/>
                      </a:solidFill>
                    </a:lnR>
                    <a:lnT w="9525" algn="ctr">
                      <a:solidFill>
                        <a:srgbClr val="24376B"/>
                      </a:solidFill>
                    </a:lnT>
                    <a:lnB w="9525" algn="ctr">
                      <a:solidFill>
                        <a:srgbClr val="24376B"/>
                      </a:solidFill>
                    </a:lnB>
                    <a:solidFill>
                      <a:srgbClr val="3A2A0E"/>
                    </a:solidFill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  <a:defRPr/>
                      </a:pPr>
                      <a:r>
                        <a:rPr lang="en-US" sz="1200" b="1">
                          <a:solidFill>
                            <a:schemeClr val="accent4"/>
                          </a:solidFill>
                          <a:latin typeface="Calibri"/>
                          <a:ea typeface="Calibri"/>
                          <a:cs typeface="Calibri"/>
                        </a:rPr>
                        <a:t>589 952</a:t>
                      </a:r>
                      <a:endParaRPr lang="en-US"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137160" marR="137160" marT="27432" marB="27432" anchor="ctr">
                    <a:lnL w="9525" algn="ctr">
                      <a:solidFill>
                        <a:srgbClr val="24376B"/>
                      </a:solidFill>
                    </a:lnL>
                    <a:lnR w="9525" algn="ctr">
                      <a:solidFill>
                        <a:srgbClr val="24376B"/>
                      </a:solidFill>
                    </a:lnR>
                    <a:lnT w="9525" algn="ctr">
                      <a:solidFill>
                        <a:srgbClr val="24376B"/>
                      </a:solidFill>
                    </a:lnT>
                    <a:lnB w="9525" algn="ctr">
                      <a:solidFill>
                        <a:srgbClr val="24376B"/>
                      </a:solidFill>
                    </a:lnB>
                    <a:solidFill>
                      <a:srgbClr val="3A2A0E"/>
                    </a:solidFill>
                  </a:tcPr>
                </a:tc>
              </a:tr>
              <a:tr h="320040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200">
                          <a:solidFill>
                            <a:schemeClr val="bg1"/>
                          </a:solidFill>
                          <a:latin typeface="Calibri"/>
                          <a:ea typeface="Calibri"/>
                          <a:cs typeface="Calibri"/>
                        </a:rPr>
                        <a:t>Dropout — 0,30</a:t>
                      </a:r>
                      <a:endParaRPr lang="en-US"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137160" marR="137160" marT="27432" marB="27432" anchor="ctr">
                    <a:lnL w="9525" algn="ctr">
                      <a:solidFill>
                        <a:srgbClr val="24376B"/>
                      </a:solidFill>
                    </a:lnL>
                    <a:lnR w="9525" algn="ctr">
                      <a:solidFill>
                        <a:srgbClr val="24376B"/>
                      </a:solidFill>
                    </a:lnR>
                    <a:lnT w="9525" algn="ctr">
                      <a:solidFill>
                        <a:srgbClr val="24376B"/>
                      </a:solidFill>
                    </a:lnT>
                    <a:lnB w="9525" algn="ctr">
                      <a:solidFill>
                        <a:srgbClr val="24376B"/>
                      </a:solidFill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200">
                          <a:solidFill>
                            <a:schemeClr val="bg1"/>
                          </a:solidFill>
                          <a:latin typeface="Calibri"/>
                          <a:ea typeface="Calibri"/>
                          <a:cs typeface="Calibri"/>
                        </a:rPr>
                        <a:t>128</a:t>
                      </a:r>
                      <a:endParaRPr lang="en-US"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137160" marR="137160" marT="27432" marB="27432" anchor="ctr">
                    <a:lnL w="9525" algn="ctr">
                      <a:solidFill>
                        <a:srgbClr val="24376B"/>
                      </a:solidFill>
                    </a:lnL>
                    <a:lnR w="9525" algn="ctr">
                      <a:solidFill>
                        <a:srgbClr val="24376B"/>
                      </a:solidFill>
                    </a:lnR>
                    <a:lnT w="9525" algn="ctr">
                      <a:solidFill>
                        <a:srgbClr val="24376B"/>
                      </a:solidFill>
                    </a:lnT>
                    <a:lnB w="9525" algn="ctr">
                      <a:solidFill>
                        <a:srgbClr val="24376B"/>
                      </a:solidFill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  <a:defRPr/>
                      </a:pPr>
                      <a:r>
                        <a:rPr lang="en-US" sz="1200">
                          <a:solidFill>
                            <a:schemeClr val="bg1"/>
                          </a:solidFill>
                          <a:latin typeface="Calibri"/>
                          <a:ea typeface="Calibri"/>
                          <a:cs typeface="Calibri"/>
                        </a:rPr>
                        <a:t>0</a:t>
                      </a:r>
                      <a:endParaRPr lang="en-US"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137160" marR="137160" marT="27432" marB="27432" anchor="ctr">
                    <a:lnL w="9525" algn="ctr">
                      <a:solidFill>
                        <a:srgbClr val="24376B"/>
                      </a:solidFill>
                    </a:lnL>
                    <a:lnR w="9525" algn="ctr">
                      <a:solidFill>
                        <a:srgbClr val="24376B"/>
                      </a:solidFill>
                    </a:lnR>
                    <a:lnT w="9525" algn="ctr">
                      <a:solidFill>
                        <a:srgbClr val="24376B"/>
                      </a:solidFill>
                    </a:lnT>
                    <a:lnB w="9525" algn="ctr">
                      <a:solidFill>
                        <a:srgbClr val="24376B"/>
                      </a:solidFill>
                    </a:lnB>
                    <a:solidFill>
                      <a:schemeClr val="tx2"/>
                    </a:solidFill>
                  </a:tcPr>
                </a:tc>
              </a:tr>
              <a:tr h="320040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200">
                          <a:solidFill>
                            <a:schemeClr val="bg1"/>
                          </a:solidFill>
                          <a:latin typeface="Calibri"/>
                          <a:ea typeface="Calibri"/>
                          <a:cs typeface="Calibri"/>
                        </a:rPr>
                        <a:t>Dense — 7 / Softmax</a:t>
                      </a:r>
                      <a:endParaRPr lang="en-US"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137160" marR="137160" marT="27432" marB="27432" anchor="ctr">
                    <a:lnL w="9525" algn="ctr">
                      <a:solidFill>
                        <a:srgbClr val="24376B"/>
                      </a:solidFill>
                    </a:lnL>
                    <a:lnR w="9525" algn="ctr">
                      <a:solidFill>
                        <a:srgbClr val="24376B"/>
                      </a:solidFill>
                    </a:lnR>
                    <a:lnT w="9525" algn="ctr">
                      <a:solidFill>
                        <a:srgbClr val="24376B"/>
                      </a:solidFill>
                    </a:lnT>
                    <a:lnB w="9525" algn="ctr">
                      <a:solidFill>
                        <a:srgbClr val="24376B"/>
                      </a:solidFill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200">
                          <a:solidFill>
                            <a:schemeClr val="bg1"/>
                          </a:solidFill>
                          <a:latin typeface="Calibri"/>
                          <a:ea typeface="Calibri"/>
                          <a:cs typeface="Calibri"/>
                        </a:rPr>
                        <a:t>7</a:t>
                      </a:r>
                      <a:endParaRPr lang="en-US"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137160" marR="137160" marT="27432" marB="27432" anchor="ctr">
                    <a:lnL w="9525" algn="ctr">
                      <a:solidFill>
                        <a:srgbClr val="24376B"/>
                      </a:solidFill>
                    </a:lnL>
                    <a:lnR w="9525" algn="ctr">
                      <a:solidFill>
                        <a:srgbClr val="24376B"/>
                      </a:solidFill>
                    </a:lnR>
                    <a:lnT w="9525" algn="ctr">
                      <a:solidFill>
                        <a:srgbClr val="24376B"/>
                      </a:solidFill>
                    </a:lnT>
                    <a:lnB w="9525" algn="ctr">
                      <a:solidFill>
                        <a:srgbClr val="24376B"/>
                      </a:solidFill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  <a:defRPr/>
                      </a:pPr>
                      <a:r>
                        <a:rPr lang="en-US" sz="1200">
                          <a:solidFill>
                            <a:schemeClr val="bg1"/>
                          </a:solidFill>
                          <a:latin typeface="Calibri"/>
                          <a:ea typeface="Calibri"/>
                          <a:cs typeface="Calibri"/>
                        </a:rPr>
                        <a:t>903</a:t>
                      </a:r>
                      <a:endParaRPr lang="en-US"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137160" marR="137160" marT="27432" marB="27432" anchor="ctr">
                    <a:lnL w="9525" algn="ctr">
                      <a:solidFill>
                        <a:srgbClr val="24376B"/>
                      </a:solidFill>
                    </a:lnL>
                    <a:lnR w="9525" algn="ctr">
                      <a:solidFill>
                        <a:srgbClr val="24376B"/>
                      </a:solidFill>
                    </a:lnR>
                    <a:lnT w="9525" algn="ctr">
                      <a:solidFill>
                        <a:srgbClr val="24376B"/>
                      </a:solidFill>
                    </a:lnT>
                    <a:lnB w="9525" algn="ctr">
                      <a:solidFill>
                        <a:srgbClr val="24376B"/>
                      </a:solidFill>
                    </a:lnB>
                    <a:solidFill>
                      <a:schemeClr val="tx2"/>
                    </a:solidFill>
                  </a:tcPr>
                </a:tc>
              </a:tr>
              <a:tr h="320040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200" b="1">
                          <a:solidFill>
                            <a:schemeClr val="accent1"/>
                          </a:solidFill>
                          <a:latin typeface="Calibri"/>
                          <a:ea typeface="Calibri"/>
                          <a:cs typeface="Calibri"/>
                        </a:rPr>
                        <a:t>TOTAL</a:t>
                      </a:r>
                      <a:endParaRPr lang="en-US"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137160" marR="137160" marT="27432" marB="27432" anchor="ctr">
                    <a:lnL w="9525" algn="ctr">
                      <a:solidFill>
                        <a:srgbClr val="24376B"/>
                      </a:solidFill>
                    </a:lnL>
                    <a:lnR w="9525" algn="ctr">
                      <a:solidFill>
                        <a:srgbClr val="24376B"/>
                      </a:solidFill>
                    </a:lnR>
                    <a:lnT w="9525" algn="ctr">
                      <a:solidFill>
                        <a:srgbClr val="24376B"/>
                      </a:solidFill>
                    </a:lnT>
                    <a:lnB w="9525" algn="ctr">
                      <a:solidFill>
                        <a:srgbClr val="24376B"/>
                      </a:solidFill>
                    </a:lnB>
                    <a:solidFill>
                      <a:srgbClr val="0E3A4F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endParaRPr lang="en-US"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137160" marR="137160" marT="27432" marB="27432" anchor="ctr">
                    <a:lnL w="9525" algn="ctr">
                      <a:solidFill>
                        <a:srgbClr val="24376B"/>
                      </a:solidFill>
                    </a:lnL>
                    <a:lnR w="9525" algn="ctr">
                      <a:solidFill>
                        <a:srgbClr val="24376B"/>
                      </a:solidFill>
                    </a:lnR>
                    <a:lnT w="9525" algn="ctr">
                      <a:solidFill>
                        <a:srgbClr val="24376B"/>
                      </a:solidFill>
                    </a:lnT>
                    <a:lnB w="9525" algn="ctr">
                      <a:solidFill>
                        <a:srgbClr val="24376B"/>
                      </a:solidFill>
                    </a:lnB>
                    <a:solidFill>
                      <a:srgbClr val="0E3A4F"/>
                    </a:solidFill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  <a:defRPr/>
                      </a:pPr>
                      <a:r>
                        <a:rPr lang="en-US" sz="1200" b="1">
                          <a:solidFill>
                            <a:schemeClr val="accent1"/>
                          </a:solidFill>
                          <a:latin typeface="Calibri"/>
                          <a:ea typeface="Calibri"/>
                          <a:cs typeface="Calibri"/>
                        </a:rPr>
                        <a:t>683 527</a:t>
                      </a:r>
                      <a:endParaRPr lang="en-US"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137160" marR="137160" marT="27432" marB="27432" anchor="ctr">
                    <a:lnL w="9525" algn="ctr">
                      <a:solidFill>
                        <a:srgbClr val="24376B"/>
                      </a:solidFill>
                    </a:lnL>
                    <a:lnR w="9525" algn="ctr">
                      <a:solidFill>
                        <a:srgbClr val="24376B"/>
                      </a:solidFill>
                    </a:lnR>
                    <a:lnT w="9525" algn="ctr">
                      <a:solidFill>
                        <a:srgbClr val="24376B"/>
                      </a:solidFill>
                    </a:lnT>
                    <a:lnB w="9525" algn="ctr">
                      <a:solidFill>
                        <a:srgbClr val="24376B"/>
                      </a:solidFill>
                    </a:lnB>
                    <a:solidFill>
                      <a:srgbClr val="0E3A4F"/>
                    </a:solidFill>
                  </a:tcPr>
                </a:tc>
              </a:tr>
            </a:tbl>
          </a:graphicData>
        </a:graphic>
      </p:graphicFrame>
      <p:sp>
        <p:nvSpPr>
          <p:cNvPr id="174247306" name="card-211"/>
          <p:cNvSpPr/>
          <p:nvPr/>
        </p:nvSpPr>
        <p:spPr bwMode="auto">
          <a:xfrm>
            <a:off x="6858000" y="1920240"/>
            <a:ext cx="4785055" cy="987552"/>
          </a:xfrm>
          <a:prstGeom prst="roundRect">
            <a:avLst>
              <a:gd name="adj" fmla="val 11111"/>
            </a:avLst>
          </a:prstGeom>
          <a:solidFill>
            <a:schemeClr val="tx2">
              <a:alpha val="92000"/>
            </a:schemeClr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540577310" name="text-212"/>
          <p:cNvSpPr txBox="1"/>
          <p:nvPr/>
        </p:nvSpPr>
        <p:spPr bwMode="auto">
          <a:xfrm>
            <a:off x="7086600" y="2011680"/>
            <a:ext cx="4327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chemeClr val="accent1"/>
                </a:solidFill>
              </a:rPr>
              <a:t>Convolution / filtres</a:t>
            </a:r>
            <a:endParaRPr lang="en-US" sz="1400"/>
          </a:p>
        </p:txBody>
      </p:sp>
      <p:sp>
        <p:nvSpPr>
          <p:cNvPr id="1023627510" name="text-213"/>
          <p:cNvSpPr txBox="1"/>
          <p:nvPr/>
        </p:nvSpPr>
        <p:spPr bwMode="auto">
          <a:xfrm>
            <a:off x="7086600" y="2322576"/>
            <a:ext cx="4327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300">
                <a:solidFill>
                  <a:schemeClr val="bg1"/>
                </a:solidFill>
              </a:rPr>
              <a:t>32 → 64 → 128 cartes d’activation : les filtres captent des motifs locaux (contours, bouche, yeux).</a:t>
            </a:r>
            <a:endParaRPr lang="en-US" sz="1300"/>
          </a:p>
        </p:txBody>
      </p:sp>
      <p:sp>
        <p:nvSpPr>
          <p:cNvPr id="1121712721" name="card-214"/>
          <p:cNvSpPr/>
          <p:nvPr/>
        </p:nvSpPr>
        <p:spPr bwMode="auto">
          <a:xfrm>
            <a:off x="6858000" y="2990088"/>
            <a:ext cx="4785055" cy="987552"/>
          </a:xfrm>
          <a:prstGeom prst="roundRect">
            <a:avLst>
              <a:gd name="adj" fmla="val 11111"/>
            </a:avLst>
          </a:prstGeom>
          <a:solidFill>
            <a:schemeClr val="tx2">
              <a:alpha val="92000"/>
            </a:schemeClr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427960382" name="text-215"/>
          <p:cNvSpPr txBox="1"/>
          <p:nvPr/>
        </p:nvSpPr>
        <p:spPr bwMode="auto">
          <a:xfrm>
            <a:off x="7086600" y="3081528"/>
            <a:ext cx="4327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chemeClr val="accent1"/>
                </a:solidFill>
              </a:rPr>
              <a:t>Kernel, stride, padding</a:t>
            </a:r>
            <a:endParaRPr lang="en-US" sz="1400"/>
          </a:p>
        </p:txBody>
      </p:sp>
      <p:sp>
        <p:nvSpPr>
          <p:cNvPr id="550966937" name="text-216"/>
          <p:cNvSpPr txBox="1"/>
          <p:nvPr/>
        </p:nvSpPr>
        <p:spPr bwMode="auto">
          <a:xfrm>
            <a:off x="7086600" y="3392424"/>
            <a:ext cx="4327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300">
                <a:solidFill>
                  <a:schemeClr val="bg1"/>
                </a:solidFill>
              </a:rPr>
              <a:t>Kernels 3×3, stride 1, padding « same » : la taille spatiale est conservée avant le pooling.</a:t>
            </a:r>
            <a:endParaRPr lang="en-US" sz="1300"/>
          </a:p>
        </p:txBody>
      </p:sp>
      <p:sp>
        <p:nvSpPr>
          <p:cNvPr id="524506708" name="card-217"/>
          <p:cNvSpPr/>
          <p:nvPr/>
        </p:nvSpPr>
        <p:spPr bwMode="auto">
          <a:xfrm>
            <a:off x="6858000" y="4059936"/>
            <a:ext cx="4785055" cy="987552"/>
          </a:xfrm>
          <a:prstGeom prst="roundRect">
            <a:avLst>
              <a:gd name="adj" fmla="val 11111"/>
            </a:avLst>
          </a:prstGeom>
          <a:solidFill>
            <a:schemeClr val="tx2">
              <a:alpha val="92000"/>
            </a:schemeClr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046019939" name="text-218"/>
          <p:cNvSpPr txBox="1"/>
          <p:nvPr/>
        </p:nvSpPr>
        <p:spPr bwMode="auto">
          <a:xfrm>
            <a:off x="7086600" y="4151376"/>
            <a:ext cx="4327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chemeClr val="accent1"/>
                </a:solidFill>
              </a:rPr>
              <a:t>Pooling et Flatten</a:t>
            </a:r>
            <a:endParaRPr lang="en-US" sz="1400"/>
          </a:p>
        </p:txBody>
      </p:sp>
      <p:sp>
        <p:nvSpPr>
          <p:cNvPr id="1774485874" name="text-219"/>
          <p:cNvSpPr txBox="1"/>
          <p:nvPr/>
        </p:nvSpPr>
        <p:spPr bwMode="auto">
          <a:xfrm>
            <a:off x="7086600" y="4462272"/>
            <a:ext cx="4327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300">
                <a:solidFill>
                  <a:schemeClr val="bg1"/>
                </a:solidFill>
              </a:rPr>
              <a:t>MaxPooling 2×2 divise largeur et hauteur par 2 ; Flatten produit 4 608 valeurs.</a:t>
            </a:r>
            <a:endParaRPr lang="en-US" sz="1300"/>
          </a:p>
        </p:txBody>
      </p:sp>
      <p:sp>
        <p:nvSpPr>
          <p:cNvPr id="1977217279" name="card-220"/>
          <p:cNvSpPr/>
          <p:nvPr/>
        </p:nvSpPr>
        <p:spPr bwMode="auto">
          <a:xfrm>
            <a:off x="6858000" y="5129784"/>
            <a:ext cx="4785055" cy="987552"/>
          </a:xfrm>
          <a:prstGeom prst="roundRect">
            <a:avLst>
              <a:gd name="adj" fmla="val 11111"/>
            </a:avLst>
          </a:prstGeom>
          <a:solidFill>
            <a:schemeClr val="tx2">
              <a:alpha val="92000"/>
            </a:schemeClr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064632857" name="text-221"/>
          <p:cNvSpPr txBox="1"/>
          <p:nvPr/>
        </p:nvSpPr>
        <p:spPr bwMode="auto">
          <a:xfrm>
            <a:off x="7086600" y="5221224"/>
            <a:ext cx="4327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chemeClr val="accent1"/>
                </a:solidFill>
              </a:rPr>
              <a:t>Dense et Dropout</a:t>
            </a:r>
            <a:endParaRPr lang="en-US" sz="1400"/>
          </a:p>
        </p:txBody>
      </p:sp>
      <p:sp>
        <p:nvSpPr>
          <p:cNvPr id="2018200799" name="text-222"/>
          <p:cNvSpPr txBox="1"/>
          <p:nvPr/>
        </p:nvSpPr>
        <p:spPr bwMode="auto">
          <a:xfrm>
            <a:off x="7086600" y="5532120"/>
            <a:ext cx="4327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300">
                <a:solidFill>
                  <a:schemeClr val="bg1"/>
                </a:solidFill>
              </a:rPr>
              <a:t>Dense(128) combine les caractéristiques ; Dropout 0,30 régularise l’apprentissage.</a:t>
            </a:r>
            <a:endParaRPr lang="en-US" sz="1300"/>
          </a:p>
        </p:txBody>
      </p:sp>
      <p:sp>
        <p:nvSpPr>
          <p:cNvPr id="1491179083" name="Slide Number Placeholder 0"/>
          <p:cNvSpPr>
            <a:spLocks noGrp="1"/>
          </p:cNvSpPr>
          <p:nvPr>
            <p:ph type="sldNum" sz="quarter" idx="4294967295"/>
          </p:nvPr>
        </p:nvSpPr>
        <p:spPr bwMode="auto">
          <a:xfrm>
            <a:off x="11183112" y="6400800"/>
            <a:ext cx="457200" cy="228600"/>
          </a:xfrm>
          <a:prstGeom prst="rect">
            <a:avLst/>
          </a:prstGeom>
        </p:spPr>
        <p:txBody>
          <a:bodyPr lIns="0" tIns="0" rIns="0" bIns="0"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r">
              <a:defRPr/>
            </a:pPr>
            <a:fld id="{F7021451-1387-4CA6-816F-3879F97B5CBC}" type="slidenum">
              <a:rPr lang="en-US" b="1"/>
              <a:t>9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0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2252304" name="Text 0"/>
          <p:cNvSpPr/>
          <p:nvPr>
            <p:ph type="body" idx="100" hasCustomPrompt="1"/>
          </p:nvPr>
        </p:nvSpPr>
        <p:spPr bwMode="auto"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 spc="300">
                <a:solidFill>
                  <a:schemeClr val="accent1"/>
                </a:solidFill>
              </a:rPr>
              <a:t>06 / ENTRAÎNEMENT</a:t>
            </a:r>
            <a:endParaRPr lang="en-US" sz="1200"/>
          </a:p>
        </p:txBody>
      </p:sp>
      <p:sp>
        <p:nvSpPr>
          <p:cNvPr id="662014409" name="Text 0"/>
          <p:cNvSpPr/>
          <p:nvPr>
            <p:ph type="title" idx="101" hasCustomPrompt="1"/>
          </p:nvPr>
        </p:nvSpPr>
        <p:spPr bwMode="auto"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3400" b="1">
                <a:solidFill>
                  <a:schemeClr val="bg1"/>
                </a:solidFill>
              </a:rPr>
              <a:t>Protocole d’apprentissage et diagnostic</a:t>
            </a:r>
            <a:endParaRPr lang="en-US" sz="3400"/>
          </a:p>
        </p:txBody>
      </p:sp>
      <p:sp>
        <p:nvSpPr>
          <p:cNvPr id="821568872" name="Text 0"/>
          <p:cNvSpPr/>
          <p:nvPr>
            <p:ph type="body" idx="102" hasCustomPrompt="1"/>
          </p:nvPr>
        </p:nvSpPr>
        <p:spPr bwMode="auto">
          <a:xfrm>
            <a:off x="548640" y="138988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00">
                <a:solidFill>
                  <a:schemeClr val="bg2"/>
                </a:solidFill>
              </a:rPr>
              <a:t>Suivi des courbes pour repérer la convergence et un éventuel surapprentissage.</a:t>
            </a:r>
            <a:endParaRPr lang="en-US" sz="1500"/>
          </a:p>
        </p:txBody>
      </p:sp>
      <p:sp>
        <p:nvSpPr>
          <p:cNvPr id="1257249932" name="card-223"/>
          <p:cNvSpPr/>
          <p:nvPr/>
        </p:nvSpPr>
        <p:spPr bwMode="auto">
          <a:xfrm>
            <a:off x="548640" y="1874520"/>
            <a:ext cx="2103120" cy="960120"/>
          </a:xfrm>
          <a:prstGeom prst="roundRect">
            <a:avLst>
              <a:gd name="adj" fmla="val 11429"/>
            </a:avLst>
          </a:prstGeom>
          <a:solidFill>
            <a:schemeClr val="tx2">
              <a:alpha val="92000"/>
            </a:schemeClr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15749688" name="text-224"/>
          <p:cNvSpPr txBox="1"/>
          <p:nvPr/>
        </p:nvSpPr>
        <p:spPr bwMode="auto">
          <a:xfrm>
            <a:off x="685800" y="1984248"/>
            <a:ext cx="1828800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2200" b="1">
                <a:solidFill>
                  <a:schemeClr val="accent1"/>
                </a:solidFill>
              </a:rPr>
              <a:t>128</a:t>
            </a:r>
            <a:endParaRPr lang="en-US" sz="2200"/>
          </a:p>
        </p:txBody>
      </p:sp>
      <p:sp>
        <p:nvSpPr>
          <p:cNvPr id="409957874" name="text-225"/>
          <p:cNvSpPr txBox="1"/>
          <p:nvPr/>
        </p:nvSpPr>
        <p:spPr bwMode="auto">
          <a:xfrm>
            <a:off x="685800" y="2469793"/>
            <a:ext cx="182880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  <a:defRPr/>
            </a:pPr>
            <a:r>
              <a:rPr lang="en-US" sz="1100" spc="200">
                <a:solidFill>
                  <a:schemeClr val="bg2"/>
                </a:solidFill>
              </a:rPr>
              <a:t>BATCH SIZE</a:t>
            </a:r>
            <a:endParaRPr lang="en-US" sz="1100"/>
          </a:p>
        </p:txBody>
      </p:sp>
      <p:sp>
        <p:nvSpPr>
          <p:cNvPr id="902075088" name="card-226"/>
          <p:cNvSpPr/>
          <p:nvPr/>
        </p:nvSpPr>
        <p:spPr bwMode="auto">
          <a:xfrm>
            <a:off x="2796464" y="1874520"/>
            <a:ext cx="2103120" cy="960120"/>
          </a:xfrm>
          <a:prstGeom prst="roundRect">
            <a:avLst>
              <a:gd name="adj" fmla="val 11429"/>
            </a:avLst>
          </a:prstGeom>
          <a:solidFill>
            <a:schemeClr val="tx2">
              <a:alpha val="92000"/>
            </a:schemeClr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941775110" name="text-227"/>
          <p:cNvSpPr txBox="1"/>
          <p:nvPr/>
        </p:nvSpPr>
        <p:spPr bwMode="auto">
          <a:xfrm>
            <a:off x="2933624" y="1984248"/>
            <a:ext cx="1828800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2200" b="1">
                <a:solidFill>
                  <a:schemeClr val="accent1"/>
                </a:solidFill>
              </a:rPr>
              <a:t>40</a:t>
            </a:r>
            <a:endParaRPr lang="en-US" sz="2200"/>
          </a:p>
        </p:txBody>
      </p:sp>
      <p:sp>
        <p:nvSpPr>
          <p:cNvPr id="231388761" name="text-228"/>
          <p:cNvSpPr txBox="1"/>
          <p:nvPr/>
        </p:nvSpPr>
        <p:spPr bwMode="auto">
          <a:xfrm>
            <a:off x="2933624" y="2469793"/>
            <a:ext cx="182880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  <a:defRPr/>
            </a:pPr>
            <a:r>
              <a:rPr lang="en-US" sz="1100" spc="200">
                <a:solidFill>
                  <a:schemeClr val="bg2"/>
                </a:solidFill>
              </a:rPr>
              <a:t>ÉPOQUES MAX</a:t>
            </a:r>
            <a:endParaRPr lang="en-US" sz="1100"/>
          </a:p>
        </p:txBody>
      </p:sp>
      <p:sp>
        <p:nvSpPr>
          <p:cNvPr id="1100168780" name="card-229"/>
          <p:cNvSpPr/>
          <p:nvPr/>
        </p:nvSpPr>
        <p:spPr bwMode="auto">
          <a:xfrm>
            <a:off x="5044288" y="1874520"/>
            <a:ext cx="2103120" cy="960120"/>
          </a:xfrm>
          <a:prstGeom prst="roundRect">
            <a:avLst>
              <a:gd name="adj" fmla="val 11429"/>
            </a:avLst>
          </a:prstGeom>
          <a:solidFill>
            <a:schemeClr val="tx2">
              <a:alpha val="92000"/>
            </a:schemeClr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699853736" name="text-230"/>
          <p:cNvSpPr txBox="1"/>
          <p:nvPr/>
        </p:nvSpPr>
        <p:spPr bwMode="auto">
          <a:xfrm>
            <a:off x="5181447" y="1984248"/>
            <a:ext cx="1828800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2200" b="1">
                <a:solidFill>
                  <a:schemeClr val="accent1"/>
                </a:solidFill>
              </a:rPr>
              <a:t>patience 6</a:t>
            </a:r>
            <a:endParaRPr lang="en-US" sz="2200"/>
          </a:p>
        </p:txBody>
      </p:sp>
      <p:sp>
        <p:nvSpPr>
          <p:cNvPr id="964607268" name="text-231"/>
          <p:cNvSpPr txBox="1"/>
          <p:nvPr/>
        </p:nvSpPr>
        <p:spPr bwMode="auto">
          <a:xfrm>
            <a:off x="5181447" y="2469793"/>
            <a:ext cx="182880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  <a:defRPr/>
            </a:pPr>
            <a:r>
              <a:rPr lang="en-US" sz="1100" spc="200">
                <a:solidFill>
                  <a:schemeClr val="bg2"/>
                </a:solidFill>
              </a:rPr>
              <a:t>EARLY STOPPING</a:t>
            </a:r>
            <a:endParaRPr lang="en-US" sz="1100"/>
          </a:p>
        </p:txBody>
      </p:sp>
      <p:sp>
        <p:nvSpPr>
          <p:cNvPr id="1832478879" name="card-232"/>
          <p:cNvSpPr/>
          <p:nvPr/>
        </p:nvSpPr>
        <p:spPr bwMode="auto">
          <a:xfrm>
            <a:off x="7292111" y="1874520"/>
            <a:ext cx="2103120" cy="960120"/>
          </a:xfrm>
          <a:prstGeom prst="roundRect">
            <a:avLst>
              <a:gd name="adj" fmla="val 11429"/>
            </a:avLst>
          </a:prstGeom>
          <a:solidFill>
            <a:schemeClr val="tx2">
              <a:alpha val="92000"/>
            </a:schemeClr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087526943" name="text-233"/>
          <p:cNvSpPr txBox="1"/>
          <p:nvPr/>
        </p:nvSpPr>
        <p:spPr bwMode="auto">
          <a:xfrm>
            <a:off x="7429271" y="1984248"/>
            <a:ext cx="1828800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2200" b="1">
                <a:solidFill>
                  <a:schemeClr val="accent1"/>
                </a:solidFill>
              </a:rPr>
              <a:t>facteur 0,5</a:t>
            </a:r>
            <a:endParaRPr lang="en-US" sz="2200"/>
          </a:p>
        </p:txBody>
      </p:sp>
      <p:sp>
        <p:nvSpPr>
          <p:cNvPr id="264816141" name="text-234"/>
          <p:cNvSpPr txBox="1"/>
          <p:nvPr/>
        </p:nvSpPr>
        <p:spPr bwMode="auto">
          <a:xfrm>
            <a:off x="7429271" y="2469793"/>
            <a:ext cx="182880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  <a:defRPr/>
            </a:pPr>
            <a:r>
              <a:rPr lang="en-US" sz="1100" spc="200">
                <a:solidFill>
                  <a:schemeClr val="bg2"/>
                </a:solidFill>
              </a:rPr>
              <a:t>REDUCE LR</a:t>
            </a:r>
            <a:endParaRPr lang="en-US" sz="1100"/>
          </a:p>
        </p:txBody>
      </p:sp>
      <p:sp>
        <p:nvSpPr>
          <p:cNvPr id="1347723127" name="card-235"/>
          <p:cNvSpPr/>
          <p:nvPr/>
        </p:nvSpPr>
        <p:spPr bwMode="auto">
          <a:xfrm>
            <a:off x="9539935" y="1874520"/>
            <a:ext cx="2103120" cy="960120"/>
          </a:xfrm>
          <a:prstGeom prst="roundRect">
            <a:avLst>
              <a:gd name="adj" fmla="val 11429"/>
            </a:avLst>
          </a:prstGeom>
          <a:solidFill>
            <a:schemeClr val="tx2">
              <a:alpha val="92000"/>
            </a:schemeClr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831348891" name="text-236"/>
          <p:cNvSpPr txBox="1"/>
          <p:nvPr/>
        </p:nvSpPr>
        <p:spPr bwMode="auto">
          <a:xfrm>
            <a:off x="9677095" y="1984248"/>
            <a:ext cx="1828800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2200" b="1">
                <a:solidFill>
                  <a:schemeClr val="accent1"/>
                </a:solidFill>
              </a:rPr>
              <a:t>val_loss</a:t>
            </a:r>
            <a:endParaRPr lang="en-US" sz="2200"/>
          </a:p>
        </p:txBody>
      </p:sp>
      <p:sp>
        <p:nvSpPr>
          <p:cNvPr id="209344055" name="text-237"/>
          <p:cNvSpPr txBox="1"/>
          <p:nvPr/>
        </p:nvSpPr>
        <p:spPr bwMode="auto">
          <a:xfrm>
            <a:off x="9677095" y="2469793"/>
            <a:ext cx="182880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  <a:defRPr/>
            </a:pPr>
            <a:r>
              <a:rPr lang="en-US" sz="1100" spc="200">
                <a:solidFill>
                  <a:schemeClr val="bg2"/>
                </a:solidFill>
              </a:rPr>
              <a:t>CHECKPOINT</a:t>
            </a:r>
            <a:endParaRPr lang="en-US" sz="1100"/>
          </a:p>
        </p:txBody>
      </p:sp>
      <p:sp>
        <p:nvSpPr>
          <p:cNvPr id="126849305" name="whitecard-238"/>
          <p:cNvSpPr/>
          <p:nvPr/>
        </p:nvSpPr>
        <p:spPr bwMode="auto">
          <a:xfrm>
            <a:off x="548640" y="2971800"/>
            <a:ext cx="5432908" cy="2514600"/>
          </a:xfrm>
          <a:prstGeom prst="roundRect">
            <a:avLst>
              <a:gd name="adj" fmla="val 4364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475599836" name="img-239" descr="Courbe de loss du CNN de référence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234774" y="3081528"/>
            <a:ext cx="4060639" cy="2295144"/>
          </a:xfrm>
          <a:prstGeom prst="rect">
            <a:avLst/>
          </a:prstGeom>
        </p:spPr>
      </p:pic>
      <p:sp>
        <p:nvSpPr>
          <p:cNvPr id="1636441130" name="whitecard-240"/>
          <p:cNvSpPr/>
          <p:nvPr/>
        </p:nvSpPr>
        <p:spPr bwMode="auto">
          <a:xfrm>
            <a:off x="6210148" y="2971800"/>
            <a:ext cx="5432908" cy="2514600"/>
          </a:xfrm>
          <a:prstGeom prst="roundRect">
            <a:avLst>
              <a:gd name="adj" fmla="val 4364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1201751720" name="img-241" descr="Courbe d’accuracy du CNN de référence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6896282" y="3081528"/>
            <a:ext cx="4060639" cy="2295144"/>
          </a:xfrm>
          <a:prstGeom prst="rect">
            <a:avLst/>
          </a:prstGeom>
        </p:spPr>
      </p:pic>
      <p:sp>
        <p:nvSpPr>
          <p:cNvPr id="938670940" name="highlight-242"/>
          <p:cNvSpPr/>
          <p:nvPr/>
        </p:nvSpPr>
        <p:spPr bwMode="auto">
          <a:xfrm>
            <a:off x="548640" y="5669280"/>
            <a:ext cx="11094415" cy="548640"/>
          </a:xfrm>
          <a:prstGeom prst="roundRect">
            <a:avLst>
              <a:gd name="adj" fmla="val 20000"/>
            </a:avLst>
          </a:prstGeom>
          <a:solidFill>
            <a:schemeClr val="accent1">
              <a:alpha val="12000"/>
            </a:schemeClr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394975327" name="text-243"/>
          <p:cNvSpPr txBox="1"/>
          <p:nvPr/>
        </p:nvSpPr>
        <p:spPr bwMode="auto">
          <a:xfrm>
            <a:off x="822960" y="5669280"/>
            <a:ext cx="105457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chemeClr val="accent1"/>
                </a:solidFill>
              </a:rPr>
              <a:t>Lecture : </a:t>
            </a:r>
            <a:r>
              <a:rPr lang="en-US" sz="1400">
                <a:solidFill>
                  <a:schemeClr val="bg1"/>
                </a:solidFill>
              </a:rPr>
              <a:t>le train progresse alors que la validation plafonne vers ~57 %, ce qui justifie des expériences d’amélioration.</a:t>
            </a:r>
            <a:endParaRPr lang="en-US" sz="1400"/>
          </a:p>
        </p:txBody>
      </p:sp>
      <p:sp>
        <p:nvSpPr>
          <p:cNvPr id="874887644" name="Slide Number Placeholder 0"/>
          <p:cNvSpPr>
            <a:spLocks noGrp="1"/>
          </p:cNvSpPr>
          <p:nvPr>
            <p:ph type="sldNum" sz="quarter" idx="4294967295"/>
          </p:nvPr>
        </p:nvSpPr>
        <p:spPr bwMode="auto">
          <a:xfrm>
            <a:off x="11183112" y="6400800"/>
            <a:ext cx="457200" cy="228600"/>
          </a:xfrm>
          <a:prstGeom prst="rect">
            <a:avLst/>
          </a:prstGeom>
        </p:spPr>
        <p:txBody>
          <a:bodyPr lIns="0" tIns="0" rIns="0" bIns="0"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r">
              <a:defRPr/>
            </a:pPr>
            <a:fld id="{F7021451-1387-4CA6-816F-3879F97B5CBC}" type="slidenum">
              <a:rPr lang="en-US" b="1"/>
              <a:t>10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8605582" name="Text 0"/>
          <p:cNvSpPr/>
          <p:nvPr>
            <p:ph type="body" idx="100" hasCustomPrompt="1"/>
          </p:nvPr>
        </p:nvSpPr>
        <p:spPr bwMode="auto"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 spc="300">
                <a:solidFill>
                  <a:schemeClr val="accent1"/>
                </a:solidFill>
              </a:rPr>
              <a:t>07 / VALIDATION</a:t>
            </a:r>
            <a:endParaRPr lang="en-US" sz="1200"/>
          </a:p>
        </p:txBody>
      </p:sp>
      <p:sp>
        <p:nvSpPr>
          <p:cNvPr id="143216629" name="Text 0"/>
          <p:cNvSpPr/>
          <p:nvPr>
            <p:ph type="title" idx="101" hasCustomPrompt="1"/>
          </p:nvPr>
        </p:nvSpPr>
        <p:spPr bwMode="auto"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3400" b="1">
                <a:solidFill>
                  <a:schemeClr val="bg1"/>
                </a:solidFill>
              </a:rPr>
              <a:t>Évaluation du CNN de référence</a:t>
            </a:r>
            <a:endParaRPr lang="en-US" sz="3400"/>
          </a:p>
        </p:txBody>
      </p:sp>
      <p:sp>
        <p:nvSpPr>
          <p:cNvPr id="1317311406" name="Text 0"/>
          <p:cNvSpPr/>
          <p:nvPr>
            <p:ph type="body" idx="102" hasCustomPrompt="1"/>
          </p:nvPr>
        </p:nvSpPr>
        <p:spPr bwMode="auto">
          <a:xfrm>
            <a:off x="548640" y="138988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00">
                <a:solidFill>
                  <a:schemeClr val="bg2"/>
                </a:solidFill>
              </a:rPr>
              <a:t>L’accuracy seule ne suffit pas : il faut lire la matrice de confusion et les classes difficiles.</a:t>
            </a:r>
            <a:endParaRPr lang="en-US" sz="1500"/>
          </a:p>
        </p:txBody>
      </p:sp>
      <p:sp>
        <p:nvSpPr>
          <p:cNvPr id="2014730965" name="whitecard-244"/>
          <p:cNvSpPr/>
          <p:nvPr/>
        </p:nvSpPr>
        <p:spPr bwMode="auto">
          <a:xfrm>
            <a:off x="548640" y="1920240"/>
            <a:ext cx="4617720" cy="4206240"/>
          </a:xfrm>
          <a:prstGeom prst="roundRect">
            <a:avLst>
              <a:gd name="adj" fmla="val 2609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1794487024" name="img-245" descr="Matrice de confusion normalisée — validation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658368" y="2032690"/>
            <a:ext cx="4398264" cy="3981339"/>
          </a:xfrm>
          <a:prstGeom prst="rect">
            <a:avLst/>
          </a:prstGeom>
        </p:spPr>
      </p:pic>
      <p:sp>
        <p:nvSpPr>
          <p:cNvPr id="1385856208" name="card-246"/>
          <p:cNvSpPr/>
          <p:nvPr/>
        </p:nvSpPr>
        <p:spPr bwMode="auto">
          <a:xfrm>
            <a:off x="5440680" y="1920240"/>
            <a:ext cx="2986887" cy="1051560"/>
          </a:xfrm>
          <a:prstGeom prst="roundRect">
            <a:avLst>
              <a:gd name="adj" fmla="val 10435"/>
            </a:avLst>
          </a:prstGeom>
          <a:solidFill>
            <a:schemeClr val="tx2">
              <a:alpha val="92000"/>
            </a:schemeClr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813950697" name="text-247"/>
          <p:cNvSpPr txBox="1"/>
          <p:nvPr/>
        </p:nvSpPr>
        <p:spPr bwMode="auto">
          <a:xfrm>
            <a:off x="5577840" y="2029968"/>
            <a:ext cx="2712568" cy="578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3000" b="1">
                <a:solidFill>
                  <a:schemeClr val="accent1"/>
                </a:solidFill>
              </a:rPr>
              <a:t>56,84 %</a:t>
            </a:r>
            <a:endParaRPr lang="en-US" sz="3000"/>
          </a:p>
        </p:txBody>
      </p:sp>
      <p:sp>
        <p:nvSpPr>
          <p:cNvPr id="1635026512" name="text-248"/>
          <p:cNvSpPr txBox="1"/>
          <p:nvPr/>
        </p:nvSpPr>
        <p:spPr bwMode="auto">
          <a:xfrm>
            <a:off x="5577840" y="2572207"/>
            <a:ext cx="2712568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  <a:defRPr/>
            </a:pPr>
            <a:r>
              <a:rPr lang="en-US" sz="1100" spc="200">
                <a:solidFill>
                  <a:schemeClr val="bg2"/>
                </a:solidFill>
              </a:rPr>
              <a:t>ACCURACY</a:t>
            </a:r>
            <a:endParaRPr lang="en-US" sz="1100"/>
          </a:p>
        </p:txBody>
      </p:sp>
      <p:sp>
        <p:nvSpPr>
          <p:cNvPr id="1800395171" name="card-249"/>
          <p:cNvSpPr/>
          <p:nvPr/>
        </p:nvSpPr>
        <p:spPr bwMode="auto">
          <a:xfrm>
            <a:off x="8656168" y="1920240"/>
            <a:ext cx="2986887" cy="1051560"/>
          </a:xfrm>
          <a:prstGeom prst="roundRect">
            <a:avLst>
              <a:gd name="adj" fmla="val 10435"/>
            </a:avLst>
          </a:prstGeom>
          <a:solidFill>
            <a:schemeClr val="tx2">
              <a:alpha val="92000"/>
            </a:schemeClr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039441667" name="text-250"/>
          <p:cNvSpPr txBox="1"/>
          <p:nvPr/>
        </p:nvSpPr>
        <p:spPr bwMode="auto">
          <a:xfrm>
            <a:off x="8793328" y="2029968"/>
            <a:ext cx="2712568" cy="578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3000" b="1">
                <a:solidFill>
                  <a:schemeClr val="accent1"/>
                </a:solidFill>
              </a:rPr>
              <a:t>0,5183</a:t>
            </a:r>
            <a:endParaRPr lang="en-US" sz="3000"/>
          </a:p>
        </p:txBody>
      </p:sp>
      <p:sp>
        <p:nvSpPr>
          <p:cNvPr id="1645916572" name="text-251"/>
          <p:cNvSpPr txBox="1"/>
          <p:nvPr/>
        </p:nvSpPr>
        <p:spPr bwMode="auto">
          <a:xfrm>
            <a:off x="8793328" y="2572207"/>
            <a:ext cx="2712568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  <a:defRPr/>
            </a:pPr>
            <a:r>
              <a:rPr lang="en-US" sz="1100" spc="200">
                <a:solidFill>
                  <a:schemeClr val="bg2"/>
                </a:solidFill>
              </a:rPr>
              <a:t>MACRO-F1</a:t>
            </a:r>
            <a:endParaRPr lang="en-US" sz="1100"/>
          </a:p>
        </p:txBody>
      </p:sp>
      <p:sp>
        <p:nvSpPr>
          <p:cNvPr id="919810626" name="card-252"/>
          <p:cNvSpPr/>
          <p:nvPr/>
        </p:nvSpPr>
        <p:spPr bwMode="auto">
          <a:xfrm>
            <a:off x="5440680" y="3154680"/>
            <a:ext cx="6202375" cy="2971800"/>
          </a:xfrm>
          <a:prstGeom prst="roundRect">
            <a:avLst>
              <a:gd name="adj" fmla="val 3692"/>
            </a:avLst>
          </a:prstGeom>
          <a:solidFill>
            <a:schemeClr val="tx2">
              <a:alpha val="92000"/>
            </a:schemeClr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579244298" name="text-253"/>
          <p:cNvSpPr txBox="1"/>
          <p:nvPr/>
        </p:nvSpPr>
        <p:spPr bwMode="auto">
          <a:xfrm>
            <a:off x="5715000" y="3264408"/>
            <a:ext cx="56537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chemeClr val="accent1"/>
                </a:solidFill>
              </a:rPr>
              <a:t>Confusions observées</a:t>
            </a:r>
            <a:endParaRPr lang="en-US" sz="1600"/>
          </a:p>
        </p:txBody>
      </p:sp>
      <p:sp>
        <p:nvSpPr>
          <p:cNvPr id="84320465" name="text-254"/>
          <p:cNvSpPr txBox="1"/>
          <p:nvPr/>
        </p:nvSpPr>
        <p:spPr bwMode="auto">
          <a:xfrm>
            <a:off x="5715000" y="3703320"/>
            <a:ext cx="5653735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200"/>
              </a:spcAft>
              <a:buSzPct val="100000"/>
              <a:buChar char="•"/>
              <a:defRPr/>
            </a:pPr>
            <a:r>
              <a:rPr lang="en-US" sz="1600">
                <a:solidFill>
                  <a:schemeClr val="bg1"/>
                </a:solidFill>
              </a:rPr>
              <a:t>Rappels les plus élevés : Happy (0,828), Surprise (0,740), Angry (0,559)</a:t>
            </a:r>
            <a:endParaRPr lang="en-US" sz="1600"/>
          </a:p>
          <a:p>
            <a:pPr marL="203200" indent="-203200">
              <a:spcAft>
                <a:spcPts val="1200"/>
              </a:spcAft>
              <a:buSzPct val="100000"/>
              <a:buChar char="•"/>
              <a:defRPr/>
            </a:pPr>
            <a:r>
              <a:rPr lang="en-US" sz="1600">
                <a:solidFill>
                  <a:schemeClr val="bg1"/>
                </a:solidFill>
              </a:rPr>
              <a:t>Classe la plus difficile : Disgust (rappel 0,214), très sous-représentée</a:t>
            </a:r>
            <a:endParaRPr lang="en-US" sz="1600"/>
          </a:p>
          <a:p>
            <a:pPr marL="203200" indent="-203200">
              <a:spcAft>
                <a:spcPts val="1200"/>
              </a:spcAft>
              <a:buSzPct val="100000"/>
              <a:buChar char="•"/>
              <a:defRPr/>
            </a:pPr>
            <a:r>
              <a:rPr lang="en-US" sz="1600">
                <a:solidFill>
                  <a:schemeClr val="bg1"/>
                </a:solidFill>
              </a:rPr>
              <a:t>Confusions fréquentes : Sad → Neutral (119), Sad → Angry (113), Fear → Sad (106)</a:t>
            </a:r>
            <a:endParaRPr lang="en-US" sz="1600"/>
          </a:p>
          <a:p>
            <a:pPr marL="203200" indent="-203200">
              <a:spcAft>
                <a:spcPts val="1200"/>
              </a:spcAft>
              <a:buSzPct val="100000"/>
              <a:buChar char="•"/>
              <a:defRPr/>
            </a:pPr>
            <a:r>
              <a:rPr lang="en-US" sz="1600">
                <a:solidFill>
                  <a:schemeClr val="bg1"/>
                </a:solidFill>
              </a:rPr>
              <a:t>Les émotions proches ou peu marquées restent les plus ambiguës</a:t>
            </a:r>
            <a:endParaRPr lang="en-US" sz="1600"/>
          </a:p>
        </p:txBody>
      </p:sp>
      <p:sp>
        <p:nvSpPr>
          <p:cNvPr id="1887794774" name="Slide Number Placeholder 0"/>
          <p:cNvSpPr>
            <a:spLocks noGrp="1"/>
          </p:cNvSpPr>
          <p:nvPr>
            <p:ph type="sldNum" sz="quarter" idx="4294967295"/>
          </p:nvPr>
        </p:nvSpPr>
        <p:spPr bwMode="auto">
          <a:xfrm>
            <a:off x="11183112" y="6400800"/>
            <a:ext cx="457200" cy="228600"/>
          </a:xfrm>
          <a:prstGeom prst="rect">
            <a:avLst/>
          </a:prstGeom>
        </p:spPr>
        <p:txBody>
          <a:bodyPr lIns="0" tIns="0" rIns="0" bIns="0"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r">
              <a:defRPr/>
            </a:pPr>
            <a:fld id="{F7021451-1387-4CA6-816F-3879F97B5CBC}" type="slidenum">
              <a:rPr lang="en-US" b="1"/>
              <a:t>11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2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029561" name="Text 0"/>
          <p:cNvSpPr/>
          <p:nvPr>
            <p:ph type="body" idx="100" hasCustomPrompt="1"/>
          </p:nvPr>
        </p:nvSpPr>
        <p:spPr bwMode="auto"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 spc="300">
                <a:solidFill>
                  <a:schemeClr val="accent1"/>
                </a:solidFill>
              </a:rPr>
              <a:t>08 / EXPÉRIMENTATIONS</a:t>
            </a:r>
            <a:endParaRPr lang="en-US" sz="1200"/>
          </a:p>
        </p:txBody>
      </p:sp>
      <p:sp>
        <p:nvSpPr>
          <p:cNvPr id="370320947" name="Text 0"/>
          <p:cNvSpPr/>
          <p:nvPr>
            <p:ph type="title" idx="101" hasCustomPrompt="1"/>
          </p:nvPr>
        </p:nvSpPr>
        <p:spPr bwMode="auto"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3400" b="1">
                <a:solidFill>
                  <a:schemeClr val="bg1"/>
                </a:solidFill>
              </a:rPr>
              <a:t>Trois expériences contrôlées</a:t>
            </a:r>
            <a:endParaRPr lang="en-US" sz="3400"/>
          </a:p>
        </p:txBody>
      </p:sp>
      <p:sp>
        <p:nvSpPr>
          <p:cNvPr id="199565150" name="Text 0"/>
          <p:cNvSpPr/>
          <p:nvPr>
            <p:ph type="body" idx="102" hasCustomPrompt="1"/>
          </p:nvPr>
        </p:nvSpPr>
        <p:spPr bwMode="auto">
          <a:xfrm>
            <a:off x="548640" y="138988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00">
                <a:solidFill>
                  <a:schemeClr val="bg2"/>
                </a:solidFill>
              </a:rPr>
              <a:t>Une seule modification principale à la fois pour interpréter l’effet observé.</a:t>
            </a:r>
            <a:endParaRPr lang="en-US" sz="1500"/>
          </a:p>
        </p:txBody>
      </p:sp>
      <p:graphicFrame>
        <p:nvGraphicFramePr>
          <p:cNvPr id="954338107" name="tableau-experiences"/>
          <p:cNvGraphicFramePr>
            <a:graphicFrameLocks xmlns:a="http://schemas.openxmlformats.org/drawingml/2006/main" noGrp="1"/>
          </p:cNvGraphicFramePr>
          <p:nvPr/>
        </p:nvGraphicFramePr>
        <p:xfrm rot="0">
          <a:off x="548640" y="1920240"/>
          <a:ext cx="6903720" cy="914400"/>
        </p:xfrm>
        <a:graphic>
          <a:graphicData uri="http://schemas.openxmlformats.org/drawingml/2006/table">
            <a:tbl>
              <a:tblPr firstRow="0" firstCol="0" lastRow="0" lastCol="0" bandRow="0" bandCol="0"/>
              <a:tblGrid>
                <a:gridCol w="1234440"/>
                <a:gridCol w="2606040"/>
                <a:gridCol w="822960"/>
                <a:gridCol w="2240280"/>
              </a:tblGrid>
              <a:tr h="384048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200" b="1">
                          <a:solidFill>
                            <a:schemeClr val="bg1"/>
                          </a:solidFill>
                          <a:latin typeface="Calibri"/>
                          <a:ea typeface="Calibri"/>
                          <a:cs typeface="Calibri"/>
                        </a:rPr>
                        <a:t>Expérience</a:t>
                      </a:r>
                      <a:endParaRPr lang="en-US"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36576" marB="36576" anchor="ctr">
                    <a:lnL w="9525" algn="ctr">
                      <a:solidFill>
                        <a:srgbClr val="24376B"/>
                      </a:solidFill>
                    </a:lnL>
                    <a:lnR w="9525" algn="ctr">
                      <a:solidFill>
                        <a:srgbClr val="24376B"/>
                      </a:solidFill>
                    </a:lnR>
                    <a:lnT w="9525" algn="ctr">
                      <a:solidFill>
                        <a:srgbClr val="24376B"/>
                      </a:solidFill>
                    </a:lnT>
                    <a:lnB w="9525" algn="ctr">
                      <a:solidFill>
                        <a:srgbClr val="24376B"/>
                      </a:solidFill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200" b="1">
                          <a:solidFill>
                            <a:schemeClr val="bg1"/>
                          </a:solidFill>
                          <a:latin typeface="Calibri"/>
                          <a:ea typeface="Calibri"/>
                          <a:cs typeface="Calibri"/>
                        </a:rPr>
                        <a:t>Modification</a:t>
                      </a:r>
                      <a:endParaRPr lang="en-US"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36576" marB="36576" anchor="ctr">
                    <a:lnL w="9525" algn="ctr">
                      <a:solidFill>
                        <a:srgbClr val="24376B"/>
                      </a:solidFill>
                    </a:lnL>
                    <a:lnR w="9525" algn="ctr">
                      <a:solidFill>
                        <a:srgbClr val="24376B"/>
                      </a:solidFill>
                    </a:lnR>
                    <a:lnT w="9525" algn="ctr">
                      <a:solidFill>
                        <a:srgbClr val="24376B"/>
                      </a:solidFill>
                    </a:lnT>
                    <a:lnB w="9525" algn="ctr">
                      <a:solidFill>
                        <a:srgbClr val="24376B"/>
                      </a:solidFill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200" b="1">
                          <a:solidFill>
                            <a:schemeClr val="bg1"/>
                          </a:solidFill>
                          <a:latin typeface="Calibri"/>
                          <a:ea typeface="Calibri"/>
                          <a:cs typeface="Calibri"/>
                        </a:rPr>
                        <a:t>Val acc.</a:t>
                      </a:r>
                      <a:endParaRPr lang="en-US"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36576" marB="36576" anchor="ctr">
                    <a:lnL w="9525" algn="ctr">
                      <a:solidFill>
                        <a:srgbClr val="24376B"/>
                      </a:solidFill>
                    </a:lnL>
                    <a:lnR w="9525" algn="ctr">
                      <a:solidFill>
                        <a:srgbClr val="24376B"/>
                      </a:solidFill>
                    </a:lnR>
                    <a:lnT w="9525" algn="ctr">
                      <a:solidFill>
                        <a:srgbClr val="24376B"/>
                      </a:solidFill>
                    </a:lnT>
                    <a:lnB w="9525" algn="ctr">
                      <a:solidFill>
                        <a:srgbClr val="24376B"/>
                      </a:solidFill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200" b="1">
                          <a:solidFill>
                            <a:schemeClr val="bg1"/>
                          </a:solidFill>
                          <a:latin typeface="Calibri"/>
                          <a:ea typeface="Calibri"/>
                          <a:cs typeface="Calibri"/>
                        </a:rPr>
                        <a:t>Observation</a:t>
                      </a:r>
                      <a:endParaRPr lang="en-US"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36576" marB="36576" anchor="ctr">
                    <a:lnL w="9525" algn="ctr">
                      <a:solidFill>
                        <a:srgbClr val="24376B"/>
                      </a:solidFill>
                    </a:lnL>
                    <a:lnR w="9525" algn="ctr">
                      <a:solidFill>
                        <a:srgbClr val="24376B"/>
                      </a:solidFill>
                    </a:lnR>
                    <a:lnT w="9525" algn="ctr">
                      <a:solidFill>
                        <a:srgbClr val="24376B"/>
                      </a:solidFill>
                    </a:lnT>
                    <a:lnB w="9525" algn="ctr">
                      <a:solidFill>
                        <a:srgbClr val="24376B"/>
                      </a:solidFill>
                    </a:lnB>
                    <a:solidFill>
                      <a:schemeClr val="accent6"/>
                    </a:solidFill>
                  </a:tcPr>
                </a:tc>
              </a:tr>
              <a:tr h="548640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200">
                          <a:solidFill>
                            <a:schemeClr val="bg1"/>
                          </a:solidFill>
                          <a:latin typeface="Calibri"/>
                          <a:ea typeface="Calibri"/>
                          <a:cs typeface="Calibri"/>
                        </a:rPr>
                        <a:t>CNN réf.</a:t>
                      </a:r>
                      <a:endParaRPr lang="en-US"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36576" marB="36576" anchor="ctr">
                    <a:lnL w="9525" algn="ctr">
                      <a:solidFill>
                        <a:srgbClr val="24376B"/>
                      </a:solidFill>
                    </a:lnL>
                    <a:lnR w="9525" algn="ctr">
                      <a:solidFill>
                        <a:srgbClr val="24376B"/>
                      </a:solidFill>
                    </a:lnR>
                    <a:lnT w="9525" algn="ctr">
                      <a:solidFill>
                        <a:srgbClr val="24376B"/>
                      </a:solidFill>
                    </a:lnT>
                    <a:lnB w="9525" algn="ctr">
                      <a:solidFill>
                        <a:srgbClr val="24376B"/>
                      </a:solidFill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200">
                          <a:solidFill>
                            <a:schemeClr val="bg1"/>
                          </a:solidFill>
                          <a:latin typeface="Calibri"/>
                          <a:ea typeface="Calibri"/>
                          <a:cs typeface="Calibri"/>
                        </a:rPr>
                        <a:t>3 blocs Conv/Pool, dropout 0.30, Adam 1e-3</a:t>
                      </a:r>
                      <a:endParaRPr lang="en-US"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36576" marB="36576" anchor="ctr">
                    <a:lnL w="9525" algn="ctr">
                      <a:solidFill>
                        <a:srgbClr val="24376B"/>
                      </a:solidFill>
                    </a:lnL>
                    <a:lnR w="9525" algn="ctr">
                      <a:solidFill>
                        <a:srgbClr val="24376B"/>
                      </a:solidFill>
                    </a:lnR>
                    <a:lnT w="9525" algn="ctr">
                      <a:solidFill>
                        <a:srgbClr val="24376B"/>
                      </a:solidFill>
                    </a:lnT>
                    <a:lnB w="9525" algn="ctr">
                      <a:solidFill>
                        <a:srgbClr val="24376B"/>
                      </a:solidFill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200">
                          <a:solidFill>
                            <a:schemeClr val="bg1"/>
                          </a:solidFill>
                          <a:latin typeface="Calibri"/>
                          <a:ea typeface="Calibri"/>
                          <a:cs typeface="Calibri"/>
                        </a:rPr>
                        <a:t>0,5684</a:t>
                      </a:r>
                      <a:endParaRPr lang="en-US"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36576" marB="36576" anchor="ctr">
                    <a:lnL w="9525" algn="ctr">
                      <a:solidFill>
                        <a:srgbClr val="24376B"/>
                      </a:solidFill>
                    </a:lnL>
                    <a:lnR w="9525" algn="ctr">
                      <a:solidFill>
                        <a:srgbClr val="24376B"/>
                      </a:solidFill>
                    </a:lnR>
                    <a:lnT w="9525" algn="ctr">
                      <a:solidFill>
                        <a:srgbClr val="24376B"/>
                      </a:solidFill>
                    </a:lnT>
                    <a:lnB w="9525" algn="ctr">
                      <a:solidFill>
                        <a:srgbClr val="24376B"/>
                      </a:solidFill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200">
                          <a:solidFill>
                            <a:schemeClr val="bg1"/>
                          </a:solidFill>
                          <a:latin typeface="Calibri"/>
                          <a:ea typeface="Calibri"/>
                          <a:cs typeface="Calibri"/>
                        </a:rPr>
                        <a:t>base de comparaison</a:t>
                      </a:r>
                      <a:endParaRPr lang="en-US"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36576" marB="36576" anchor="ctr">
                    <a:lnL w="9525" algn="ctr">
                      <a:solidFill>
                        <a:srgbClr val="24376B"/>
                      </a:solidFill>
                    </a:lnL>
                    <a:lnR w="9525" algn="ctr">
                      <a:solidFill>
                        <a:srgbClr val="24376B"/>
                      </a:solidFill>
                    </a:lnR>
                    <a:lnT w="9525" algn="ctr">
                      <a:solidFill>
                        <a:srgbClr val="24376B"/>
                      </a:solidFill>
                    </a:lnT>
                    <a:lnB w="9525" algn="ctr">
                      <a:solidFill>
                        <a:srgbClr val="24376B"/>
                      </a:solidFill>
                    </a:lnB>
                    <a:solidFill>
                      <a:schemeClr val="tx2"/>
                    </a:solidFill>
                  </a:tcPr>
                </a:tc>
              </a:tr>
              <a:tr h="548640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200" b="1">
                          <a:solidFill>
                            <a:schemeClr val="bg1"/>
                          </a:solidFill>
                          <a:latin typeface="Calibri"/>
                          <a:ea typeface="Calibri"/>
                          <a:cs typeface="Calibri"/>
                        </a:rPr>
                        <a:t>Exp. 1</a:t>
                      </a:r>
                      <a:endParaRPr lang="en-US"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36576" marB="36576" anchor="ctr">
                    <a:lnL w="9525" algn="ctr">
                      <a:solidFill>
                        <a:srgbClr val="24376B"/>
                      </a:solidFill>
                    </a:lnL>
                    <a:lnR w="9525" algn="ctr">
                      <a:solidFill>
                        <a:srgbClr val="24376B"/>
                      </a:solidFill>
                    </a:lnR>
                    <a:lnT w="9525" algn="ctr">
                      <a:solidFill>
                        <a:srgbClr val="24376B"/>
                      </a:solidFill>
                    </a:lnT>
                    <a:lnB w="9525" algn="ctr">
                      <a:solidFill>
                        <a:srgbClr val="24376B"/>
                      </a:solidFill>
                    </a:lnB>
                    <a:solidFill>
                      <a:srgbClr val="0E3A4F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200" b="1">
                          <a:solidFill>
                            <a:schemeClr val="bg1"/>
                          </a:solidFill>
                          <a:latin typeface="Calibri"/>
                          <a:ea typeface="Calibri"/>
                          <a:cs typeface="Calibri"/>
                        </a:rPr>
                        <a:t>Augmentation : flip + rotation 0.05 + zoom 0.08</a:t>
                      </a:r>
                      <a:endParaRPr lang="en-US"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36576" marB="36576" anchor="ctr">
                    <a:lnL w="9525" algn="ctr">
                      <a:solidFill>
                        <a:srgbClr val="24376B"/>
                      </a:solidFill>
                    </a:lnL>
                    <a:lnR w="9525" algn="ctr">
                      <a:solidFill>
                        <a:srgbClr val="24376B"/>
                      </a:solidFill>
                    </a:lnR>
                    <a:lnT w="9525" algn="ctr">
                      <a:solidFill>
                        <a:srgbClr val="24376B"/>
                      </a:solidFill>
                    </a:lnT>
                    <a:lnB w="9525" algn="ctr">
                      <a:solidFill>
                        <a:srgbClr val="24376B"/>
                      </a:solidFill>
                    </a:lnB>
                    <a:solidFill>
                      <a:srgbClr val="0E3A4F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200" b="1">
                          <a:solidFill>
                            <a:schemeClr val="accent1"/>
                          </a:solidFill>
                          <a:latin typeface="Calibri"/>
                          <a:ea typeface="Calibri"/>
                          <a:cs typeface="Calibri"/>
                        </a:rPr>
                        <a:t>0,5818</a:t>
                      </a:r>
                      <a:endParaRPr lang="en-US"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36576" marB="36576" anchor="ctr">
                    <a:lnL w="9525" algn="ctr">
                      <a:solidFill>
                        <a:srgbClr val="24376B"/>
                      </a:solidFill>
                    </a:lnL>
                    <a:lnR w="9525" algn="ctr">
                      <a:solidFill>
                        <a:srgbClr val="24376B"/>
                      </a:solidFill>
                    </a:lnR>
                    <a:lnT w="9525" algn="ctr">
                      <a:solidFill>
                        <a:srgbClr val="24376B"/>
                      </a:solidFill>
                    </a:lnT>
                    <a:lnB w="9525" algn="ctr">
                      <a:solidFill>
                        <a:srgbClr val="24376B"/>
                      </a:solidFill>
                    </a:lnB>
                    <a:solidFill>
                      <a:srgbClr val="0E3A4F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200" b="1">
                          <a:solidFill>
                            <a:schemeClr val="bg1"/>
                          </a:solidFill>
                          <a:latin typeface="Calibri"/>
                          <a:ea typeface="Calibri"/>
                          <a:cs typeface="Calibri"/>
                        </a:rPr>
                        <a:t>meilleure validation (+0,013)</a:t>
                      </a:r>
                      <a:endParaRPr lang="en-US"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36576" marB="36576" anchor="ctr">
                    <a:lnL w="9525" algn="ctr">
                      <a:solidFill>
                        <a:srgbClr val="24376B"/>
                      </a:solidFill>
                    </a:lnL>
                    <a:lnR w="9525" algn="ctr">
                      <a:solidFill>
                        <a:srgbClr val="24376B"/>
                      </a:solidFill>
                    </a:lnR>
                    <a:lnT w="9525" algn="ctr">
                      <a:solidFill>
                        <a:srgbClr val="24376B"/>
                      </a:solidFill>
                    </a:lnT>
                    <a:lnB w="9525" algn="ctr">
                      <a:solidFill>
                        <a:srgbClr val="24376B"/>
                      </a:solidFill>
                    </a:lnB>
                    <a:solidFill>
                      <a:srgbClr val="0E3A4F"/>
                    </a:solidFill>
                  </a:tcPr>
                </a:tc>
              </a:tr>
              <a:tr h="384048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200">
                          <a:solidFill>
                            <a:schemeClr val="bg1"/>
                          </a:solidFill>
                          <a:latin typeface="Calibri"/>
                          <a:ea typeface="Calibri"/>
                          <a:cs typeface="Calibri"/>
                        </a:rPr>
                        <a:t>Exp. 2</a:t>
                      </a:r>
                      <a:endParaRPr lang="en-US"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36576" marB="36576" anchor="ctr">
                    <a:lnL w="9525" algn="ctr">
                      <a:solidFill>
                        <a:srgbClr val="24376B"/>
                      </a:solidFill>
                    </a:lnL>
                    <a:lnR w="9525" algn="ctr">
                      <a:solidFill>
                        <a:srgbClr val="24376B"/>
                      </a:solidFill>
                    </a:lnR>
                    <a:lnT w="9525" algn="ctr">
                      <a:solidFill>
                        <a:srgbClr val="24376B"/>
                      </a:solidFill>
                    </a:lnT>
                    <a:lnB w="9525" algn="ctr">
                      <a:solidFill>
                        <a:srgbClr val="24376B"/>
                      </a:solidFill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200">
                          <a:solidFill>
                            <a:schemeClr val="bg1"/>
                          </a:solidFill>
                          <a:latin typeface="Calibri"/>
                          <a:ea typeface="Calibri"/>
                          <a:cs typeface="Calibri"/>
                        </a:rPr>
                        <a:t>Dropout 0.50</a:t>
                      </a:r>
                      <a:endParaRPr lang="en-US"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36576" marB="36576" anchor="ctr">
                    <a:lnL w="9525" algn="ctr">
                      <a:solidFill>
                        <a:srgbClr val="24376B"/>
                      </a:solidFill>
                    </a:lnL>
                    <a:lnR w="9525" algn="ctr">
                      <a:solidFill>
                        <a:srgbClr val="24376B"/>
                      </a:solidFill>
                    </a:lnR>
                    <a:lnT w="9525" algn="ctr">
                      <a:solidFill>
                        <a:srgbClr val="24376B"/>
                      </a:solidFill>
                    </a:lnT>
                    <a:lnB w="9525" algn="ctr">
                      <a:solidFill>
                        <a:srgbClr val="24376B"/>
                      </a:solidFill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200">
                          <a:solidFill>
                            <a:schemeClr val="bg1"/>
                          </a:solidFill>
                          <a:latin typeface="Calibri"/>
                          <a:ea typeface="Calibri"/>
                          <a:cs typeface="Calibri"/>
                        </a:rPr>
                        <a:t>0,5486</a:t>
                      </a:r>
                      <a:endParaRPr lang="en-US"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36576" marB="36576" anchor="ctr">
                    <a:lnL w="9525" algn="ctr">
                      <a:solidFill>
                        <a:srgbClr val="24376B"/>
                      </a:solidFill>
                    </a:lnL>
                    <a:lnR w="9525" algn="ctr">
                      <a:solidFill>
                        <a:srgbClr val="24376B"/>
                      </a:solidFill>
                    </a:lnR>
                    <a:lnT w="9525" algn="ctr">
                      <a:solidFill>
                        <a:srgbClr val="24376B"/>
                      </a:solidFill>
                    </a:lnT>
                    <a:lnB w="9525" algn="ctr">
                      <a:solidFill>
                        <a:srgbClr val="24376B"/>
                      </a:solidFill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200">
                          <a:solidFill>
                            <a:schemeClr val="bg1"/>
                          </a:solidFill>
                          <a:latin typeface="Calibri"/>
                          <a:ea typeface="Calibri"/>
                          <a:cs typeface="Calibri"/>
                        </a:rPr>
                        <a:t>dégradation (−0,020)</a:t>
                      </a:r>
                      <a:endParaRPr lang="en-US"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36576" marB="36576" anchor="ctr">
                    <a:lnL w="9525" algn="ctr">
                      <a:solidFill>
                        <a:srgbClr val="24376B"/>
                      </a:solidFill>
                    </a:lnL>
                    <a:lnR w="9525" algn="ctr">
                      <a:solidFill>
                        <a:srgbClr val="24376B"/>
                      </a:solidFill>
                    </a:lnR>
                    <a:lnT w="9525" algn="ctr">
                      <a:solidFill>
                        <a:srgbClr val="24376B"/>
                      </a:solidFill>
                    </a:lnT>
                    <a:lnB w="9525" algn="ctr">
                      <a:solidFill>
                        <a:srgbClr val="24376B"/>
                      </a:solidFill>
                    </a:lnB>
                    <a:solidFill>
                      <a:schemeClr val="tx2"/>
                    </a:solidFill>
                  </a:tcPr>
                </a:tc>
              </a:tr>
              <a:tr h="384048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200">
                          <a:solidFill>
                            <a:schemeClr val="bg1"/>
                          </a:solidFill>
                          <a:latin typeface="Calibri"/>
                          <a:ea typeface="Calibri"/>
                          <a:cs typeface="Calibri"/>
                        </a:rPr>
                        <a:t>Exp. 3</a:t>
                      </a:r>
                      <a:endParaRPr lang="en-US"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36576" marB="36576" anchor="ctr">
                    <a:lnL w="9525" algn="ctr">
                      <a:solidFill>
                        <a:srgbClr val="24376B"/>
                      </a:solidFill>
                    </a:lnL>
                    <a:lnR w="9525" algn="ctr">
                      <a:solidFill>
                        <a:srgbClr val="24376B"/>
                      </a:solidFill>
                    </a:lnR>
                    <a:lnT w="9525" algn="ctr">
                      <a:solidFill>
                        <a:srgbClr val="24376B"/>
                      </a:solidFill>
                    </a:lnT>
                    <a:lnB w="9525" algn="ctr">
                      <a:solidFill>
                        <a:srgbClr val="24376B"/>
                      </a:solidFill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200">
                          <a:solidFill>
                            <a:schemeClr val="bg1"/>
                          </a:solidFill>
                          <a:latin typeface="Calibri"/>
                          <a:ea typeface="Calibri"/>
                          <a:cs typeface="Calibri"/>
                        </a:rPr>
                        <a:t>Learning rate 3e-4</a:t>
                      </a:r>
                      <a:endParaRPr lang="en-US"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36576" marB="36576" anchor="ctr">
                    <a:lnL w="9525" algn="ctr">
                      <a:solidFill>
                        <a:srgbClr val="24376B"/>
                      </a:solidFill>
                    </a:lnL>
                    <a:lnR w="9525" algn="ctr">
                      <a:solidFill>
                        <a:srgbClr val="24376B"/>
                      </a:solidFill>
                    </a:lnR>
                    <a:lnT w="9525" algn="ctr">
                      <a:solidFill>
                        <a:srgbClr val="24376B"/>
                      </a:solidFill>
                    </a:lnT>
                    <a:lnB w="9525" algn="ctr">
                      <a:solidFill>
                        <a:srgbClr val="24376B"/>
                      </a:solidFill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200">
                          <a:solidFill>
                            <a:schemeClr val="bg1"/>
                          </a:solidFill>
                          <a:latin typeface="Calibri"/>
                          <a:ea typeface="Calibri"/>
                          <a:cs typeface="Calibri"/>
                        </a:rPr>
                        <a:t>0,5606</a:t>
                      </a:r>
                      <a:endParaRPr lang="en-US"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36576" marB="36576" anchor="ctr">
                    <a:lnL w="9525" algn="ctr">
                      <a:solidFill>
                        <a:srgbClr val="24376B"/>
                      </a:solidFill>
                    </a:lnL>
                    <a:lnR w="9525" algn="ctr">
                      <a:solidFill>
                        <a:srgbClr val="24376B"/>
                      </a:solidFill>
                    </a:lnR>
                    <a:lnT w="9525" algn="ctr">
                      <a:solidFill>
                        <a:srgbClr val="24376B"/>
                      </a:solidFill>
                    </a:lnT>
                    <a:lnB w="9525" algn="ctr">
                      <a:solidFill>
                        <a:srgbClr val="24376B"/>
                      </a:solidFill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200">
                          <a:solidFill>
                            <a:schemeClr val="bg1"/>
                          </a:solidFill>
                          <a:latin typeface="Calibri"/>
                          <a:ea typeface="Calibri"/>
                          <a:cs typeface="Calibri"/>
                        </a:rPr>
                        <a:t>légère dégradation (−0,008)</a:t>
                      </a:r>
                      <a:endParaRPr lang="en-US"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36576" marB="36576" anchor="ctr">
                    <a:lnL w="9525" algn="ctr">
                      <a:solidFill>
                        <a:srgbClr val="24376B"/>
                      </a:solidFill>
                    </a:lnL>
                    <a:lnR w="9525" algn="ctr">
                      <a:solidFill>
                        <a:srgbClr val="24376B"/>
                      </a:solidFill>
                    </a:lnR>
                    <a:lnT w="9525" algn="ctr">
                      <a:solidFill>
                        <a:srgbClr val="24376B"/>
                      </a:solidFill>
                    </a:lnT>
                    <a:lnB w="9525" algn="ctr">
                      <a:solidFill>
                        <a:srgbClr val="24376B"/>
                      </a:solidFill>
                    </a:lnB>
                    <a:solidFill>
                      <a:schemeClr val="tx2"/>
                    </a:solidFill>
                  </a:tcPr>
                </a:tc>
              </a:tr>
              <a:tr h="548640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200">
                          <a:solidFill>
                            <a:schemeClr val="bg1"/>
                          </a:solidFill>
                          <a:latin typeface="Calibri"/>
                          <a:ea typeface="Calibri"/>
                          <a:cs typeface="Calibri"/>
                        </a:rPr>
                        <a:t>Baseline dense</a:t>
                      </a:r>
                      <a:endParaRPr lang="en-US"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36576" marB="36576" anchor="ctr">
                    <a:lnL w="9525" algn="ctr">
                      <a:solidFill>
                        <a:srgbClr val="24376B"/>
                      </a:solidFill>
                    </a:lnL>
                    <a:lnR w="9525" algn="ctr">
                      <a:solidFill>
                        <a:srgbClr val="24376B"/>
                      </a:solidFill>
                    </a:lnR>
                    <a:lnT w="9525" algn="ctr">
                      <a:solidFill>
                        <a:srgbClr val="24376B"/>
                      </a:solidFill>
                    </a:lnT>
                    <a:lnB w="9525" algn="ctr">
                      <a:solidFill>
                        <a:srgbClr val="24376B"/>
                      </a:solidFill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200">
                          <a:solidFill>
                            <a:schemeClr val="bg1"/>
                          </a:solidFill>
                          <a:latin typeface="Calibri"/>
                          <a:ea typeface="Calibri"/>
                          <a:cs typeface="Calibri"/>
                        </a:rPr>
                        <a:t>Flatten + Dense, sans convolution</a:t>
                      </a:r>
                      <a:endParaRPr lang="en-US"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36576" marB="36576" anchor="ctr">
                    <a:lnL w="9525" algn="ctr">
                      <a:solidFill>
                        <a:srgbClr val="24376B"/>
                      </a:solidFill>
                    </a:lnL>
                    <a:lnR w="9525" algn="ctr">
                      <a:solidFill>
                        <a:srgbClr val="24376B"/>
                      </a:solidFill>
                    </a:lnR>
                    <a:lnT w="9525" algn="ctr">
                      <a:solidFill>
                        <a:srgbClr val="24376B"/>
                      </a:solidFill>
                    </a:lnT>
                    <a:lnB w="9525" algn="ctr">
                      <a:solidFill>
                        <a:srgbClr val="24376B"/>
                      </a:solidFill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200">
                          <a:solidFill>
                            <a:schemeClr val="bg1"/>
                          </a:solidFill>
                          <a:latin typeface="Calibri"/>
                          <a:ea typeface="Calibri"/>
                          <a:cs typeface="Calibri"/>
                        </a:rPr>
                        <a:t>0,3683</a:t>
                      </a:r>
                      <a:endParaRPr lang="en-US"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36576" marB="36576" anchor="ctr">
                    <a:lnL w="9525" algn="ctr">
                      <a:solidFill>
                        <a:srgbClr val="24376B"/>
                      </a:solidFill>
                    </a:lnL>
                    <a:lnR w="9525" algn="ctr">
                      <a:solidFill>
                        <a:srgbClr val="24376B"/>
                      </a:solidFill>
                    </a:lnR>
                    <a:lnT w="9525" algn="ctr">
                      <a:solidFill>
                        <a:srgbClr val="24376B"/>
                      </a:solidFill>
                    </a:lnT>
                    <a:lnB w="9525" algn="ctr">
                      <a:solidFill>
                        <a:srgbClr val="24376B"/>
                      </a:solidFill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200">
                          <a:solidFill>
                            <a:schemeClr val="bg1"/>
                          </a:solidFill>
                          <a:latin typeface="Calibri"/>
                          <a:ea typeface="Calibri"/>
                          <a:cs typeface="Calibri"/>
                        </a:rPr>
                        <a:t>référence très inférieure</a:t>
                      </a:r>
                      <a:endParaRPr lang="en-US"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36576" marB="36576" anchor="ctr">
                    <a:lnL w="9525" algn="ctr">
                      <a:solidFill>
                        <a:srgbClr val="24376B"/>
                      </a:solidFill>
                    </a:lnL>
                    <a:lnR w="9525" algn="ctr">
                      <a:solidFill>
                        <a:srgbClr val="24376B"/>
                      </a:solidFill>
                    </a:lnR>
                    <a:lnT w="9525" algn="ctr">
                      <a:solidFill>
                        <a:srgbClr val="24376B"/>
                      </a:solidFill>
                    </a:lnT>
                    <a:lnB w="9525" algn="ctr">
                      <a:solidFill>
                        <a:srgbClr val="24376B"/>
                      </a:solidFill>
                    </a:lnB>
                    <a:solidFill>
                      <a:schemeClr val="tx2"/>
                    </a:solidFill>
                  </a:tcPr>
                </a:tc>
              </a:tr>
            </a:tbl>
          </a:graphicData>
        </a:graphic>
      </p:graphicFrame>
      <p:sp>
        <p:nvSpPr>
          <p:cNvPr id="662027828" name="whitecard-255"/>
          <p:cNvSpPr/>
          <p:nvPr/>
        </p:nvSpPr>
        <p:spPr bwMode="auto">
          <a:xfrm>
            <a:off x="7726680" y="1920240"/>
            <a:ext cx="3916375" cy="2834640"/>
          </a:xfrm>
          <a:prstGeom prst="roundRect">
            <a:avLst>
              <a:gd name="adj" fmla="val 3871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1011390014" name="img-256" descr="Comparaison des expériences — accuracy de validation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7836408" y="2191047"/>
            <a:ext cx="3696919" cy="2293026"/>
          </a:xfrm>
          <a:prstGeom prst="rect">
            <a:avLst/>
          </a:prstGeom>
        </p:spPr>
      </p:pic>
      <p:sp>
        <p:nvSpPr>
          <p:cNvPr id="644820599" name="highlight-257"/>
          <p:cNvSpPr/>
          <p:nvPr/>
        </p:nvSpPr>
        <p:spPr bwMode="auto">
          <a:xfrm>
            <a:off x="548640" y="4892039"/>
            <a:ext cx="11094415" cy="1234440"/>
          </a:xfrm>
          <a:prstGeom prst="roundRect">
            <a:avLst>
              <a:gd name="adj" fmla="val 8889"/>
            </a:avLst>
          </a:prstGeom>
          <a:solidFill>
            <a:schemeClr val="accent1">
              <a:alpha val="12000"/>
            </a:schemeClr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798896464" name="iconbg-258"/>
          <p:cNvSpPr/>
          <p:nvPr/>
        </p:nvSpPr>
        <p:spPr bwMode="auto">
          <a:xfrm>
            <a:off x="822960" y="5221224"/>
            <a:ext cx="566928" cy="566928"/>
          </a:xfrm>
          <a:prstGeom prst="ellipse">
            <a:avLst/>
          </a:prstGeom>
          <a:solidFill>
            <a:schemeClr val="accent1">
              <a:alpha val="14000"/>
            </a:schemeClr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016402247" name="icon-259" descr="icône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976031" y="5374295"/>
            <a:ext cx="260787" cy="260787"/>
          </a:xfrm>
          <a:prstGeom prst="rect">
            <a:avLst/>
          </a:prstGeom>
        </p:spPr>
      </p:pic>
      <p:sp>
        <p:nvSpPr>
          <p:cNvPr id="1933190199" name="text-260"/>
          <p:cNvSpPr txBox="1"/>
          <p:nvPr/>
        </p:nvSpPr>
        <p:spPr bwMode="auto">
          <a:xfrm>
            <a:off x="1645920" y="4983480"/>
            <a:ext cx="97228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800" b="1">
                <a:solidFill>
                  <a:schemeClr val="accent1"/>
                </a:solidFill>
              </a:rPr>
              <a:t>Modèle retenu : Exp. 1 — Data Augmentation</a:t>
            </a:r>
            <a:endParaRPr lang="en-US" sz="1800"/>
          </a:p>
        </p:txBody>
      </p:sp>
      <p:sp>
        <p:nvSpPr>
          <p:cNvPr id="606297027" name="text-261"/>
          <p:cNvSpPr txBox="1"/>
          <p:nvPr/>
        </p:nvSpPr>
        <p:spPr bwMode="auto">
          <a:xfrm>
            <a:off x="1645920" y="5394960"/>
            <a:ext cx="97228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400">
                <a:solidFill>
                  <a:schemeClr val="bg1"/>
                </a:solidFill>
              </a:rPr>
              <a:t>Critère : meilleure accuracy de validation (0,5818), sans consulter le jeu de test. Meilleur compromis généralisation / simplicité.</a:t>
            </a:r>
            <a:endParaRPr lang="en-US" sz="1400"/>
          </a:p>
        </p:txBody>
      </p:sp>
      <p:sp>
        <p:nvSpPr>
          <p:cNvPr id="2106434353" name="Slide Number Placeholder 0"/>
          <p:cNvSpPr>
            <a:spLocks noGrp="1"/>
          </p:cNvSpPr>
          <p:nvPr>
            <p:ph type="sldNum" sz="quarter" idx="4294967295"/>
          </p:nvPr>
        </p:nvSpPr>
        <p:spPr bwMode="auto">
          <a:xfrm>
            <a:off x="11183112" y="6400800"/>
            <a:ext cx="457200" cy="228600"/>
          </a:xfrm>
          <a:prstGeom prst="rect">
            <a:avLst/>
          </a:prstGeom>
        </p:spPr>
        <p:txBody>
          <a:bodyPr lIns="0" tIns="0" rIns="0" bIns="0"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r">
              <a:defRPr/>
            </a:pPr>
            <a:fld id="{F7021451-1387-4CA6-816F-3879F97B5CBC}" type="slidenum">
              <a:rPr lang="en-US" b="1"/>
              <a:t>12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3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5825978" name="Text 0"/>
          <p:cNvSpPr/>
          <p:nvPr>
            <p:ph type="body" idx="100" hasCustomPrompt="1"/>
          </p:nvPr>
        </p:nvSpPr>
        <p:spPr bwMode="auto"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 spc="300">
                <a:solidFill>
                  <a:schemeClr val="accent1"/>
                </a:solidFill>
              </a:rPr>
              <a:t>09 / TEST FINAL</a:t>
            </a:r>
            <a:endParaRPr lang="en-US" sz="1200"/>
          </a:p>
        </p:txBody>
      </p:sp>
      <p:sp>
        <p:nvSpPr>
          <p:cNvPr id="50837940" name="Text 0"/>
          <p:cNvSpPr/>
          <p:nvPr>
            <p:ph type="title" idx="101" hasCustomPrompt="1"/>
          </p:nvPr>
        </p:nvSpPr>
        <p:spPr bwMode="auto"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3400" b="1">
                <a:solidFill>
                  <a:schemeClr val="bg1"/>
                </a:solidFill>
              </a:rPr>
              <a:t>Performances du modèle retenu</a:t>
            </a:r>
            <a:endParaRPr lang="en-US" sz="3400"/>
          </a:p>
        </p:txBody>
      </p:sp>
      <p:sp>
        <p:nvSpPr>
          <p:cNvPr id="2112613603" name="Text 0"/>
          <p:cNvSpPr/>
          <p:nvPr>
            <p:ph type="body" idx="102" hasCustomPrompt="1"/>
          </p:nvPr>
        </p:nvSpPr>
        <p:spPr bwMode="auto">
          <a:xfrm>
            <a:off x="548640" y="138988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00">
                <a:solidFill>
                  <a:schemeClr val="bg2"/>
                </a:solidFill>
              </a:rPr>
              <a:t>Le jeu de test n’est utilisé qu’après le choix du meilleur modèle sur validation.</a:t>
            </a:r>
            <a:endParaRPr lang="en-US" sz="1500"/>
          </a:p>
        </p:txBody>
      </p:sp>
      <p:sp>
        <p:nvSpPr>
          <p:cNvPr id="76761204" name="whitecard-262"/>
          <p:cNvSpPr/>
          <p:nvPr/>
        </p:nvSpPr>
        <p:spPr bwMode="auto">
          <a:xfrm>
            <a:off x="548640" y="1920240"/>
            <a:ext cx="4617720" cy="4206240"/>
          </a:xfrm>
          <a:prstGeom prst="roundRect">
            <a:avLst>
              <a:gd name="adj" fmla="val 2609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101512192" name="img-263" descr="Matrice de confusion normalisée — test final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658368" y="2032690"/>
            <a:ext cx="4398264" cy="3981339"/>
          </a:xfrm>
          <a:prstGeom prst="rect">
            <a:avLst/>
          </a:prstGeom>
        </p:spPr>
      </p:pic>
      <p:sp>
        <p:nvSpPr>
          <p:cNvPr id="1853604631" name="card-264"/>
          <p:cNvSpPr/>
          <p:nvPr/>
        </p:nvSpPr>
        <p:spPr bwMode="auto">
          <a:xfrm>
            <a:off x="5440680" y="1920240"/>
            <a:ext cx="1915058" cy="1051560"/>
          </a:xfrm>
          <a:prstGeom prst="roundRect">
            <a:avLst>
              <a:gd name="adj" fmla="val 10435"/>
            </a:avLst>
          </a:prstGeom>
          <a:solidFill>
            <a:schemeClr val="tx2">
              <a:alpha val="92000"/>
            </a:schemeClr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987038508" name="text-265"/>
          <p:cNvSpPr txBox="1"/>
          <p:nvPr/>
        </p:nvSpPr>
        <p:spPr bwMode="auto">
          <a:xfrm>
            <a:off x="5577840" y="2029968"/>
            <a:ext cx="1640738" cy="578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2600" b="1">
                <a:solidFill>
                  <a:schemeClr val="accent1"/>
                </a:solidFill>
              </a:rPr>
              <a:t>59,57 %</a:t>
            </a:r>
            <a:endParaRPr lang="en-US" sz="2600"/>
          </a:p>
        </p:txBody>
      </p:sp>
      <p:sp>
        <p:nvSpPr>
          <p:cNvPr id="1393544146" name="text-266"/>
          <p:cNvSpPr txBox="1"/>
          <p:nvPr/>
        </p:nvSpPr>
        <p:spPr bwMode="auto">
          <a:xfrm>
            <a:off x="5577840" y="2572207"/>
            <a:ext cx="1640738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  <a:defRPr/>
            </a:pPr>
            <a:r>
              <a:rPr lang="en-US" sz="1100" spc="200">
                <a:solidFill>
                  <a:schemeClr val="bg2"/>
                </a:solidFill>
              </a:rPr>
              <a:t>ACCURACY</a:t>
            </a:r>
            <a:endParaRPr lang="en-US" sz="1100"/>
          </a:p>
        </p:txBody>
      </p:sp>
      <p:sp>
        <p:nvSpPr>
          <p:cNvPr id="21382635" name="card-267"/>
          <p:cNvSpPr/>
          <p:nvPr/>
        </p:nvSpPr>
        <p:spPr bwMode="auto">
          <a:xfrm>
            <a:off x="7584338" y="1920240"/>
            <a:ext cx="1915058" cy="1051560"/>
          </a:xfrm>
          <a:prstGeom prst="roundRect">
            <a:avLst>
              <a:gd name="adj" fmla="val 10435"/>
            </a:avLst>
          </a:prstGeom>
          <a:solidFill>
            <a:schemeClr val="tx2">
              <a:alpha val="92000"/>
            </a:schemeClr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97230267" name="text-268"/>
          <p:cNvSpPr txBox="1"/>
          <p:nvPr/>
        </p:nvSpPr>
        <p:spPr bwMode="auto">
          <a:xfrm>
            <a:off x="7721498" y="2029968"/>
            <a:ext cx="1640738" cy="578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2600" b="1">
                <a:solidFill>
                  <a:schemeClr val="accent1"/>
                </a:solidFill>
              </a:rPr>
              <a:t>0,5406</a:t>
            </a:r>
            <a:endParaRPr lang="en-US" sz="2600"/>
          </a:p>
        </p:txBody>
      </p:sp>
      <p:sp>
        <p:nvSpPr>
          <p:cNvPr id="681684441" name="text-269"/>
          <p:cNvSpPr txBox="1"/>
          <p:nvPr/>
        </p:nvSpPr>
        <p:spPr bwMode="auto">
          <a:xfrm>
            <a:off x="7721498" y="2572207"/>
            <a:ext cx="1640738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  <a:defRPr/>
            </a:pPr>
            <a:r>
              <a:rPr lang="en-US" sz="1100" spc="200">
                <a:solidFill>
                  <a:schemeClr val="bg2"/>
                </a:solidFill>
              </a:rPr>
              <a:t>MACRO-F1</a:t>
            </a:r>
            <a:endParaRPr lang="en-US" sz="1100"/>
          </a:p>
        </p:txBody>
      </p:sp>
      <p:sp>
        <p:nvSpPr>
          <p:cNvPr id="786992316" name="card-270"/>
          <p:cNvSpPr/>
          <p:nvPr/>
        </p:nvSpPr>
        <p:spPr bwMode="auto">
          <a:xfrm>
            <a:off x="9727997" y="1920240"/>
            <a:ext cx="1915058" cy="1051560"/>
          </a:xfrm>
          <a:prstGeom prst="roundRect">
            <a:avLst>
              <a:gd name="adj" fmla="val 10435"/>
            </a:avLst>
          </a:prstGeom>
          <a:solidFill>
            <a:schemeClr val="tx2">
              <a:alpha val="92000"/>
            </a:schemeClr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62535154" name="text-271"/>
          <p:cNvSpPr txBox="1"/>
          <p:nvPr/>
        </p:nvSpPr>
        <p:spPr bwMode="auto">
          <a:xfrm>
            <a:off x="9865157" y="2029968"/>
            <a:ext cx="1640738" cy="578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2600" b="1">
                <a:solidFill>
                  <a:schemeClr val="accent1"/>
                </a:solidFill>
              </a:rPr>
              <a:t>0,5901</a:t>
            </a:r>
            <a:endParaRPr lang="en-US" sz="2600"/>
          </a:p>
        </p:txBody>
      </p:sp>
      <p:sp>
        <p:nvSpPr>
          <p:cNvPr id="1318285824" name="text-272"/>
          <p:cNvSpPr txBox="1"/>
          <p:nvPr/>
        </p:nvSpPr>
        <p:spPr bwMode="auto">
          <a:xfrm>
            <a:off x="9865157" y="2572207"/>
            <a:ext cx="1640738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  <a:defRPr/>
            </a:pPr>
            <a:r>
              <a:rPr lang="en-US" sz="1100" spc="200">
                <a:solidFill>
                  <a:schemeClr val="bg2"/>
                </a:solidFill>
              </a:rPr>
              <a:t>WEIGHTED F1</a:t>
            </a:r>
            <a:endParaRPr lang="en-US" sz="1100"/>
          </a:p>
        </p:txBody>
      </p:sp>
      <p:sp>
        <p:nvSpPr>
          <p:cNvPr id="1820945124" name="card-273"/>
          <p:cNvSpPr/>
          <p:nvPr/>
        </p:nvSpPr>
        <p:spPr bwMode="auto">
          <a:xfrm>
            <a:off x="5440680" y="3154680"/>
            <a:ext cx="6202375" cy="2971800"/>
          </a:xfrm>
          <a:prstGeom prst="roundRect">
            <a:avLst>
              <a:gd name="adj" fmla="val 3692"/>
            </a:avLst>
          </a:prstGeom>
          <a:solidFill>
            <a:schemeClr val="tx2">
              <a:alpha val="92000"/>
            </a:schemeClr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519923481" name="text-274"/>
          <p:cNvSpPr txBox="1"/>
          <p:nvPr/>
        </p:nvSpPr>
        <p:spPr bwMode="auto">
          <a:xfrm>
            <a:off x="5715000" y="3264408"/>
            <a:ext cx="56537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chemeClr val="accent1"/>
                </a:solidFill>
              </a:rPr>
              <a:t>Lecture de la matrice (PrivateTest)</a:t>
            </a:r>
            <a:endParaRPr lang="en-US" sz="1600"/>
          </a:p>
        </p:txBody>
      </p:sp>
      <p:sp>
        <p:nvSpPr>
          <p:cNvPr id="1809235890" name="text-275"/>
          <p:cNvSpPr txBox="1"/>
          <p:nvPr/>
        </p:nvSpPr>
        <p:spPr bwMode="auto">
          <a:xfrm>
            <a:off x="5715000" y="3703320"/>
            <a:ext cx="5653735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200"/>
              </a:spcAft>
              <a:buSzPct val="100000"/>
              <a:buChar char="•"/>
              <a:defRPr/>
            </a:pPr>
            <a:r>
              <a:rPr lang="en-US" sz="1600">
                <a:solidFill>
                  <a:schemeClr val="bg1"/>
                </a:solidFill>
              </a:rPr>
              <a:t>Meilleurs rappels : Happy 0,8248 ; Neutral 0,6677 ; Surprise 0,6635</a:t>
            </a:r>
            <a:endParaRPr lang="en-US" sz="1600"/>
          </a:p>
          <a:p>
            <a:pPr marL="203200" indent="-203200">
              <a:spcAft>
                <a:spcPts val="1200"/>
              </a:spcAft>
              <a:buSzPct val="100000"/>
              <a:buChar char="•"/>
              <a:defRPr/>
            </a:pPr>
            <a:r>
              <a:rPr lang="en-US" sz="1600">
                <a:solidFill>
                  <a:schemeClr val="bg1"/>
                </a:solidFill>
              </a:rPr>
              <a:t>Rappel le plus faible : Disgust 0,2182</a:t>
            </a:r>
            <a:endParaRPr lang="en-US" sz="1600"/>
          </a:p>
          <a:p>
            <a:pPr marL="203200" indent="-203200">
              <a:spcAft>
                <a:spcPts val="1200"/>
              </a:spcAft>
              <a:buSzPct val="100000"/>
              <a:buChar char="•"/>
              <a:defRPr/>
            </a:pPr>
            <a:r>
              <a:rPr lang="en-US" sz="1600">
                <a:solidFill>
                  <a:schemeClr val="bg1"/>
                </a:solidFill>
              </a:rPr>
              <a:t>Confusions dominantes : Sad → Neutral (139), Fear → Sad (97), Fear → Angry (95)</a:t>
            </a:r>
            <a:endParaRPr lang="en-US" sz="1600"/>
          </a:p>
          <a:p>
            <a:pPr marL="203200" indent="-203200">
              <a:spcAft>
                <a:spcPts val="1200"/>
              </a:spcAft>
              <a:buSzPct val="100000"/>
              <a:buChar char="•"/>
              <a:defRPr/>
            </a:pPr>
            <a:r>
              <a:rPr lang="en-US" sz="1600">
                <a:solidFill>
                  <a:schemeClr val="bg1"/>
                </a:solidFill>
              </a:rPr>
              <a:t>Comparaison valide sur validation : 56,84 % → 58,18 % (+1,34 point)</a:t>
            </a:r>
            <a:endParaRPr lang="en-US" sz="1600"/>
          </a:p>
        </p:txBody>
      </p:sp>
      <p:sp>
        <p:nvSpPr>
          <p:cNvPr id="196529559" name="Slide Number Placeholder 0"/>
          <p:cNvSpPr>
            <a:spLocks noGrp="1"/>
          </p:cNvSpPr>
          <p:nvPr>
            <p:ph type="sldNum" sz="quarter" idx="4294967295"/>
          </p:nvPr>
        </p:nvSpPr>
        <p:spPr bwMode="auto">
          <a:xfrm>
            <a:off x="11183112" y="6400800"/>
            <a:ext cx="457200" cy="228600"/>
          </a:xfrm>
          <a:prstGeom prst="rect">
            <a:avLst/>
          </a:prstGeom>
        </p:spPr>
        <p:txBody>
          <a:bodyPr lIns="0" tIns="0" rIns="0" bIns="0"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r">
              <a:defRPr/>
            </a:pPr>
            <a:fld id="{F7021451-1387-4CA6-816F-3879F97B5CBC}" type="slidenum">
              <a:rPr lang="en-US" b="1"/>
              <a:t>13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4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4444264" name="Text 0"/>
          <p:cNvSpPr/>
          <p:nvPr>
            <p:ph type="body" idx="100" hasCustomPrompt="1"/>
          </p:nvPr>
        </p:nvSpPr>
        <p:spPr bwMode="auto"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 spc="300">
                <a:solidFill>
                  <a:schemeClr val="accent1"/>
                </a:solidFill>
              </a:rPr>
              <a:t>10 / ANALYSE DES ERREURS</a:t>
            </a:r>
            <a:endParaRPr lang="en-US" sz="1200"/>
          </a:p>
        </p:txBody>
      </p:sp>
      <p:sp>
        <p:nvSpPr>
          <p:cNvPr id="1484899321" name="Text 0"/>
          <p:cNvSpPr/>
          <p:nvPr>
            <p:ph type="title" idx="101" hasCustomPrompt="1"/>
          </p:nvPr>
        </p:nvSpPr>
        <p:spPr bwMode="auto"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3400" b="1">
                <a:solidFill>
                  <a:schemeClr val="bg1"/>
                </a:solidFill>
              </a:rPr>
              <a:t>Exemples de mauvaises prédictions</a:t>
            </a:r>
            <a:endParaRPr lang="en-US" sz="3400"/>
          </a:p>
        </p:txBody>
      </p:sp>
      <p:sp>
        <p:nvSpPr>
          <p:cNvPr id="2060991307" name="Text 0"/>
          <p:cNvSpPr/>
          <p:nvPr>
            <p:ph type="body" idx="102" hasCustomPrompt="1"/>
          </p:nvPr>
        </p:nvSpPr>
        <p:spPr bwMode="auto">
          <a:xfrm>
            <a:off x="548640" y="138988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00">
                <a:solidFill>
                  <a:schemeClr val="bg2"/>
                </a:solidFill>
              </a:rPr>
              <a:t>Les erreurs reflètent souvent des expressions ambiguës, peu marquées ou visuellement proches.</a:t>
            </a:r>
            <a:endParaRPr lang="en-US" sz="1500"/>
          </a:p>
        </p:txBody>
      </p:sp>
      <p:sp>
        <p:nvSpPr>
          <p:cNvPr id="1082024762" name="whitecard-276"/>
          <p:cNvSpPr/>
          <p:nvPr/>
        </p:nvSpPr>
        <p:spPr bwMode="auto">
          <a:xfrm>
            <a:off x="548640" y="1920240"/>
            <a:ext cx="4297680" cy="4206240"/>
          </a:xfrm>
          <a:prstGeom prst="roundRect">
            <a:avLst>
              <a:gd name="adj" fmla="val 2609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1894793683" name="img-277" descr="Exemples de mauvaises prédictions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770056" y="2029968"/>
            <a:ext cx="3854847" cy="3986784"/>
          </a:xfrm>
          <a:prstGeom prst="rect">
            <a:avLst/>
          </a:prstGeom>
        </p:spPr>
      </p:pic>
      <p:sp>
        <p:nvSpPr>
          <p:cNvPr id="320882466" name="highlight-278"/>
          <p:cNvSpPr/>
          <p:nvPr/>
        </p:nvSpPr>
        <p:spPr bwMode="auto">
          <a:xfrm>
            <a:off x="5120640" y="1920240"/>
            <a:ext cx="6522415" cy="914400"/>
          </a:xfrm>
          <a:prstGeom prst="roundRect">
            <a:avLst>
              <a:gd name="adj" fmla="val 12000"/>
            </a:avLst>
          </a:prstGeom>
          <a:solidFill>
            <a:schemeClr val="accent1">
              <a:alpha val="12000"/>
            </a:schemeClr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983296078" name="text-279"/>
          <p:cNvSpPr txBox="1"/>
          <p:nvPr/>
        </p:nvSpPr>
        <p:spPr bwMode="auto">
          <a:xfrm>
            <a:off x="5394960" y="1920240"/>
            <a:ext cx="59737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700" b="1">
                <a:solidFill>
                  <a:schemeClr val="bg1"/>
                </a:solidFill>
              </a:rPr>
              <a:t>Fear, Sad, Angry et Neutral sont souvent confondues entre elles.</a:t>
            </a:r>
            <a:endParaRPr lang="en-US" sz="1700"/>
          </a:p>
        </p:txBody>
      </p:sp>
      <p:sp>
        <p:nvSpPr>
          <p:cNvPr id="1847114403" name="card-280"/>
          <p:cNvSpPr/>
          <p:nvPr/>
        </p:nvSpPr>
        <p:spPr bwMode="auto">
          <a:xfrm>
            <a:off x="5120640" y="3063240"/>
            <a:ext cx="3146908" cy="1417320"/>
          </a:xfrm>
          <a:prstGeom prst="roundRect">
            <a:avLst>
              <a:gd name="adj" fmla="val 7742"/>
            </a:avLst>
          </a:prstGeom>
          <a:solidFill>
            <a:schemeClr val="tx2">
              <a:alpha val="92000"/>
            </a:schemeClr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101832110" name="iconbg-281"/>
          <p:cNvSpPr/>
          <p:nvPr/>
        </p:nvSpPr>
        <p:spPr bwMode="auto">
          <a:xfrm>
            <a:off x="5349240" y="3291840"/>
            <a:ext cx="548640" cy="548640"/>
          </a:xfrm>
          <a:prstGeom prst="ellipse">
            <a:avLst/>
          </a:prstGeom>
          <a:solidFill>
            <a:schemeClr val="accent1">
              <a:alpha val="14000"/>
            </a:schemeClr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80204278" name="icon-282" descr="icône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5497373" y="3439973"/>
            <a:ext cx="252374" cy="252374"/>
          </a:xfrm>
          <a:prstGeom prst="rect">
            <a:avLst/>
          </a:prstGeom>
        </p:spPr>
      </p:pic>
      <p:sp>
        <p:nvSpPr>
          <p:cNvPr id="997178702" name="text-283"/>
          <p:cNvSpPr txBox="1"/>
          <p:nvPr/>
        </p:nvSpPr>
        <p:spPr bwMode="auto">
          <a:xfrm>
            <a:off x="5349240" y="3931920"/>
            <a:ext cx="26897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400">
                <a:solidFill>
                  <a:schemeClr val="bg1"/>
                </a:solidFill>
              </a:rPr>
              <a:t>Probabilités modestes (≈ 0,3–0,6), signe d’incertitude</a:t>
            </a:r>
            <a:endParaRPr lang="en-US" sz="1400"/>
          </a:p>
        </p:txBody>
      </p:sp>
      <p:sp>
        <p:nvSpPr>
          <p:cNvPr id="1160337307" name="card-284"/>
          <p:cNvSpPr/>
          <p:nvPr/>
        </p:nvSpPr>
        <p:spPr bwMode="auto">
          <a:xfrm>
            <a:off x="8496148" y="3063240"/>
            <a:ext cx="3146908" cy="1417320"/>
          </a:xfrm>
          <a:prstGeom prst="roundRect">
            <a:avLst>
              <a:gd name="adj" fmla="val 7742"/>
            </a:avLst>
          </a:prstGeom>
          <a:solidFill>
            <a:schemeClr val="tx2">
              <a:alpha val="92000"/>
            </a:schemeClr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412161323" name="iconbg-285"/>
          <p:cNvSpPr/>
          <p:nvPr/>
        </p:nvSpPr>
        <p:spPr bwMode="auto">
          <a:xfrm>
            <a:off x="8724748" y="3291840"/>
            <a:ext cx="548640" cy="548640"/>
          </a:xfrm>
          <a:prstGeom prst="ellipse">
            <a:avLst/>
          </a:prstGeom>
          <a:solidFill>
            <a:schemeClr val="accent1">
              <a:alpha val="14000"/>
            </a:schemeClr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20174288" name="icon-286" descr="icône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8872880" y="3439973"/>
            <a:ext cx="252374" cy="252374"/>
          </a:xfrm>
          <a:prstGeom prst="rect">
            <a:avLst/>
          </a:prstGeom>
        </p:spPr>
      </p:pic>
      <p:sp>
        <p:nvSpPr>
          <p:cNvPr id="1064457073" name="text-287"/>
          <p:cNvSpPr txBox="1"/>
          <p:nvPr/>
        </p:nvSpPr>
        <p:spPr bwMode="auto">
          <a:xfrm>
            <a:off x="8724748" y="3931920"/>
            <a:ext cx="26897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400">
                <a:solidFill>
                  <a:schemeClr val="bg1"/>
                </a:solidFill>
              </a:rPr>
              <a:t>La résolution 48×48 limite l’accès aux micro-expressions</a:t>
            </a:r>
            <a:endParaRPr lang="en-US" sz="1400"/>
          </a:p>
        </p:txBody>
      </p:sp>
      <p:sp>
        <p:nvSpPr>
          <p:cNvPr id="1462422699" name="card-288"/>
          <p:cNvSpPr/>
          <p:nvPr/>
        </p:nvSpPr>
        <p:spPr bwMode="auto">
          <a:xfrm>
            <a:off x="5120640" y="4663440"/>
            <a:ext cx="3146908" cy="1417320"/>
          </a:xfrm>
          <a:prstGeom prst="roundRect">
            <a:avLst>
              <a:gd name="adj" fmla="val 7742"/>
            </a:avLst>
          </a:prstGeom>
          <a:solidFill>
            <a:schemeClr val="tx2">
              <a:alpha val="92000"/>
            </a:schemeClr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580247253" name="iconbg-289"/>
          <p:cNvSpPr/>
          <p:nvPr/>
        </p:nvSpPr>
        <p:spPr bwMode="auto">
          <a:xfrm>
            <a:off x="5349240" y="4892039"/>
            <a:ext cx="548640" cy="548640"/>
          </a:xfrm>
          <a:prstGeom prst="ellipse">
            <a:avLst/>
          </a:prstGeom>
          <a:solidFill>
            <a:schemeClr val="accent1">
              <a:alpha val="14000"/>
            </a:schemeClr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551128806" name="icon-290" descr="icône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5497373" y="5040173"/>
            <a:ext cx="252374" cy="252374"/>
          </a:xfrm>
          <a:prstGeom prst="rect">
            <a:avLst/>
          </a:prstGeom>
        </p:spPr>
      </p:pic>
      <p:sp>
        <p:nvSpPr>
          <p:cNvPr id="1285307006" name="text-291"/>
          <p:cNvSpPr txBox="1"/>
          <p:nvPr/>
        </p:nvSpPr>
        <p:spPr bwMode="auto">
          <a:xfrm>
            <a:off x="5349240" y="5532120"/>
            <a:ext cx="26897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400">
                <a:solidFill>
                  <a:schemeClr val="bg1"/>
                </a:solidFill>
              </a:rPr>
              <a:t>Certaines annotations du dataset sont discutables ou bruitées</a:t>
            </a:r>
            <a:endParaRPr lang="en-US" sz="1400"/>
          </a:p>
        </p:txBody>
      </p:sp>
      <p:sp>
        <p:nvSpPr>
          <p:cNvPr id="1025371825" name="card-292"/>
          <p:cNvSpPr/>
          <p:nvPr/>
        </p:nvSpPr>
        <p:spPr bwMode="auto">
          <a:xfrm>
            <a:off x="8496148" y="4663440"/>
            <a:ext cx="3146908" cy="1417320"/>
          </a:xfrm>
          <a:prstGeom prst="roundRect">
            <a:avLst>
              <a:gd name="adj" fmla="val 7742"/>
            </a:avLst>
          </a:prstGeom>
          <a:solidFill>
            <a:schemeClr val="tx2">
              <a:alpha val="92000"/>
            </a:schemeClr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547137124" name="iconbg-293"/>
          <p:cNvSpPr/>
          <p:nvPr/>
        </p:nvSpPr>
        <p:spPr bwMode="auto">
          <a:xfrm>
            <a:off x="8724748" y="4892039"/>
            <a:ext cx="548640" cy="548640"/>
          </a:xfrm>
          <a:prstGeom prst="ellipse">
            <a:avLst/>
          </a:prstGeom>
          <a:solidFill>
            <a:schemeClr val="accent1">
              <a:alpha val="14000"/>
            </a:schemeClr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296900432" name="icon-294" descr="icône"/>
          <p:cNvPicPr>
            <a:picLocks noChangeAspect="1"/>
          </p:cNvPicPr>
          <p:nvPr/>
        </p:nvPicPr>
        <p:blipFill rotWithShape="1">
          <a:blip r:embed="rId7"/>
          <a:stretch/>
        </p:blipFill>
        <p:spPr bwMode="auto">
          <a:xfrm>
            <a:off x="8872880" y="5040173"/>
            <a:ext cx="252374" cy="252374"/>
          </a:xfrm>
          <a:prstGeom prst="rect">
            <a:avLst/>
          </a:prstGeom>
        </p:spPr>
      </p:pic>
      <p:sp>
        <p:nvSpPr>
          <p:cNvPr id="1575747493" name="text-295"/>
          <p:cNvSpPr txBox="1"/>
          <p:nvPr/>
        </p:nvSpPr>
        <p:spPr bwMode="auto">
          <a:xfrm>
            <a:off x="8724748" y="5532120"/>
            <a:ext cx="26897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400">
                <a:solidFill>
                  <a:schemeClr val="bg1"/>
                </a:solidFill>
              </a:rPr>
              <a:t>Le déséquilibre de classe pénalise surtout Disgust</a:t>
            </a:r>
            <a:endParaRPr lang="en-US" sz="1400"/>
          </a:p>
        </p:txBody>
      </p:sp>
      <p:sp>
        <p:nvSpPr>
          <p:cNvPr id="369446234" name="Slide Number Placeholder 0"/>
          <p:cNvSpPr>
            <a:spLocks noGrp="1"/>
          </p:cNvSpPr>
          <p:nvPr>
            <p:ph type="sldNum" sz="quarter" idx="4294967295"/>
          </p:nvPr>
        </p:nvSpPr>
        <p:spPr bwMode="auto">
          <a:xfrm>
            <a:off x="11183112" y="6400800"/>
            <a:ext cx="457200" cy="228600"/>
          </a:xfrm>
          <a:prstGeom prst="rect">
            <a:avLst/>
          </a:prstGeom>
        </p:spPr>
        <p:txBody>
          <a:bodyPr lIns="0" tIns="0" rIns="0" bIns="0"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r">
              <a:defRPr/>
            </a:pPr>
            <a:fld id="{F7021451-1387-4CA6-816F-3879F97B5CBC}" type="slidenum">
              <a:rPr lang="en-US" b="1"/>
              <a:t>14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5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8043448" name="Text 0"/>
          <p:cNvSpPr/>
          <p:nvPr>
            <p:ph type="body" idx="100" hasCustomPrompt="1"/>
          </p:nvPr>
        </p:nvSpPr>
        <p:spPr bwMode="auto"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 spc="300">
                <a:solidFill>
                  <a:schemeClr val="accent1"/>
                </a:solidFill>
              </a:rPr>
              <a:t>10 / TEST — EXEMPLES</a:t>
            </a:r>
            <a:endParaRPr lang="en-US" sz="1200"/>
          </a:p>
        </p:txBody>
      </p:sp>
      <p:sp>
        <p:nvSpPr>
          <p:cNvPr id="397895049" name="Text 0"/>
          <p:cNvSpPr/>
          <p:nvPr>
            <p:ph type="title" idx="101" hasCustomPrompt="1"/>
          </p:nvPr>
        </p:nvSpPr>
        <p:spPr bwMode="auto"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3400" b="1">
                <a:solidFill>
                  <a:schemeClr val="bg1"/>
                </a:solidFill>
              </a:rPr>
              <a:t>Exemples de prédictions correctes</a:t>
            </a:r>
            <a:endParaRPr lang="en-US" sz="3400"/>
          </a:p>
        </p:txBody>
      </p:sp>
      <p:sp>
        <p:nvSpPr>
          <p:cNvPr id="1267790626" name="Text 0"/>
          <p:cNvSpPr/>
          <p:nvPr>
            <p:ph type="body" idx="102" hasCustomPrompt="1"/>
          </p:nvPr>
        </p:nvSpPr>
        <p:spPr bwMode="auto">
          <a:xfrm>
            <a:off x="548640" y="138988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00">
                <a:solidFill>
                  <a:schemeClr val="bg2"/>
                </a:solidFill>
              </a:rPr>
              <a:t>Quatre prédictions issues du jeu de test : image, vraie classe, classe prédite et score Softmax.</a:t>
            </a:r>
            <a:endParaRPr lang="en-US" sz="1500"/>
          </a:p>
        </p:txBody>
      </p:sp>
      <p:sp>
        <p:nvSpPr>
          <p:cNvPr id="741809195" name="card-296"/>
          <p:cNvSpPr/>
          <p:nvPr/>
        </p:nvSpPr>
        <p:spPr bwMode="auto">
          <a:xfrm>
            <a:off x="548640" y="1920240"/>
            <a:ext cx="2602154" cy="3520440"/>
          </a:xfrm>
          <a:prstGeom prst="roundRect">
            <a:avLst>
              <a:gd name="adj" fmla="val 4217"/>
            </a:avLst>
          </a:prstGeom>
          <a:solidFill>
            <a:schemeClr val="tx2">
              <a:alpha val="92000"/>
            </a:schemeClr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737059953" name="img-297" descr="Visage du jeu de test classé Joie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912457" y="2103120"/>
            <a:ext cx="1874520" cy="1848394"/>
          </a:xfrm>
          <a:prstGeom prst="rect">
            <a:avLst/>
          </a:prstGeom>
        </p:spPr>
      </p:pic>
      <p:sp>
        <p:nvSpPr>
          <p:cNvPr id="561994394" name="text-298"/>
          <p:cNvSpPr txBox="1"/>
          <p:nvPr/>
        </p:nvSpPr>
        <p:spPr bwMode="auto">
          <a:xfrm>
            <a:off x="640080" y="4088674"/>
            <a:ext cx="24192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300">
                <a:solidFill>
                  <a:schemeClr val="bg2"/>
                </a:solidFill>
              </a:rPr>
              <a:t>Vrai : Joie</a:t>
            </a:r>
            <a:endParaRPr lang="en-US" sz="1300"/>
          </a:p>
        </p:txBody>
      </p:sp>
      <p:sp>
        <p:nvSpPr>
          <p:cNvPr id="1179023487" name="text-299"/>
          <p:cNvSpPr txBox="1"/>
          <p:nvPr/>
        </p:nvSpPr>
        <p:spPr bwMode="auto">
          <a:xfrm>
            <a:off x="640080" y="4381282"/>
            <a:ext cx="241927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500" b="1">
                <a:solidFill>
                  <a:schemeClr val="bg1"/>
                </a:solidFill>
              </a:rPr>
              <a:t>Prédit : Joie</a:t>
            </a:r>
            <a:endParaRPr lang="en-US" sz="1500"/>
          </a:p>
        </p:txBody>
      </p:sp>
      <p:sp>
        <p:nvSpPr>
          <p:cNvPr id="1476087197" name="text-300"/>
          <p:cNvSpPr txBox="1"/>
          <p:nvPr/>
        </p:nvSpPr>
        <p:spPr bwMode="auto">
          <a:xfrm>
            <a:off x="640080" y="4728754"/>
            <a:ext cx="24192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2400" b="1">
                <a:solidFill>
                  <a:schemeClr val="accent5"/>
                </a:solidFill>
              </a:rPr>
              <a:t>P = 0,99</a:t>
            </a:r>
            <a:endParaRPr lang="en-US" sz="2400"/>
          </a:p>
        </p:txBody>
      </p:sp>
      <p:sp>
        <p:nvSpPr>
          <p:cNvPr id="1990984248" name="card-301"/>
          <p:cNvSpPr/>
          <p:nvPr/>
        </p:nvSpPr>
        <p:spPr bwMode="auto">
          <a:xfrm>
            <a:off x="3379394" y="1920240"/>
            <a:ext cx="2602154" cy="3520440"/>
          </a:xfrm>
          <a:prstGeom prst="roundRect">
            <a:avLst>
              <a:gd name="adj" fmla="val 4217"/>
            </a:avLst>
          </a:prstGeom>
          <a:solidFill>
            <a:schemeClr val="tx2">
              <a:alpha val="92000"/>
            </a:schemeClr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1918589879" name="img-302" descr="Visage du jeu de test classé Surprise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3743211" y="2103120"/>
            <a:ext cx="1874520" cy="1848394"/>
          </a:xfrm>
          <a:prstGeom prst="rect">
            <a:avLst/>
          </a:prstGeom>
        </p:spPr>
      </p:pic>
      <p:sp>
        <p:nvSpPr>
          <p:cNvPr id="1701568721" name="text-303"/>
          <p:cNvSpPr txBox="1"/>
          <p:nvPr/>
        </p:nvSpPr>
        <p:spPr bwMode="auto">
          <a:xfrm>
            <a:off x="3470834" y="4088674"/>
            <a:ext cx="24192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300">
                <a:solidFill>
                  <a:schemeClr val="bg2"/>
                </a:solidFill>
              </a:rPr>
              <a:t>Vrai : Surprise</a:t>
            </a:r>
            <a:endParaRPr lang="en-US" sz="1300"/>
          </a:p>
        </p:txBody>
      </p:sp>
      <p:sp>
        <p:nvSpPr>
          <p:cNvPr id="434546222" name="text-304"/>
          <p:cNvSpPr txBox="1"/>
          <p:nvPr/>
        </p:nvSpPr>
        <p:spPr bwMode="auto">
          <a:xfrm>
            <a:off x="3470834" y="4381282"/>
            <a:ext cx="241927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500" b="1">
                <a:solidFill>
                  <a:schemeClr val="bg1"/>
                </a:solidFill>
              </a:rPr>
              <a:t>Prédit : Surprise</a:t>
            </a:r>
            <a:endParaRPr lang="en-US" sz="1500"/>
          </a:p>
        </p:txBody>
      </p:sp>
      <p:sp>
        <p:nvSpPr>
          <p:cNvPr id="661693457" name="text-305"/>
          <p:cNvSpPr txBox="1"/>
          <p:nvPr/>
        </p:nvSpPr>
        <p:spPr bwMode="auto">
          <a:xfrm>
            <a:off x="3470834" y="4728754"/>
            <a:ext cx="24192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2400" b="1">
                <a:solidFill>
                  <a:schemeClr val="accent5"/>
                </a:solidFill>
              </a:rPr>
              <a:t>P = 0,82</a:t>
            </a:r>
            <a:endParaRPr lang="en-US" sz="2400"/>
          </a:p>
        </p:txBody>
      </p:sp>
      <p:sp>
        <p:nvSpPr>
          <p:cNvPr id="1456178909" name="card-306"/>
          <p:cNvSpPr/>
          <p:nvPr/>
        </p:nvSpPr>
        <p:spPr bwMode="auto">
          <a:xfrm>
            <a:off x="6210148" y="1920240"/>
            <a:ext cx="2602154" cy="3520440"/>
          </a:xfrm>
          <a:prstGeom prst="roundRect">
            <a:avLst>
              <a:gd name="adj" fmla="val 4217"/>
            </a:avLst>
          </a:prstGeom>
          <a:solidFill>
            <a:schemeClr val="tx2">
              <a:alpha val="92000"/>
            </a:schemeClr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711319854" name="img-307" descr="Visage du jeu de test classé Neutre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6573964" y="2103120"/>
            <a:ext cx="1874520" cy="1848394"/>
          </a:xfrm>
          <a:prstGeom prst="rect">
            <a:avLst/>
          </a:prstGeom>
        </p:spPr>
      </p:pic>
      <p:sp>
        <p:nvSpPr>
          <p:cNvPr id="944809412" name="text-308"/>
          <p:cNvSpPr txBox="1"/>
          <p:nvPr/>
        </p:nvSpPr>
        <p:spPr bwMode="auto">
          <a:xfrm>
            <a:off x="6301588" y="4088674"/>
            <a:ext cx="24192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300">
                <a:solidFill>
                  <a:schemeClr val="bg2"/>
                </a:solidFill>
              </a:rPr>
              <a:t>Vrai : Neutre</a:t>
            </a:r>
            <a:endParaRPr lang="en-US" sz="1300"/>
          </a:p>
        </p:txBody>
      </p:sp>
      <p:sp>
        <p:nvSpPr>
          <p:cNvPr id="1371217341" name="text-309"/>
          <p:cNvSpPr txBox="1"/>
          <p:nvPr/>
        </p:nvSpPr>
        <p:spPr bwMode="auto">
          <a:xfrm>
            <a:off x="6301588" y="4381282"/>
            <a:ext cx="241927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500" b="1">
                <a:solidFill>
                  <a:schemeClr val="bg1"/>
                </a:solidFill>
              </a:rPr>
              <a:t>Prédit : Neutre</a:t>
            </a:r>
            <a:endParaRPr lang="en-US" sz="1500"/>
          </a:p>
        </p:txBody>
      </p:sp>
      <p:sp>
        <p:nvSpPr>
          <p:cNvPr id="1428204253" name="text-310"/>
          <p:cNvSpPr txBox="1"/>
          <p:nvPr/>
        </p:nvSpPr>
        <p:spPr bwMode="auto">
          <a:xfrm>
            <a:off x="6301588" y="4728754"/>
            <a:ext cx="24192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2400" b="1">
                <a:solidFill>
                  <a:schemeClr val="accent5"/>
                </a:solidFill>
              </a:rPr>
              <a:t>P = 0,86</a:t>
            </a:r>
            <a:endParaRPr lang="en-US" sz="2400"/>
          </a:p>
        </p:txBody>
      </p:sp>
      <p:sp>
        <p:nvSpPr>
          <p:cNvPr id="394293561" name="card-311"/>
          <p:cNvSpPr/>
          <p:nvPr/>
        </p:nvSpPr>
        <p:spPr bwMode="auto">
          <a:xfrm>
            <a:off x="9040901" y="1920240"/>
            <a:ext cx="2602154" cy="3520440"/>
          </a:xfrm>
          <a:prstGeom prst="roundRect">
            <a:avLst>
              <a:gd name="adj" fmla="val 4217"/>
            </a:avLst>
          </a:prstGeom>
          <a:solidFill>
            <a:schemeClr val="tx2">
              <a:alpha val="92000"/>
            </a:schemeClr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675245352" name="img-312" descr="Visage du jeu de test classé Tristesse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9404718" y="2103120"/>
            <a:ext cx="1874520" cy="1848394"/>
          </a:xfrm>
          <a:prstGeom prst="rect">
            <a:avLst/>
          </a:prstGeom>
        </p:spPr>
      </p:pic>
      <p:sp>
        <p:nvSpPr>
          <p:cNvPr id="371865057" name="text-313"/>
          <p:cNvSpPr txBox="1"/>
          <p:nvPr/>
        </p:nvSpPr>
        <p:spPr bwMode="auto">
          <a:xfrm>
            <a:off x="9132341" y="4088674"/>
            <a:ext cx="24192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300">
                <a:solidFill>
                  <a:schemeClr val="bg2"/>
                </a:solidFill>
              </a:rPr>
              <a:t>Vrai : Tristesse</a:t>
            </a:r>
            <a:endParaRPr lang="en-US" sz="1300"/>
          </a:p>
        </p:txBody>
      </p:sp>
      <p:sp>
        <p:nvSpPr>
          <p:cNvPr id="2047446890" name="text-314"/>
          <p:cNvSpPr txBox="1"/>
          <p:nvPr/>
        </p:nvSpPr>
        <p:spPr bwMode="auto">
          <a:xfrm>
            <a:off x="9132341" y="4381282"/>
            <a:ext cx="241927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500" b="1">
                <a:solidFill>
                  <a:schemeClr val="bg1"/>
                </a:solidFill>
              </a:rPr>
              <a:t>Prédit : Tristesse</a:t>
            </a:r>
            <a:endParaRPr lang="en-US" sz="1500"/>
          </a:p>
        </p:txBody>
      </p:sp>
      <p:sp>
        <p:nvSpPr>
          <p:cNvPr id="1917201256" name="text-315"/>
          <p:cNvSpPr txBox="1"/>
          <p:nvPr/>
        </p:nvSpPr>
        <p:spPr bwMode="auto">
          <a:xfrm>
            <a:off x="9132341" y="4728754"/>
            <a:ext cx="24192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2400" b="1">
                <a:solidFill>
                  <a:schemeClr val="accent4"/>
                </a:solidFill>
              </a:rPr>
              <a:t>P = 0,37</a:t>
            </a:r>
            <a:endParaRPr lang="en-US" sz="2400"/>
          </a:p>
        </p:txBody>
      </p:sp>
      <p:sp>
        <p:nvSpPr>
          <p:cNvPr id="1628999480" name="highlight-316"/>
          <p:cNvSpPr/>
          <p:nvPr/>
        </p:nvSpPr>
        <p:spPr bwMode="auto">
          <a:xfrm>
            <a:off x="548640" y="5596128"/>
            <a:ext cx="11094415" cy="530352"/>
          </a:xfrm>
          <a:prstGeom prst="roundRect">
            <a:avLst>
              <a:gd name="adj" fmla="val 20690"/>
            </a:avLst>
          </a:prstGeom>
          <a:solidFill>
            <a:schemeClr val="accent1">
              <a:alpha val="12000"/>
            </a:schemeClr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038685905" name="text-317"/>
          <p:cNvSpPr txBox="1"/>
          <p:nvPr/>
        </p:nvSpPr>
        <p:spPr bwMode="auto">
          <a:xfrm>
            <a:off x="822960" y="5596128"/>
            <a:ext cx="1054577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chemeClr val="accent1"/>
                </a:solidFill>
              </a:rPr>
              <a:t>Attention : </a:t>
            </a:r>
            <a:r>
              <a:rPr lang="en-US" sz="1400">
                <a:solidFill>
                  <a:schemeClr val="bg1"/>
                </a:solidFill>
              </a:rPr>
              <a:t>un score Softmax élevé n’est pas une garantie de fiabilité ; même une prédiction correcte peut avoir une confiance faible.</a:t>
            </a:r>
            <a:endParaRPr lang="en-US" sz="1400"/>
          </a:p>
        </p:txBody>
      </p:sp>
      <p:sp>
        <p:nvSpPr>
          <p:cNvPr id="1012309610" name="Slide Number Placeholder 0"/>
          <p:cNvSpPr>
            <a:spLocks noGrp="1"/>
          </p:cNvSpPr>
          <p:nvPr>
            <p:ph type="sldNum" sz="quarter" idx="4294967295"/>
          </p:nvPr>
        </p:nvSpPr>
        <p:spPr bwMode="auto">
          <a:xfrm>
            <a:off x="11183112" y="6400800"/>
            <a:ext cx="457200" cy="228600"/>
          </a:xfrm>
          <a:prstGeom prst="rect">
            <a:avLst/>
          </a:prstGeom>
        </p:spPr>
        <p:txBody>
          <a:bodyPr lIns="0" tIns="0" rIns="0" bIns="0"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r">
              <a:defRPr/>
            </a:pPr>
            <a:fld id="{F7021451-1387-4CA6-816F-3879F97B5CBC}" type="slidenum">
              <a:rPr lang="en-US" b="1"/>
              <a:t>15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6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9952997" name="Text 0"/>
          <p:cNvSpPr/>
          <p:nvPr>
            <p:ph type="body" idx="100" hasCustomPrompt="1"/>
          </p:nvPr>
        </p:nvSpPr>
        <p:spPr bwMode="auto"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 spc="300">
                <a:solidFill>
                  <a:schemeClr val="accent1"/>
                </a:solidFill>
              </a:rPr>
              <a:t>11 / ENRICHISSEMENT</a:t>
            </a:r>
            <a:endParaRPr lang="en-US" sz="1200"/>
          </a:p>
        </p:txBody>
      </p:sp>
      <p:sp>
        <p:nvSpPr>
          <p:cNvPr id="1047456127" name="Text 0"/>
          <p:cNvSpPr/>
          <p:nvPr>
            <p:ph type="title" idx="101" hasCustomPrompt="1"/>
          </p:nvPr>
        </p:nvSpPr>
        <p:spPr bwMode="auto"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3400" b="1">
                <a:solidFill>
                  <a:schemeClr val="bg1"/>
                </a:solidFill>
              </a:rPr>
              <a:t>Transfer Learning : MobileNetV2</a:t>
            </a:r>
            <a:endParaRPr lang="en-US" sz="3400"/>
          </a:p>
        </p:txBody>
      </p:sp>
      <p:sp>
        <p:nvSpPr>
          <p:cNvPr id="2027362296" name="Text 0"/>
          <p:cNvSpPr/>
          <p:nvPr>
            <p:ph type="body" idx="102" hasCustomPrompt="1"/>
          </p:nvPr>
        </p:nvSpPr>
        <p:spPr bwMode="auto">
          <a:xfrm>
            <a:off x="548640" y="138988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00">
                <a:solidFill>
                  <a:schemeClr val="bg2"/>
                </a:solidFill>
              </a:rPr>
              <a:t>Exploration d’un modèle pré-entraîné comme enrichissement supplémentaire.</a:t>
            </a:r>
            <a:endParaRPr lang="en-US" sz="1500"/>
          </a:p>
        </p:txBody>
      </p:sp>
      <p:sp>
        <p:nvSpPr>
          <p:cNvPr id="2022065963" name="card-318"/>
          <p:cNvSpPr/>
          <p:nvPr/>
        </p:nvSpPr>
        <p:spPr bwMode="auto">
          <a:xfrm>
            <a:off x="548640" y="1920240"/>
            <a:ext cx="4663440" cy="2926080"/>
          </a:xfrm>
          <a:prstGeom prst="roundRect">
            <a:avLst>
              <a:gd name="adj" fmla="val 3750"/>
            </a:avLst>
          </a:prstGeom>
          <a:solidFill>
            <a:schemeClr val="tx2">
              <a:alpha val="92000"/>
            </a:schemeClr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112913275" name="text-319"/>
          <p:cNvSpPr txBox="1"/>
          <p:nvPr/>
        </p:nvSpPr>
        <p:spPr bwMode="auto">
          <a:xfrm>
            <a:off x="822960" y="203911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chemeClr val="accent1"/>
                </a:solidFill>
              </a:rPr>
              <a:t>Mise en place</a:t>
            </a:r>
            <a:endParaRPr lang="en-US" sz="1600"/>
          </a:p>
        </p:txBody>
      </p:sp>
      <p:sp>
        <p:nvSpPr>
          <p:cNvPr id="146184731" name="text-320"/>
          <p:cNvSpPr txBox="1"/>
          <p:nvPr/>
        </p:nvSpPr>
        <p:spPr bwMode="auto">
          <a:xfrm>
            <a:off x="822960" y="2514600"/>
            <a:ext cx="4114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  <a:defRPr/>
            </a:pPr>
            <a:r>
              <a:rPr lang="en-US" sz="1500">
                <a:solidFill>
                  <a:schemeClr val="bg1"/>
                </a:solidFill>
              </a:rPr>
              <a:t>Image 48×48×1 convertie en 96×96×3 pour MobileNetV2</a:t>
            </a:r>
            <a:endParaRPr lang="en-US" sz="1500"/>
          </a:p>
          <a:p>
            <a:pPr marL="203200" indent="-203200">
              <a:spcAft>
                <a:spcPts val="1000"/>
              </a:spcAft>
              <a:buSzPct val="100000"/>
              <a:buChar char="•"/>
              <a:defRPr/>
            </a:pPr>
            <a:r>
              <a:rPr lang="en-US" sz="1500">
                <a:solidFill>
                  <a:schemeClr val="bg1"/>
                </a:solidFill>
              </a:rPr>
              <a:t>Tête de classification ajoutée au backbone pré-entraîné</a:t>
            </a:r>
            <a:endParaRPr lang="en-US" sz="1500"/>
          </a:p>
          <a:p>
            <a:pPr marL="203200" indent="-203200">
              <a:spcAft>
                <a:spcPts val="1000"/>
              </a:spcAft>
              <a:buSzPct val="100000"/>
              <a:buChar char="•"/>
              <a:defRPr/>
            </a:pPr>
            <a:r>
              <a:rPr lang="en-US" sz="1500">
                <a:solidFill>
                  <a:schemeClr val="bg1"/>
                </a:solidFill>
              </a:rPr>
              <a:t>Phase 1 : backbone gelé</a:t>
            </a:r>
            <a:endParaRPr lang="en-US" sz="1500"/>
          </a:p>
          <a:p>
            <a:pPr marL="203200" indent="-203200">
              <a:spcAft>
                <a:spcPts val="1000"/>
              </a:spcAft>
              <a:buSzPct val="100000"/>
              <a:buChar char="•"/>
              <a:defRPr/>
            </a:pPr>
            <a:r>
              <a:rPr lang="en-US" sz="1500">
                <a:solidFill>
                  <a:schemeClr val="bg1"/>
                </a:solidFill>
              </a:rPr>
              <a:t>Phase 2 : fine-tuning contrôlé des 20 dernières couches</a:t>
            </a:r>
            <a:endParaRPr lang="en-US" sz="1500"/>
          </a:p>
        </p:txBody>
      </p:sp>
      <p:sp>
        <p:nvSpPr>
          <p:cNvPr id="1688021238" name="highlight-321"/>
          <p:cNvSpPr/>
          <p:nvPr/>
        </p:nvSpPr>
        <p:spPr bwMode="auto">
          <a:xfrm>
            <a:off x="548640" y="5029200"/>
            <a:ext cx="4663440" cy="1097280"/>
          </a:xfrm>
          <a:prstGeom prst="roundRect">
            <a:avLst>
              <a:gd name="adj" fmla="val 10000"/>
            </a:avLst>
          </a:prstGeom>
          <a:solidFill>
            <a:schemeClr val="accent1">
              <a:alpha val="12000"/>
            </a:schemeClr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579406205" name="text-322"/>
          <p:cNvSpPr txBox="1"/>
          <p:nvPr/>
        </p:nvSpPr>
        <p:spPr bwMode="auto">
          <a:xfrm>
            <a:off x="822960" y="5029200"/>
            <a:ext cx="411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chemeClr val="bg1"/>
                </a:solidFill>
              </a:rPr>
              <a:t>Inférieur au CNN final retenu (58,18 % en validation).</a:t>
            </a:r>
            <a:endParaRPr lang="en-US" sz="1500"/>
          </a:p>
        </p:txBody>
      </p:sp>
      <p:sp>
        <p:nvSpPr>
          <p:cNvPr id="2126143354" name="card-323"/>
          <p:cNvSpPr/>
          <p:nvPr/>
        </p:nvSpPr>
        <p:spPr bwMode="auto">
          <a:xfrm>
            <a:off x="5486400" y="1920240"/>
            <a:ext cx="6156655" cy="2011680"/>
          </a:xfrm>
          <a:prstGeom prst="roundRect">
            <a:avLst>
              <a:gd name="adj" fmla="val 5455"/>
            </a:avLst>
          </a:prstGeom>
          <a:solidFill>
            <a:schemeClr val="tx2">
              <a:alpha val="92000"/>
            </a:schemeClr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038792915" name="text-324"/>
          <p:cNvSpPr txBox="1"/>
          <p:nvPr/>
        </p:nvSpPr>
        <p:spPr bwMode="auto">
          <a:xfrm>
            <a:off x="5715000" y="224028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3400" b="1">
                <a:solidFill>
                  <a:schemeClr val="accent1"/>
                </a:solidFill>
              </a:rPr>
              <a:t>43,49 %</a:t>
            </a:r>
            <a:endParaRPr lang="en-US" sz="3400"/>
          </a:p>
        </p:txBody>
      </p:sp>
      <p:sp>
        <p:nvSpPr>
          <p:cNvPr id="1763875880" name="text-325"/>
          <p:cNvSpPr txBox="1"/>
          <p:nvPr/>
        </p:nvSpPr>
        <p:spPr bwMode="auto">
          <a:xfrm>
            <a:off x="5715000" y="3017519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200" spc="200">
                <a:solidFill>
                  <a:schemeClr val="bg2"/>
                </a:solidFill>
              </a:rPr>
              <a:t>BACKBONE GELÉ</a:t>
            </a:r>
            <a:endParaRPr lang="en-US" sz="1200"/>
          </a:p>
          <a:p>
            <a:pPr marL="0" indent="0">
              <a:buNone/>
              <a:defRPr/>
            </a:pPr>
            <a:r>
              <a:rPr lang="en-US" sz="1200" spc="200">
                <a:solidFill>
                  <a:schemeClr val="bg2"/>
                </a:solidFill>
              </a:rPr>
              <a:t>val. accuracy</a:t>
            </a:r>
            <a:endParaRPr lang="en-US" sz="1200"/>
          </a:p>
        </p:txBody>
      </p:sp>
      <p:sp>
        <p:nvSpPr>
          <p:cNvPr id="639823074" name="whitecard-326"/>
          <p:cNvSpPr/>
          <p:nvPr/>
        </p:nvSpPr>
        <p:spPr bwMode="auto">
          <a:xfrm>
            <a:off x="7909560" y="2057400"/>
            <a:ext cx="3596335" cy="1737360"/>
          </a:xfrm>
          <a:prstGeom prst="roundRect">
            <a:avLst>
              <a:gd name="adj" fmla="val 6316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2134141659" name="img-327" descr="Accuracy tête de classification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8267899" y="2112264"/>
            <a:ext cx="2879657" cy="1627632"/>
          </a:xfrm>
          <a:prstGeom prst="rect">
            <a:avLst/>
          </a:prstGeom>
        </p:spPr>
      </p:pic>
      <p:sp>
        <p:nvSpPr>
          <p:cNvPr id="999561047" name="card-328"/>
          <p:cNvSpPr/>
          <p:nvPr/>
        </p:nvSpPr>
        <p:spPr bwMode="auto">
          <a:xfrm>
            <a:off x="5486400" y="4114800"/>
            <a:ext cx="6156655" cy="2011680"/>
          </a:xfrm>
          <a:prstGeom prst="roundRect">
            <a:avLst>
              <a:gd name="adj" fmla="val 5455"/>
            </a:avLst>
          </a:prstGeom>
          <a:solidFill>
            <a:schemeClr val="tx2">
              <a:alpha val="92000"/>
            </a:schemeClr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339365371" name="text-329"/>
          <p:cNvSpPr txBox="1"/>
          <p:nvPr/>
        </p:nvSpPr>
        <p:spPr bwMode="auto">
          <a:xfrm>
            <a:off x="5715000" y="443484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3400" b="1">
                <a:solidFill>
                  <a:schemeClr val="accent5"/>
                </a:solidFill>
              </a:rPr>
              <a:t>48,48 %</a:t>
            </a:r>
            <a:endParaRPr lang="en-US" sz="3400"/>
          </a:p>
        </p:txBody>
      </p:sp>
      <p:sp>
        <p:nvSpPr>
          <p:cNvPr id="1448067892" name="text-330"/>
          <p:cNvSpPr txBox="1"/>
          <p:nvPr/>
        </p:nvSpPr>
        <p:spPr bwMode="auto">
          <a:xfrm>
            <a:off x="5715000" y="521208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200" spc="200">
                <a:solidFill>
                  <a:schemeClr val="bg2"/>
                </a:solidFill>
              </a:rPr>
              <a:t>APRÈS FINE-TUNING</a:t>
            </a:r>
            <a:endParaRPr lang="en-US" sz="1200"/>
          </a:p>
          <a:p>
            <a:pPr marL="0" indent="0">
              <a:buNone/>
              <a:defRPr/>
            </a:pPr>
            <a:r>
              <a:rPr lang="en-US" sz="1200" spc="200">
                <a:solidFill>
                  <a:schemeClr val="bg2"/>
                </a:solidFill>
              </a:rPr>
              <a:t>val. accuracy</a:t>
            </a:r>
            <a:endParaRPr lang="en-US" sz="1200"/>
          </a:p>
        </p:txBody>
      </p:sp>
      <p:sp>
        <p:nvSpPr>
          <p:cNvPr id="580519593" name="whitecard-331"/>
          <p:cNvSpPr/>
          <p:nvPr/>
        </p:nvSpPr>
        <p:spPr bwMode="auto">
          <a:xfrm>
            <a:off x="7909560" y="4251960"/>
            <a:ext cx="3596335" cy="1737360"/>
          </a:xfrm>
          <a:prstGeom prst="roundRect">
            <a:avLst>
              <a:gd name="adj" fmla="val 6316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1304311755" name="img-332" descr="Accuracy après fine-tuni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8267899" y="4306824"/>
            <a:ext cx="2879657" cy="1627632"/>
          </a:xfrm>
          <a:prstGeom prst="rect">
            <a:avLst/>
          </a:prstGeom>
        </p:spPr>
      </p:pic>
      <p:sp>
        <p:nvSpPr>
          <p:cNvPr id="2107634740" name="Slide Number Placeholder 0"/>
          <p:cNvSpPr>
            <a:spLocks noGrp="1"/>
          </p:cNvSpPr>
          <p:nvPr>
            <p:ph type="sldNum" sz="quarter" idx="4294967295"/>
          </p:nvPr>
        </p:nvSpPr>
        <p:spPr bwMode="auto">
          <a:xfrm>
            <a:off x="11183112" y="6400800"/>
            <a:ext cx="457200" cy="228600"/>
          </a:xfrm>
          <a:prstGeom prst="rect">
            <a:avLst/>
          </a:prstGeom>
        </p:spPr>
        <p:txBody>
          <a:bodyPr lIns="0" tIns="0" rIns="0" bIns="0"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r">
              <a:defRPr/>
            </a:pPr>
            <a:fld id="{F7021451-1387-4CA6-816F-3879F97B5CBC}" type="slidenum">
              <a:rPr lang="en-US" b="1"/>
              <a:t>16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7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8798150" name="Text 0"/>
          <p:cNvSpPr/>
          <p:nvPr>
            <p:ph type="body" idx="100" hasCustomPrompt="1"/>
          </p:nvPr>
        </p:nvSpPr>
        <p:spPr bwMode="auto"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 spc="300">
                <a:solidFill>
                  <a:schemeClr val="accent1"/>
                </a:solidFill>
              </a:rPr>
              <a:t>12 / EXTENSION IMAGE</a:t>
            </a:r>
            <a:endParaRPr lang="en-US" sz="1200"/>
          </a:p>
        </p:txBody>
      </p:sp>
      <p:sp>
        <p:nvSpPr>
          <p:cNvPr id="1071463717" name="Text 0"/>
          <p:cNvSpPr/>
          <p:nvPr>
            <p:ph type="title" idx="101" hasCustomPrompt="1"/>
          </p:nvPr>
        </p:nvSpPr>
        <p:spPr bwMode="auto"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3400" b="1">
                <a:solidFill>
                  <a:schemeClr val="bg1"/>
                </a:solidFill>
              </a:rPr>
              <a:t>Détection et analyse de plusieurs visages</a:t>
            </a:r>
            <a:endParaRPr lang="en-US" sz="3400"/>
          </a:p>
        </p:txBody>
      </p:sp>
      <p:sp>
        <p:nvSpPr>
          <p:cNvPr id="1536430781" name="Text 0"/>
          <p:cNvSpPr/>
          <p:nvPr>
            <p:ph type="body" idx="102" hasCustomPrompt="1"/>
          </p:nvPr>
        </p:nvSpPr>
        <p:spPr bwMode="auto">
          <a:xfrm>
            <a:off x="548640" y="138988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00">
                <a:solidFill>
                  <a:schemeClr val="bg2"/>
                </a:solidFill>
              </a:rPr>
              <a:t>Détection avec YOLOv8n-Face (WIDERFace), puis classification par le CNN entraîné sur FER2013.</a:t>
            </a:r>
            <a:endParaRPr lang="en-US" sz="1500"/>
          </a:p>
        </p:txBody>
      </p:sp>
      <p:pic>
        <p:nvPicPr>
          <p:cNvPr id="1631930209" name="img-333" descr="Photo originale de quatre personnes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48640" y="1920240"/>
            <a:ext cx="3429000" cy="2286000"/>
          </a:xfrm>
          <a:prstGeom prst="rect">
            <a:avLst/>
          </a:prstGeom>
        </p:spPr>
      </p:pic>
      <p:pic>
        <p:nvPicPr>
          <p:cNvPr id="2085148292" name="img-334" descr="Photo annotée avec quatre visages détectés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4206240" y="1920240"/>
            <a:ext cx="3279611" cy="2286000"/>
          </a:xfrm>
          <a:prstGeom prst="rect">
            <a:avLst/>
          </a:prstGeom>
        </p:spPr>
      </p:pic>
      <p:sp>
        <p:nvSpPr>
          <p:cNvPr id="816003962" name="text-335"/>
          <p:cNvSpPr txBox="1"/>
          <p:nvPr/>
        </p:nvSpPr>
        <p:spPr bwMode="auto">
          <a:xfrm>
            <a:off x="548640" y="429768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  <a:defRPr/>
            </a:pPr>
            <a:r>
              <a:rPr lang="en-US" sz="1100" spc="300">
                <a:solidFill>
                  <a:schemeClr val="bg2"/>
                </a:solidFill>
              </a:rPr>
              <a:t>IMAGE ORIGINALE</a:t>
            </a:r>
            <a:endParaRPr lang="en-US" sz="1100"/>
          </a:p>
        </p:txBody>
      </p:sp>
      <p:sp>
        <p:nvSpPr>
          <p:cNvPr id="1887354877" name="text-336"/>
          <p:cNvSpPr txBox="1"/>
          <p:nvPr/>
        </p:nvSpPr>
        <p:spPr bwMode="auto">
          <a:xfrm>
            <a:off x="4206240" y="4297680"/>
            <a:ext cx="327961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  <a:defRPr/>
            </a:pPr>
            <a:r>
              <a:rPr lang="en-US" sz="1100" spc="300">
                <a:solidFill>
                  <a:schemeClr val="bg2"/>
                </a:solidFill>
              </a:rPr>
              <a:t>IMAGE ANNOTÉE</a:t>
            </a:r>
            <a:endParaRPr lang="en-US" sz="1100"/>
          </a:p>
        </p:txBody>
      </p:sp>
      <p:sp>
        <p:nvSpPr>
          <p:cNvPr id="977000331" name="card-337"/>
          <p:cNvSpPr/>
          <p:nvPr/>
        </p:nvSpPr>
        <p:spPr bwMode="auto">
          <a:xfrm>
            <a:off x="7714451" y="1920240"/>
            <a:ext cx="3928604" cy="2651760"/>
          </a:xfrm>
          <a:prstGeom prst="roundRect">
            <a:avLst>
              <a:gd name="adj" fmla="val 4138"/>
            </a:avLst>
          </a:prstGeom>
          <a:solidFill>
            <a:schemeClr val="tx2">
              <a:alpha val="92000"/>
            </a:schemeClr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575816423" name="text-338"/>
          <p:cNvSpPr txBox="1"/>
          <p:nvPr/>
        </p:nvSpPr>
        <p:spPr bwMode="auto">
          <a:xfrm>
            <a:off x="7943051" y="2057400"/>
            <a:ext cx="34714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100" b="1" spc="300">
                <a:solidFill>
                  <a:schemeClr val="accent1"/>
                </a:solidFill>
              </a:rPr>
              <a:t>RÉSULTAT</a:t>
            </a:r>
            <a:endParaRPr lang="en-US" sz="1100"/>
          </a:p>
        </p:txBody>
      </p:sp>
      <p:sp>
        <p:nvSpPr>
          <p:cNvPr id="67245371" name="text-339"/>
          <p:cNvSpPr txBox="1"/>
          <p:nvPr/>
        </p:nvSpPr>
        <p:spPr bwMode="auto">
          <a:xfrm>
            <a:off x="7943051" y="2377440"/>
            <a:ext cx="34714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3600" b="1">
                <a:solidFill>
                  <a:schemeClr val="accent1"/>
                </a:solidFill>
              </a:rPr>
              <a:t>4</a:t>
            </a:r>
            <a:r>
              <a:rPr lang="en-US" sz="1400">
                <a:solidFill>
                  <a:schemeClr val="bg1"/>
                </a:solidFill>
              </a:rPr>
              <a:t>  visages détectés</a:t>
            </a:r>
            <a:endParaRPr lang="en-US" sz="1400"/>
          </a:p>
        </p:txBody>
      </p:sp>
      <p:sp>
        <p:nvSpPr>
          <p:cNvPr id="267495998" name="text-340"/>
          <p:cNvSpPr txBox="1"/>
          <p:nvPr/>
        </p:nvSpPr>
        <p:spPr bwMode="auto">
          <a:xfrm>
            <a:off x="7943051" y="3108960"/>
            <a:ext cx="347140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  <a:defRPr/>
            </a:pPr>
            <a:r>
              <a:rPr lang="en-US" sz="1300" b="1">
                <a:solidFill>
                  <a:schemeClr val="bg1"/>
                </a:solidFill>
              </a:rPr>
              <a:t>4 prédictions : Joie</a:t>
            </a:r>
            <a:endParaRPr lang="en-US" sz="1300"/>
          </a:p>
          <a:p>
            <a:pPr marL="0" indent="0">
              <a:spcAft>
                <a:spcPts val="600"/>
              </a:spcAft>
              <a:buNone/>
              <a:defRPr/>
            </a:pPr>
            <a:r>
              <a:rPr lang="en-US" sz="1300">
                <a:solidFill>
                  <a:schemeClr val="bg2"/>
                </a:solidFill>
              </a:rPr>
              <a:t>Conf. expression : 1,000 ; 1,000 ; 0,812 ; 0,293</a:t>
            </a:r>
            <a:endParaRPr lang="en-US" sz="1300"/>
          </a:p>
          <a:p>
            <a:pPr marL="0" indent="0">
              <a:spcAft>
                <a:spcPts val="600"/>
              </a:spcAft>
              <a:buNone/>
              <a:defRPr/>
            </a:pPr>
            <a:r>
              <a:rPr lang="en-US" sz="1300">
                <a:solidFill>
                  <a:schemeClr val="bg2"/>
                </a:solidFill>
              </a:rPr>
              <a:t>Conf. YOLO : 0,877 ; 0,865 ; 0,852 ; 0,838</a:t>
            </a:r>
            <a:endParaRPr lang="en-US" sz="1300"/>
          </a:p>
        </p:txBody>
      </p:sp>
      <p:sp>
        <p:nvSpPr>
          <p:cNvPr id="1715292211" name="step-341"/>
          <p:cNvSpPr/>
          <p:nvPr/>
        </p:nvSpPr>
        <p:spPr bwMode="auto">
          <a:xfrm>
            <a:off x="548640" y="5120640"/>
            <a:ext cx="1554480" cy="914400"/>
          </a:xfrm>
          <a:prstGeom prst="roundRect">
            <a:avLst>
              <a:gd name="adj" fmla="val 10000"/>
            </a:avLst>
          </a:prstGeom>
          <a:solidFill>
            <a:schemeClr val="accent2">
              <a:alpha val="20000"/>
            </a:schemeClr>
          </a:solidFill>
          <a:ln w="15875">
            <a:solidFill>
              <a:schemeClr val="accent2"/>
            </a:solidFill>
            <a:prstDash val="solid"/>
          </a:ln>
        </p:spPr>
      </p:sp>
      <p:sp>
        <p:nvSpPr>
          <p:cNvPr id="210514947" name="text-342"/>
          <p:cNvSpPr txBox="1"/>
          <p:nvPr/>
        </p:nvSpPr>
        <p:spPr bwMode="auto">
          <a:xfrm>
            <a:off x="621792" y="5120640"/>
            <a:ext cx="14081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300" b="1">
                <a:solidFill>
                  <a:schemeClr val="bg1"/>
                </a:solidFill>
              </a:rPr>
              <a:t>Image</a:t>
            </a:r>
            <a:endParaRPr lang="en-US" sz="1300"/>
          </a:p>
        </p:txBody>
      </p:sp>
      <p:sp>
        <p:nvSpPr>
          <p:cNvPr id="215979712" name="chev-343"/>
          <p:cNvSpPr/>
          <p:nvPr/>
        </p:nvSpPr>
        <p:spPr bwMode="auto">
          <a:xfrm>
            <a:off x="2188434" y="5440680"/>
            <a:ext cx="182880" cy="274320"/>
          </a:xfrm>
          <a:prstGeom prst="chevron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796751546" name="step-344"/>
          <p:cNvSpPr/>
          <p:nvPr/>
        </p:nvSpPr>
        <p:spPr bwMode="auto">
          <a:xfrm>
            <a:off x="2456627" y="5120640"/>
            <a:ext cx="1554480" cy="914400"/>
          </a:xfrm>
          <a:prstGeom prst="roundRect">
            <a:avLst>
              <a:gd name="adj" fmla="val 10000"/>
            </a:avLst>
          </a:prstGeom>
          <a:solidFill>
            <a:schemeClr val="accent1">
              <a:alpha val="20000"/>
            </a:schemeClr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795547204" name="text-345"/>
          <p:cNvSpPr txBox="1"/>
          <p:nvPr/>
        </p:nvSpPr>
        <p:spPr bwMode="auto">
          <a:xfrm>
            <a:off x="2529779" y="5120640"/>
            <a:ext cx="14081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300" b="1">
                <a:solidFill>
                  <a:schemeClr val="bg1"/>
                </a:solidFill>
              </a:rPr>
              <a:t>Détection YOLO</a:t>
            </a:r>
            <a:endParaRPr lang="en-US" sz="1300"/>
          </a:p>
        </p:txBody>
      </p:sp>
      <p:sp>
        <p:nvSpPr>
          <p:cNvPr id="1570891242" name="chev-346"/>
          <p:cNvSpPr/>
          <p:nvPr/>
        </p:nvSpPr>
        <p:spPr bwMode="auto">
          <a:xfrm>
            <a:off x="4096420" y="5440680"/>
            <a:ext cx="182880" cy="274320"/>
          </a:xfrm>
          <a:prstGeom prst="chevron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860075995" name="step-347"/>
          <p:cNvSpPr/>
          <p:nvPr/>
        </p:nvSpPr>
        <p:spPr bwMode="auto">
          <a:xfrm>
            <a:off x="4364614" y="5120640"/>
            <a:ext cx="1554480" cy="914400"/>
          </a:xfrm>
          <a:prstGeom prst="roundRect">
            <a:avLst>
              <a:gd name="adj" fmla="val 10000"/>
            </a:avLst>
          </a:prstGeom>
          <a:solidFill>
            <a:schemeClr val="accent2">
              <a:alpha val="20000"/>
            </a:schemeClr>
          </a:solidFill>
          <a:ln w="15875">
            <a:solidFill>
              <a:schemeClr val="accent2"/>
            </a:solidFill>
            <a:prstDash val="solid"/>
          </a:ln>
        </p:spPr>
      </p:sp>
      <p:sp>
        <p:nvSpPr>
          <p:cNvPr id="1543541962" name="text-348"/>
          <p:cNvSpPr txBox="1"/>
          <p:nvPr/>
        </p:nvSpPr>
        <p:spPr bwMode="auto">
          <a:xfrm>
            <a:off x="4437766" y="5120640"/>
            <a:ext cx="14081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300" b="1">
                <a:solidFill>
                  <a:schemeClr val="bg1"/>
                </a:solidFill>
              </a:rPr>
              <a:t>Extraction des crops</a:t>
            </a:r>
            <a:endParaRPr lang="en-US" sz="1300"/>
          </a:p>
        </p:txBody>
      </p:sp>
      <p:sp>
        <p:nvSpPr>
          <p:cNvPr id="457088023" name="chev-349"/>
          <p:cNvSpPr/>
          <p:nvPr/>
        </p:nvSpPr>
        <p:spPr bwMode="auto">
          <a:xfrm>
            <a:off x="6004408" y="5440680"/>
            <a:ext cx="182880" cy="274320"/>
          </a:xfrm>
          <a:prstGeom prst="chevron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950973255" name="step-350"/>
          <p:cNvSpPr/>
          <p:nvPr/>
        </p:nvSpPr>
        <p:spPr bwMode="auto">
          <a:xfrm>
            <a:off x="6272601" y="5120640"/>
            <a:ext cx="1554480" cy="914400"/>
          </a:xfrm>
          <a:prstGeom prst="roundRect">
            <a:avLst>
              <a:gd name="adj" fmla="val 10000"/>
            </a:avLst>
          </a:prstGeom>
          <a:solidFill>
            <a:schemeClr val="accent2">
              <a:alpha val="20000"/>
            </a:schemeClr>
          </a:solidFill>
          <a:ln w="15875">
            <a:solidFill>
              <a:schemeClr val="accent2"/>
            </a:solidFill>
            <a:prstDash val="solid"/>
          </a:ln>
        </p:spPr>
      </p:sp>
      <p:sp>
        <p:nvSpPr>
          <p:cNvPr id="2029880701" name="text-351"/>
          <p:cNvSpPr txBox="1"/>
          <p:nvPr/>
        </p:nvSpPr>
        <p:spPr bwMode="auto">
          <a:xfrm>
            <a:off x="6345753" y="5120640"/>
            <a:ext cx="14081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300" b="1">
                <a:solidFill>
                  <a:schemeClr val="bg1"/>
                </a:solidFill>
              </a:rPr>
              <a:t>Prétraitement identique au train</a:t>
            </a:r>
            <a:endParaRPr lang="en-US" sz="1300"/>
          </a:p>
        </p:txBody>
      </p:sp>
      <p:sp>
        <p:nvSpPr>
          <p:cNvPr id="350876724" name="chev-352"/>
          <p:cNvSpPr/>
          <p:nvPr/>
        </p:nvSpPr>
        <p:spPr bwMode="auto">
          <a:xfrm>
            <a:off x="7912395" y="5440680"/>
            <a:ext cx="182880" cy="274320"/>
          </a:xfrm>
          <a:prstGeom prst="chevron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843374090" name="step-353"/>
          <p:cNvSpPr/>
          <p:nvPr/>
        </p:nvSpPr>
        <p:spPr bwMode="auto">
          <a:xfrm>
            <a:off x="8180588" y="5120640"/>
            <a:ext cx="1554480" cy="914400"/>
          </a:xfrm>
          <a:prstGeom prst="roundRect">
            <a:avLst>
              <a:gd name="adj" fmla="val 10000"/>
            </a:avLst>
          </a:prstGeom>
          <a:solidFill>
            <a:schemeClr val="accent1">
              <a:alpha val="20000"/>
            </a:schemeClr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2027487679" name="text-354"/>
          <p:cNvSpPr txBox="1"/>
          <p:nvPr/>
        </p:nvSpPr>
        <p:spPr bwMode="auto">
          <a:xfrm>
            <a:off x="8253740" y="5120640"/>
            <a:ext cx="14081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300" b="1">
                <a:solidFill>
                  <a:schemeClr val="bg1"/>
                </a:solidFill>
              </a:rPr>
              <a:t>CNN</a:t>
            </a:r>
            <a:endParaRPr lang="en-US" sz="1300"/>
          </a:p>
        </p:txBody>
      </p:sp>
      <p:sp>
        <p:nvSpPr>
          <p:cNvPr id="1483544443" name="chev-355"/>
          <p:cNvSpPr/>
          <p:nvPr/>
        </p:nvSpPr>
        <p:spPr bwMode="auto">
          <a:xfrm>
            <a:off x="9820382" y="5440680"/>
            <a:ext cx="182880" cy="274320"/>
          </a:xfrm>
          <a:prstGeom prst="chevron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633215695" name="step-356"/>
          <p:cNvSpPr/>
          <p:nvPr/>
        </p:nvSpPr>
        <p:spPr bwMode="auto">
          <a:xfrm>
            <a:off x="10088575" y="5120640"/>
            <a:ext cx="1554480" cy="914400"/>
          </a:xfrm>
          <a:prstGeom prst="roundRect">
            <a:avLst>
              <a:gd name="adj" fmla="val 10000"/>
            </a:avLst>
          </a:prstGeom>
          <a:solidFill>
            <a:schemeClr val="accent2">
              <a:alpha val="20000"/>
            </a:schemeClr>
          </a:solidFill>
          <a:ln w="15875">
            <a:solidFill>
              <a:schemeClr val="accent2"/>
            </a:solidFill>
            <a:prstDash val="solid"/>
          </a:ln>
        </p:spPr>
      </p:sp>
      <p:sp>
        <p:nvSpPr>
          <p:cNvPr id="1547957454" name="text-357"/>
          <p:cNvSpPr txBox="1"/>
          <p:nvPr/>
        </p:nvSpPr>
        <p:spPr bwMode="auto">
          <a:xfrm>
            <a:off x="10161727" y="5120640"/>
            <a:ext cx="14081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300" b="1">
                <a:solidFill>
                  <a:schemeClr val="bg1"/>
                </a:solidFill>
              </a:rPr>
              <a:t>Expression + score</a:t>
            </a:r>
            <a:endParaRPr lang="en-US" sz="1300"/>
          </a:p>
        </p:txBody>
      </p:sp>
      <p:sp>
        <p:nvSpPr>
          <p:cNvPr id="509531101" name="text-358"/>
          <p:cNvSpPr txBox="1"/>
          <p:nvPr/>
        </p:nvSpPr>
        <p:spPr bwMode="auto">
          <a:xfrm>
            <a:off x="548640" y="48188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b="1" spc="300">
                <a:solidFill>
                  <a:schemeClr val="accent1"/>
                </a:solidFill>
              </a:rPr>
              <a:t>PIPELINE</a:t>
            </a:r>
            <a:endParaRPr lang="en-US" sz="1100"/>
          </a:p>
        </p:txBody>
      </p:sp>
      <p:sp>
        <p:nvSpPr>
          <p:cNvPr id="997286761" name="Slide Number Placeholder 0"/>
          <p:cNvSpPr>
            <a:spLocks noGrp="1"/>
          </p:cNvSpPr>
          <p:nvPr>
            <p:ph type="sldNum" sz="quarter" idx="4294967295"/>
          </p:nvPr>
        </p:nvSpPr>
        <p:spPr bwMode="auto">
          <a:xfrm>
            <a:off x="11183112" y="6400800"/>
            <a:ext cx="457200" cy="228600"/>
          </a:xfrm>
          <a:prstGeom prst="rect">
            <a:avLst/>
          </a:prstGeom>
        </p:spPr>
        <p:txBody>
          <a:bodyPr lIns="0" tIns="0" rIns="0" bIns="0"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r">
              <a:defRPr/>
            </a:pPr>
            <a:fld id="{F7021451-1387-4CA6-816F-3879F97B5CBC}" type="slidenum">
              <a:rPr lang="en-US" b="1"/>
              <a:t>17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8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2403378" name="Text 0"/>
          <p:cNvSpPr/>
          <p:nvPr>
            <p:ph type="body" idx="100" hasCustomPrompt="1"/>
          </p:nvPr>
        </p:nvSpPr>
        <p:spPr bwMode="auto"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 spc="300">
                <a:solidFill>
                  <a:schemeClr val="accent1"/>
                </a:solidFill>
              </a:rPr>
              <a:t>12 / YOLO — FONCTIONNEMENT</a:t>
            </a:r>
            <a:endParaRPr lang="en-US" sz="1200"/>
          </a:p>
        </p:txBody>
      </p:sp>
      <p:sp>
        <p:nvSpPr>
          <p:cNvPr id="815704836" name="Text 0"/>
          <p:cNvSpPr/>
          <p:nvPr>
            <p:ph type="title" idx="101" hasCustomPrompt="1"/>
          </p:nvPr>
        </p:nvSpPr>
        <p:spPr bwMode="auto"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3400" b="1">
                <a:solidFill>
                  <a:schemeClr val="bg1"/>
                </a:solidFill>
              </a:rPr>
              <a:t>YOLOv8n-Face : détails d’intégration</a:t>
            </a:r>
            <a:endParaRPr lang="en-US" sz="3400"/>
          </a:p>
        </p:txBody>
      </p:sp>
      <p:sp>
        <p:nvSpPr>
          <p:cNvPr id="921092804" name="Text 0"/>
          <p:cNvSpPr/>
          <p:nvPr>
            <p:ph type="body" idx="102" hasCustomPrompt="1"/>
          </p:nvPr>
        </p:nvSpPr>
        <p:spPr bwMode="auto">
          <a:xfrm>
            <a:off x="548640" y="138988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00">
                <a:solidFill>
                  <a:schemeClr val="bg2"/>
                </a:solidFill>
              </a:rPr>
              <a:t>Détecteur spécialisé de visages, distinct du classifieur d’expressions FER2013.</a:t>
            </a:r>
            <a:endParaRPr lang="en-US" sz="1500"/>
          </a:p>
        </p:txBody>
      </p:sp>
      <p:sp>
        <p:nvSpPr>
          <p:cNvPr id="138289897" name="card-359"/>
          <p:cNvSpPr/>
          <p:nvPr/>
        </p:nvSpPr>
        <p:spPr bwMode="auto">
          <a:xfrm>
            <a:off x="548640" y="1920240"/>
            <a:ext cx="5212080" cy="3337560"/>
          </a:xfrm>
          <a:prstGeom prst="roundRect">
            <a:avLst>
              <a:gd name="adj" fmla="val 3288"/>
            </a:avLst>
          </a:prstGeom>
          <a:solidFill>
            <a:schemeClr val="tx2">
              <a:alpha val="92000"/>
            </a:schemeClr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833979650" name="text-360"/>
          <p:cNvSpPr txBox="1"/>
          <p:nvPr/>
        </p:nvSpPr>
        <p:spPr bwMode="auto">
          <a:xfrm>
            <a:off x="822960" y="205740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b="1" spc="300">
                <a:solidFill>
                  <a:schemeClr val="accent1"/>
                </a:solidFill>
              </a:rPr>
              <a:t>DÉTECTEUR RÉELLEMENT UTILISÉ</a:t>
            </a:r>
            <a:endParaRPr lang="en-US" sz="1100"/>
          </a:p>
        </p:txBody>
      </p:sp>
      <p:sp>
        <p:nvSpPr>
          <p:cNvPr id="1429588719" name="text-361"/>
          <p:cNvSpPr txBox="1"/>
          <p:nvPr/>
        </p:nvSpPr>
        <p:spPr bwMode="auto">
          <a:xfrm>
            <a:off x="822960" y="237744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400" b="1">
                <a:solidFill>
                  <a:schemeClr val="bg1"/>
                </a:solidFill>
              </a:rPr>
              <a:t>YOLOv8n-Face</a:t>
            </a:r>
            <a:endParaRPr lang="en-US" sz="2400"/>
          </a:p>
        </p:txBody>
      </p:sp>
      <p:sp>
        <p:nvSpPr>
          <p:cNvPr id="1517633147" name="text-362"/>
          <p:cNvSpPr txBox="1"/>
          <p:nvPr/>
        </p:nvSpPr>
        <p:spPr bwMode="auto">
          <a:xfrm>
            <a:off x="822960" y="2852928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  <a:defRPr/>
            </a:pPr>
            <a:r>
              <a:rPr lang="en-US" sz="1300">
                <a:solidFill>
                  <a:schemeClr val="bg1"/>
                </a:solidFill>
              </a:rPr>
              <a:t>Poids : yolov8n-face-lindevs.pt</a:t>
            </a:r>
            <a:endParaRPr lang="en-US" sz="1300"/>
          </a:p>
          <a:p>
            <a:pPr marL="0" indent="0">
              <a:spcAft>
                <a:spcPts val="300"/>
              </a:spcAft>
              <a:buNone/>
              <a:defRPr/>
            </a:pPr>
            <a:r>
              <a:rPr lang="en-US" sz="1300">
                <a:solidFill>
                  <a:schemeClr val="bg2"/>
                </a:solidFill>
              </a:rPr>
              <a:t>Entraîné sur WIDERFace (selon le notebook)</a:t>
            </a:r>
            <a:endParaRPr lang="en-US" sz="1300"/>
          </a:p>
        </p:txBody>
      </p:sp>
      <p:sp>
        <p:nvSpPr>
          <p:cNvPr id="634824382" name="chip-363"/>
          <p:cNvSpPr/>
          <p:nvPr/>
        </p:nvSpPr>
        <p:spPr bwMode="auto">
          <a:xfrm>
            <a:off x="822960" y="3566160"/>
            <a:ext cx="2240280" cy="685800"/>
          </a:xfrm>
          <a:prstGeom prst="roundRect">
            <a:avLst>
              <a:gd name="adj" fmla="val 10667"/>
            </a:avLst>
          </a:prstGeom>
          <a:solidFill>
            <a:schemeClr val="accent1">
              <a:alpha val="10000"/>
            </a:schemeClr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907978858" name="text-364"/>
          <p:cNvSpPr txBox="1"/>
          <p:nvPr/>
        </p:nvSpPr>
        <p:spPr bwMode="auto">
          <a:xfrm>
            <a:off x="960120" y="3630168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 spc="200">
                <a:solidFill>
                  <a:schemeClr val="bg2"/>
                </a:solidFill>
              </a:rPr>
              <a:t>SEUIL DE DÉTECTION</a:t>
            </a:r>
            <a:endParaRPr lang="en-US" sz="1000"/>
          </a:p>
        </p:txBody>
      </p:sp>
      <p:sp>
        <p:nvSpPr>
          <p:cNvPr id="1002854658" name="text-365"/>
          <p:cNvSpPr txBox="1"/>
          <p:nvPr/>
        </p:nvSpPr>
        <p:spPr bwMode="auto">
          <a:xfrm>
            <a:off x="960120" y="3858768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chemeClr val="accent1"/>
                </a:solidFill>
              </a:rPr>
              <a:t>conf = 0,35</a:t>
            </a:r>
            <a:endParaRPr lang="en-US" sz="1400"/>
          </a:p>
        </p:txBody>
      </p:sp>
      <p:sp>
        <p:nvSpPr>
          <p:cNvPr id="1310963074" name="chip-366"/>
          <p:cNvSpPr/>
          <p:nvPr/>
        </p:nvSpPr>
        <p:spPr bwMode="auto">
          <a:xfrm>
            <a:off x="3246120" y="3566160"/>
            <a:ext cx="2240280" cy="685800"/>
          </a:xfrm>
          <a:prstGeom prst="roundRect">
            <a:avLst>
              <a:gd name="adj" fmla="val 10667"/>
            </a:avLst>
          </a:prstGeom>
          <a:solidFill>
            <a:schemeClr val="accent1">
              <a:alpha val="10000"/>
            </a:schemeClr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03484842" name="text-367"/>
          <p:cNvSpPr txBox="1"/>
          <p:nvPr/>
        </p:nvSpPr>
        <p:spPr bwMode="auto">
          <a:xfrm>
            <a:off x="3383280" y="3630168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 spc="200">
                <a:solidFill>
                  <a:schemeClr val="bg2"/>
                </a:solidFill>
              </a:rPr>
              <a:t>TAILLE D’INFÉRENCE</a:t>
            </a:r>
            <a:endParaRPr lang="en-US" sz="1000"/>
          </a:p>
        </p:txBody>
      </p:sp>
      <p:sp>
        <p:nvSpPr>
          <p:cNvPr id="1891088915" name="text-368"/>
          <p:cNvSpPr txBox="1"/>
          <p:nvPr/>
        </p:nvSpPr>
        <p:spPr bwMode="auto">
          <a:xfrm>
            <a:off x="3383280" y="3858768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chemeClr val="accent1"/>
                </a:solidFill>
              </a:rPr>
              <a:t>imgsz = 640</a:t>
            </a:r>
            <a:endParaRPr lang="en-US" sz="1400"/>
          </a:p>
        </p:txBody>
      </p:sp>
      <p:sp>
        <p:nvSpPr>
          <p:cNvPr id="2087307220" name="chip-369"/>
          <p:cNvSpPr/>
          <p:nvPr/>
        </p:nvSpPr>
        <p:spPr bwMode="auto">
          <a:xfrm>
            <a:off x="822960" y="4370832"/>
            <a:ext cx="2240280" cy="685800"/>
          </a:xfrm>
          <a:prstGeom prst="roundRect">
            <a:avLst>
              <a:gd name="adj" fmla="val 10667"/>
            </a:avLst>
          </a:prstGeom>
          <a:solidFill>
            <a:schemeClr val="accent1">
              <a:alpha val="10000"/>
            </a:schemeClr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03870898" name="text-370"/>
          <p:cNvSpPr txBox="1"/>
          <p:nvPr/>
        </p:nvSpPr>
        <p:spPr bwMode="auto">
          <a:xfrm>
            <a:off x="960120" y="4434840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 spc="200">
                <a:solidFill>
                  <a:schemeClr val="bg2"/>
                </a:solidFill>
              </a:rPr>
              <a:t>MARGE DU CROP</a:t>
            </a:r>
            <a:endParaRPr lang="en-US" sz="1000"/>
          </a:p>
        </p:txBody>
      </p:sp>
      <p:sp>
        <p:nvSpPr>
          <p:cNvPr id="898853379" name="text-371"/>
          <p:cNvSpPr txBox="1"/>
          <p:nvPr/>
        </p:nvSpPr>
        <p:spPr bwMode="auto">
          <a:xfrm>
            <a:off x="960120" y="4663440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chemeClr val="accent1"/>
                </a:solidFill>
              </a:rPr>
              <a:t>12 %</a:t>
            </a:r>
            <a:endParaRPr lang="en-US" sz="1400"/>
          </a:p>
        </p:txBody>
      </p:sp>
      <p:sp>
        <p:nvSpPr>
          <p:cNvPr id="1469596897" name="chip-372"/>
          <p:cNvSpPr/>
          <p:nvPr/>
        </p:nvSpPr>
        <p:spPr bwMode="auto">
          <a:xfrm>
            <a:off x="3246120" y="4370832"/>
            <a:ext cx="2240280" cy="685800"/>
          </a:xfrm>
          <a:prstGeom prst="roundRect">
            <a:avLst>
              <a:gd name="adj" fmla="val 10667"/>
            </a:avLst>
          </a:prstGeom>
          <a:solidFill>
            <a:schemeClr val="accent1">
              <a:alpha val="10000"/>
            </a:schemeClr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004357275" name="text-373"/>
          <p:cNvSpPr txBox="1"/>
          <p:nvPr/>
        </p:nvSpPr>
        <p:spPr bwMode="auto">
          <a:xfrm>
            <a:off x="3383280" y="4434840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 spc="200">
                <a:solidFill>
                  <a:schemeClr val="bg2"/>
                </a:solidFill>
              </a:rPr>
              <a:t>PRÉTRAITEMENT</a:t>
            </a:r>
            <a:endParaRPr lang="en-US" sz="1000"/>
          </a:p>
        </p:txBody>
      </p:sp>
      <p:sp>
        <p:nvSpPr>
          <p:cNvPr id="1928896520" name="text-374"/>
          <p:cNvSpPr txBox="1"/>
          <p:nvPr/>
        </p:nvSpPr>
        <p:spPr bwMode="auto">
          <a:xfrm>
            <a:off x="3383280" y="4663440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chemeClr val="accent1"/>
                </a:solidFill>
              </a:rPr>
              <a:t>gris → 48×48 → /255</a:t>
            </a:r>
            <a:endParaRPr lang="en-US" sz="1400"/>
          </a:p>
        </p:txBody>
      </p:sp>
      <p:sp>
        <p:nvSpPr>
          <p:cNvPr id="1825283946" name="card-375"/>
          <p:cNvSpPr/>
          <p:nvPr/>
        </p:nvSpPr>
        <p:spPr bwMode="auto">
          <a:xfrm>
            <a:off x="6035039" y="1920240"/>
            <a:ext cx="5608015" cy="3337560"/>
          </a:xfrm>
          <a:prstGeom prst="roundRect">
            <a:avLst>
              <a:gd name="adj" fmla="val 3288"/>
            </a:avLst>
          </a:prstGeom>
          <a:solidFill>
            <a:schemeClr val="tx2">
              <a:alpha val="92000"/>
            </a:schemeClr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318116950" name="text-376"/>
          <p:cNvSpPr txBox="1"/>
          <p:nvPr/>
        </p:nvSpPr>
        <p:spPr bwMode="auto">
          <a:xfrm>
            <a:off x="6309360" y="2057400"/>
            <a:ext cx="50593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b="1" spc="300">
                <a:solidFill>
                  <a:schemeClr val="accent1"/>
                </a:solidFill>
              </a:rPr>
              <a:t>NOTIONS À MAÎTRISER</a:t>
            </a:r>
            <a:endParaRPr lang="en-US" sz="1100"/>
          </a:p>
        </p:txBody>
      </p:sp>
      <p:sp>
        <p:nvSpPr>
          <p:cNvPr id="552237517" name="text-377"/>
          <p:cNvSpPr txBox="1"/>
          <p:nvPr/>
        </p:nvSpPr>
        <p:spPr bwMode="auto">
          <a:xfrm>
            <a:off x="6309360" y="2423160"/>
            <a:ext cx="505937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400" b="1">
                <a:solidFill>
                  <a:schemeClr val="bg1"/>
                </a:solidFill>
              </a:rPr>
              <a:t>Bounding box</a:t>
            </a:r>
            <a:endParaRPr lang="en-US" sz="1400"/>
          </a:p>
          <a:p>
            <a:pPr marL="0" indent="0">
              <a:buNone/>
              <a:defRPr/>
            </a:pPr>
            <a:r>
              <a:rPr lang="en-US" sz="1300">
                <a:solidFill>
                  <a:schemeClr val="bg2"/>
                </a:solidFill>
              </a:rPr>
              <a:t>coordonnées [x1, y1, x2, y2] délimitant un visage.</a:t>
            </a:r>
            <a:endParaRPr lang="en-US" sz="1400"/>
          </a:p>
        </p:txBody>
      </p:sp>
      <p:sp>
        <p:nvSpPr>
          <p:cNvPr id="1185758036" name="text-378"/>
          <p:cNvSpPr txBox="1"/>
          <p:nvPr/>
        </p:nvSpPr>
        <p:spPr bwMode="auto">
          <a:xfrm>
            <a:off x="6309360" y="2971800"/>
            <a:ext cx="505937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400" b="1">
                <a:solidFill>
                  <a:schemeClr val="bg1"/>
                </a:solidFill>
              </a:rPr>
              <a:t>Score de confiance</a:t>
            </a:r>
            <a:endParaRPr lang="en-US" sz="1400"/>
          </a:p>
          <a:p>
            <a:pPr marL="0" indent="0">
              <a:buNone/>
              <a:defRPr/>
            </a:pPr>
            <a:r>
              <a:rPr lang="en-US" sz="1300">
                <a:solidFill>
                  <a:schemeClr val="bg2"/>
                </a:solidFill>
              </a:rPr>
              <a:t>niveau associé à une détection (distinct de Softmax).</a:t>
            </a:r>
            <a:endParaRPr lang="en-US" sz="1400"/>
          </a:p>
        </p:txBody>
      </p:sp>
      <p:sp>
        <p:nvSpPr>
          <p:cNvPr id="1231928727" name="text-379"/>
          <p:cNvSpPr txBox="1"/>
          <p:nvPr/>
        </p:nvSpPr>
        <p:spPr bwMode="auto">
          <a:xfrm>
            <a:off x="6309360" y="3520440"/>
            <a:ext cx="505937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400" b="1">
                <a:solidFill>
                  <a:schemeClr val="bg1"/>
                </a:solidFill>
              </a:rPr>
              <a:t>IoU</a:t>
            </a:r>
            <a:endParaRPr lang="en-US" sz="1400"/>
          </a:p>
          <a:p>
            <a:pPr marL="0" indent="0">
              <a:buNone/>
              <a:defRPr/>
            </a:pPr>
            <a:r>
              <a:rPr lang="en-US" sz="1300">
                <a:solidFill>
                  <a:schemeClr val="bg2"/>
                </a:solidFill>
              </a:rPr>
              <a:t>intersection / union : recouvrement de deux boîtes.</a:t>
            </a:r>
            <a:endParaRPr lang="en-US" sz="1400"/>
          </a:p>
        </p:txBody>
      </p:sp>
      <p:sp>
        <p:nvSpPr>
          <p:cNvPr id="1409573128" name="text-380"/>
          <p:cNvSpPr txBox="1"/>
          <p:nvPr/>
        </p:nvSpPr>
        <p:spPr bwMode="auto">
          <a:xfrm>
            <a:off x="6309360" y="4069080"/>
            <a:ext cx="505937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400" b="1">
                <a:solidFill>
                  <a:schemeClr val="bg1"/>
                </a:solidFill>
              </a:rPr>
              <a:t>NMS</a:t>
            </a:r>
            <a:endParaRPr lang="en-US" sz="1400"/>
          </a:p>
          <a:p>
            <a:pPr marL="0" indent="0">
              <a:buNone/>
              <a:defRPr/>
            </a:pPr>
            <a:r>
              <a:rPr lang="en-US" sz="1300">
                <a:solidFill>
                  <a:schemeClr val="bg2"/>
                </a:solidFill>
              </a:rPr>
              <a:t>supprime les détections redondantes très superposées.</a:t>
            </a:r>
            <a:endParaRPr lang="en-US" sz="1400"/>
          </a:p>
        </p:txBody>
      </p:sp>
      <p:sp>
        <p:nvSpPr>
          <p:cNvPr id="2026722654" name="text-381"/>
          <p:cNvSpPr txBox="1"/>
          <p:nvPr/>
        </p:nvSpPr>
        <p:spPr bwMode="auto">
          <a:xfrm>
            <a:off x="6309360" y="4617720"/>
            <a:ext cx="505937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400" b="1">
                <a:solidFill>
                  <a:schemeClr val="bg1"/>
                </a:solidFill>
              </a:rPr>
              <a:t>Précision, rappel, mAP</a:t>
            </a:r>
            <a:endParaRPr lang="en-US" sz="1400"/>
          </a:p>
          <a:p>
            <a:pPr marL="0" indent="0">
              <a:buNone/>
              <a:defRPr/>
            </a:pPr>
            <a:r>
              <a:rPr lang="en-US" sz="1300">
                <a:solidFill>
                  <a:schemeClr val="bg2"/>
                </a:solidFill>
              </a:rPr>
              <a:t>métriques de détection, nécessitant des boîtes annotées.</a:t>
            </a:r>
            <a:endParaRPr lang="en-US" sz="1400"/>
          </a:p>
        </p:txBody>
      </p:sp>
      <p:sp>
        <p:nvSpPr>
          <p:cNvPr id="979120343" name="card-382"/>
          <p:cNvSpPr/>
          <p:nvPr/>
        </p:nvSpPr>
        <p:spPr bwMode="auto">
          <a:xfrm>
            <a:off x="548640" y="5413248"/>
            <a:ext cx="11094415" cy="713232"/>
          </a:xfrm>
          <a:prstGeom prst="roundRect">
            <a:avLst>
              <a:gd name="adj" fmla="val 15385"/>
            </a:avLst>
          </a:prstGeom>
          <a:solidFill>
            <a:schemeClr val="tx2">
              <a:alpha val="92000"/>
            </a:schemeClr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95910154" name="text-383"/>
          <p:cNvSpPr txBox="1"/>
          <p:nvPr/>
        </p:nvSpPr>
        <p:spPr bwMode="auto">
          <a:xfrm>
            <a:off x="822960" y="5413248"/>
            <a:ext cx="1054577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chemeClr val="accent4"/>
                </a:solidFill>
              </a:rPr>
              <a:t>Le mAP du détecteur n’a pas été calculé : </a:t>
            </a:r>
            <a:r>
              <a:rPr lang="en-US" sz="1400">
                <a:solidFill>
                  <a:schemeClr val="bg1"/>
                </a:solidFill>
              </a:rPr>
              <a:t>FER2013 ne fournit pas de bounding boxes annotées pour une évaluation de détection.</a:t>
            </a:r>
            <a:endParaRPr lang="en-US" sz="1400"/>
          </a:p>
        </p:txBody>
      </p:sp>
      <p:sp>
        <p:nvSpPr>
          <p:cNvPr id="1201903497" name="Slide Number Placeholder 0"/>
          <p:cNvSpPr>
            <a:spLocks noGrp="1"/>
          </p:cNvSpPr>
          <p:nvPr>
            <p:ph type="sldNum" sz="quarter" idx="4294967295"/>
          </p:nvPr>
        </p:nvSpPr>
        <p:spPr bwMode="auto">
          <a:xfrm>
            <a:off x="11183112" y="6400800"/>
            <a:ext cx="457200" cy="228600"/>
          </a:xfrm>
          <a:prstGeom prst="rect">
            <a:avLst/>
          </a:prstGeom>
        </p:spPr>
        <p:txBody>
          <a:bodyPr lIns="0" tIns="0" rIns="0" bIns="0"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r">
              <a:defRPr/>
            </a:pPr>
            <a:fld id="{F7021451-1387-4CA6-816F-3879F97B5CBC}" type="slidenum">
              <a:rPr lang="en-US" b="1"/>
              <a:t>18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9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7340092" name="Text 0"/>
          <p:cNvSpPr/>
          <p:nvPr>
            <p:ph type="body" idx="100" hasCustomPrompt="1"/>
          </p:nvPr>
        </p:nvSpPr>
        <p:spPr bwMode="auto"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 spc="300">
                <a:solidFill>
                  <a:schemeClr val="accent1"/>
                </a:solidFill>
              </a:rPr>
              <a:t>13 / EXTENSION VIDÉO</a:t>
            </a:r>
            <a:endParaRPr lang="en-US" sz="1200"/>
          </a:p>
        </p:txBody>
      </p:sp>
      <p:sp>
        <p:nvSpPr>
          <p:cNvPr id="142497844" name="Text 0"/>
          <p:cNvSpPr/>
          <p:nvPr>
            <p:ph type="title" idx="101" hasCustomPrompt="1"/>
          </p:nvPr>
        </p:nvSpPr>
        <p:spPr bwMode="auto"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3400" b="1">
                <a:solidFill>
                  <a:schemeClr val="bg1"/>
                </a:solidFill>
              </a:rPr>
              <a:t>Démonstration vidéo intégrée</a:t>
            </a:r>
            <a:endParaRPr lang="en-US" sz="3400"/>
          </a:p>
        </p:txBody>
      </p:sp>
      <p:sp>
        <p:nvSpPr>
          <p:cNvPr id="278056170" name="Text 0"/>
          <p:cNvSpPr/>
          <p:nvPr>
            <p:ph type="body" idx="102" hasCustomPrompt="1"/>
          </p:nvPr>
        </p:nvSpPr>
        <p:spPr bwMode="auto">
          <a:xfrm>
            <a:off x="548640" y="138988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00">
                <a:solidFill>
                  <a:schemeClr val="bg2"/>
                </a:solidFill>
              </a:rPr>
              <a:t>Lecture locale dans PowerPoint : cliquer sur la vidéo pendant le diaporama.</a:t>
            </a:r>
            <a:endParaRPr lang="en-US" sz="1500"/>
          </a:p>
        </p:txBody>
      </p:sp>
      <p:sp>
        <p:nvSpPr>
          <p:cNvPr id="2014342136" name="cadre-video"/>
          <p:cNvSpPr/>
          <p:nvPr/>
        </p:nvSpPr>
        <p:spPr bwMode="auto">
          <a:xfrm>
            <a:off x="548640" y="1920240"/>
            <a:ext cx="6309360" cy="3547872"/>
          </a:xfrm>
          <a:prstGeom prst="roundRect">
            <a:avLst>
              <a:gd name="adj" fmla="val 3093"/>
            </a:avLst>
          </a:prstGeom>
          <a:solidFill>
            <a:schemeClr val="tx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79216725" name="playbg-384"/>
          <p:cNvSpPr/>
          <p:nvPr/>
        </p:nvSpPr>
        <p:spPr bwMode="auto">
          <a:xfrm>
            <a:off x="3200400" y="3191256"/>
            <a:ext cx="1005840" cy="1005840"/>
          </a:xfrm>
          <a:prstGeom prst="ellipse">
            <a:avLst/>
          </a:prstGeom>
          <a:solidFill>
            <a:schemeClr val="accent1">
              <a:alpha val="20000"/>
            </a:schemeClr>
          </a:solidFill>
          <a:ln w="25400">
            <a:solidFill>
              <a:schemeClr val="accent1"/>
            </a:solidFill>
            <a:prstDash val="solid"/>
          </a:ln>
        </p:spPr>
      </p:sp>
      <p:pic>
        <p:nvPicPr>
          <p:cNvPr id="889429844" name="icon-385" descr="Lecture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3547872" y="3465576"/>
            <a:ext cx="457200" cy="457200"/>
          </a:xfrm>
          <a:prstGeom prst="rect">
            <a:avLst/>
          </a:prstGeom>
        </p:spPr>
      </p:pic>
      <p:sp>
        <p:nvSpPr>
          <p:cNvPr id="2054082150" name="text-386"/>
          <p:cNvSpPr txBox="1"/>
          <p:nvPr/>
        </p:nvSpPr>
        <p:spPr bwMode="auto">
          <a:xfrm>
            <a:off x="822960" y="2103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100" b="1" spc="300">
                <a:solidFill>
                  <a:schemeClr val="accent1"/>
                </a:solidFill>
              </a:rPr>
              <a:t>VIDÉO ANALYSÉE</a:t>
            </a:r>
            <a:endParaRPr lang="en-US" sz="1100"/>
          </a:p>
        </p:txBody>
      </p:sp>
      <p:sp>
        <p:nvSpPr>
          <p:cNvPr id="151705911" name="card-387"/>
          <p:cNvSpPr/>
          <p:nvPr/>
        </p:nvSpPr>
        <p:spPr bwMode="auto">
          <a:xfrm>
            <a:off x="548640" y="5605272"/>
            <a:ext cx="6309360" cy="566928"/>
          </a:xfrm>
          <a:prstGeom prst="roundRect">
            <a:avLst>
              <a:gd name="adj" fmla="val 19355"/>
            </a:avLst>
          </a:prstGeom>
          <a:solidFill>
            <a:schemeClr val="tx2">
              <a:alpha val="92000"/>
            </a:schemeClr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354074954" name="lien-388"/>
          <p:cNvSpPr txBox="1"/>
          <p:nvPr/>
        </p:nvSpPr>
        <p:spPr bwMode="auto">
          <a:xfrm>
            <a:off x="822960" y="5605272"/>
            <a:ext cx="5760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 u="sng">
                <a:solidFill>
                  <a:schemeClr val="accent1"/>
                </a:solidFill>
                <a:hlinkClick r:id="rId4" tooltip=""/>
              </a:rPr>
              <a:t>Vidéo originale (YouTube) : youtu.be/-KZI9_dtdz8</a:t>
            </a:r>
            <a:endParaRPr lang="en-US" sz="1400"/>
          </a:p>
        </p:txBody>
      </p:sp>
      <p:sp>
        <p:nvSpPr>
          <p:cNvPr id="381791273" name="card-389"/>
          <p:cNvSpPr/>
          <p:nvPr/>
        </p:nvSpPr>
        <p:spPr bwMode="auto">
          <a:xfrm>
            <a:off x="7132320" y="1920240"/>
            <a:ext cx="1412138" cy="822960"/>
          </a:xfrm>
          <a:prstGeom prst="roundRect">
            <a:avLst>
              <a:gd name="adj" fmla="val 13333"/>
            </a:avLst>
          </a:prstGeom>
          <a:solidFill>
            <a:schemeClr val="tx2">
              <a:alpha val="92000"/>
            </a:schemeClr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013993586" name="text-390"/>
          <p:cNvSpPr txBox="1"/>
          <p:nvPr/>
        </p:nvSpPr>
        <p:spPr bwMode="auto">
          <a:xfrm>
            <a:off x="7269480" y="2029968"/>
            <a:ext cx="1137818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2000" b="1">
                <a:solidFill>
                  <a:schemeClr val="accent1"/>
                </a:solidFill>
              </a:rPr>
              <a:t>19,6 s</a:t>
            </a:r>
            <a:endParaRPr lang="en-US" sz="2000"/>
          </a:p>
        </p:txBody>
      </p:sp>
      <p:sp>
        <p:nvSpPr>
          <p:cNvPr id="1781697013" name="text-391"/>
          <p:cNvSpPr txBox="1"/>
          <p:nvPr/>
        </p:nvSpPr>
        <p:spPr bwMode="auto">
          <a:xfrm>
            <a:off x="7269480" y="2430475"/>
            <a:ext cx="113781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  <a:defRPr/>
            </a:pPr>
            <a:r>
              <a:rPr lang="en-US" sz="1100" spc="200">
                <a:solidFill>
                  <a:schemeClr val="bg2"/>
                </a:solidFill>
              </a:rPr>
              <a:t>DURÉE</a:t>
            </a:r>
            <a:endParaRPr lang="en-US" sz="1100"/>
          </a:p>
        </p:txBody>
      </p:sp>
      <p:sp>
        <p:nvSpPr>
          <p:cNvPr id="760675193" name="card-392"/>
          <p:cNvSpPr/>
          <p:nvPr/>
        </p:nvSpPr>
        <p:spPr bwMode="auto">
          <a:xfrm>
            <a:off x="8681618" y="1920240"/>
            <a:ext cx="1412138" cy="822960"/>
          </a:xfrm>
          <a:prstGeom prst="roundRect">
            <a:avLst>
              <a:gd name="adj" fmla="val 13333"/>
            </a:avLst>
          </a:prstGeom>
          <a:solidFill>
            <a:schemeClr val="tx2">
              <a:alpha val="92000"/>
            </a:schemeClr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697688074" name="text-393"/>
          <p:cNvSpPr txBox="1"/>
          <p:nvPr/>
        </p:nvSpPr>
        <p:spPr bwMode="auto">
          <a:xfrm>
            <a:off x="8818778" y="2029968"/>
            <a:ext cx="1137818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2000" b="1">
                <a:solidFill>
                  <a:schemeClr val="accent1"/>
                </a:solidFill>
              </a:rPr>
              <a:t>25 fps</a:t>
            </a:r>
            <a:endParaRPr lang="en-US" sz="2000"/>
          </a:p>
        </p:txBody>
      </p:sp>
      <p:sp>
        <p:nvSpPr>
          <p:cNvPr id="2040755201" name="text-394"/>
          <p:cNvSpPr txBox="1"/>
          <p:nvPr/>
        </p:nvSpPr>
        <p:spPr bwMode="auto">
          <a:xfrm>
            <a:off x="8818778" y="2430475"/>
            <a:ext cx="113781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  <a:defRPr/>
            </a:pPr>
            <a:r>
              <a:rPr lang="en-US" sz="1100" spc="200">
                <a:solidFill>
                  <a:schemeClr val="bg2"/>
                </a:solidFill>
              </a:rPr>
              <a:t>FRÉQUENCE</a:t>
            </a:r>
            <a:endParaRPr lang="en-US" sz="1100"/>
          </a:p>
        </p:txBody>
      </p:sp>
      <p:sp>
        <p:nvSpPr>
          <p:cNvPr id="1623555200" name="card-395"/>
          <p:cNvSpPr/>
          <p:nvPr/>
        </p:nvSpPr>
        <p:spPr bwMode="auto">
          <a:xfrm>
            <a:off x="10230917" y="1920240"/>
            <a:ext cx="1412138" cy="822960"/>
          </a:xfrm>
          <a:prstGeom prst="roundRect">
            <a:avLst>
              <a:gd name="adj" fmla="val 13333"/>
            </a:avLst>
          </a:prstGeom>
          <a:solidFill>
            <a:schemeClr val="tx2">
              <a:alpha val="92000"/>
            </a:schemeClr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251301796" name="text-396"/>
          <p:cNvSpPr txBox="1"/>
          <p:nvPr/>
        </p:nvSpPr>
        <p:spPr bwMode="auto">
          <a:xfrm>
            <a:off x="10368077" y="2029968"/>
            <a:ext cx="1137818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2000" b="1">
                <a:solidFill>
                  <a:schemeClr val="accent1"/>
                </a:solidFill>
              </a:rPr>
              <a:t>490</a:t>
            </a:r>
            <a:endParaRPr lang="en-US" sz="2000"/>
          </a:p>
        </p:txBody>
      </p:sp>
      <p:sp>
        <p:nvSpPr>
          <p:cNvPr id="261168948" name="text-397"/>
          <p:cNvSpPr txBox="1"/>
          <p:nvPr/>
        </p:nvSpPr>
        <p:spPr bwMode="auto">
          <a:xfrm>
            <a:off x="10368077" y="2430475"/>
            <a:ext cx="113781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  <a:defRPr/>
            </a:pPr>
            <a:r>
              <a:rPr lang="en-US" sz="1100" spc="200">
                <a:solidFill>
                  <a:schemeClr val="bg2"/>
                </a:solidFill>
              </a:rPr>
              <a:t>IMAGES</a:t>
            </a:r>
            <a:endParaRPr lang="en-US" sz="1100"/>
          </a:p>
        </p:txBody>
      </p:sp>
      <p:sp>
        <p:nvSpPr>
          <p:cNvPr id="1059712410" name="card-398"/>
          <p:cNvSpPr/>
          <p:nvPr/>
        </p:nvSpPr>
        <p:spPr bwMode="auto">
          <a:xfrm>
            <a:off x="7132320" y="2880360"/>
            <a:ext cx="4510735" cy="731520"/>
          </a:xfrm>
          <a:prstGeom prst="roundRect">
            <a:avLst>
              <a:gd name="adj" fmla="val 15000"/>
            </a:avLst>
          </a:prstGeom>
          <a:solidFill>
            <a:schemeClr val="tx2">
              <a:alpha val="92000"/>
            </a:schemeClr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1135343" name="text-399"/>
          <p:cNvSpPr txBox="1"/>
          <p:nvPr/>
        </p:nvSpPr>
        <p:spPr bwMode="auto">
          <a:xfrm>
            <a:off x="7360920" y="2880360"/>
            <a:ext cx="4053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800" b="1">
                <a:solidFill>
                  <a:schemeClr val="accent1"/>
                </a:solidFill>
              </a:rPr>
              <a:t>1 723</a:t>
            </a:r>
            <a:r>
              <a:rPr lang="en-US" sz="1400">
                <a:solidFill>
                  <a:schemeClr val="bg1"/>
                </a:solidFill>
              </a:rPr>
              <a:t>  instances de visages détectées</a:t>
            </a:r>
            <a:endParaRPr lang="en-US" sz="1400"/>
          </a:p>
        </p:txBody>
      </p:sp>
      <p:sp>
        <p:nvSpPr>
          <p:cNvPr id="1826297160" name="card-400"/>
          <p:cNvSpPr/>
          <p:nvPr/>
        </p:nvSpPr>
        <p:spPr bwMode="auto">
          <a:xfrm>
            <a:off x="7132320" y="3749040"/>
            <a:ext cx="4510735" cy="1463040"/>
          </a:xfrm>
          <a:prstGeom prst="roundRect">
            <a:avLst>
              <a:gd name="adj" fmla="val 7500"/>
            </a:avLst>
          </a:prstGeom>
          <a:solidFill>
            <a:schemeClr val="tx2">
              <a:alpha val="92000"/>
            </a:schemeClr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122478036" name="text-401"/>
          <p:cNvSpPr txBox="1"/>
          <p:nvPr/>
        </p:nvSpPr>
        <p:spPr bwMode="auto">
          <a:xfrm>
            <a:off x="7360920" y="3840480"/>
            <a:ext cx="40535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100" b="1" spc="300">
                <a:solidFill>
                  <a:schemeClr val="accent1"/>
                </a:solidFill>
              </a:rPr>
              <a:t>ÉMOTIONS COMPTABILISÉES</a:t>
            </a:r>
            <a:endParaRPr lang="en-US" sz="1100"/>
          </a:p>
        </p:txBody>
      </p:sp>
      <p:sp>
        <p:nvSpPr>
          <p:cNvPr id="1870440615" name="text-402"/>
          <p:cNvSpPr txBox="1"/>
          <p:nvPr/>
        </p:nvSpPr>
        <p:spPr bwMode="auto">
          <a:xfrm>
            <a:off x="7360920" y="413308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>
                <a:solidFill>
                  <a:schemeClr val="bg1"/>
                </a:solidFill>
              </a:rPr>
              <a:t>Joie</a:t>
            </a:r>
            <a:endParaRPr lang="en-US" sz="1300"/>
          </a:p>
        </p:txBody>
      </p:sp>
      <p:sp>
        <p:nvSpPr>
          <p:cNvPr id="1679100672" name="bar-403"/>
          <p:cNvSpPr/>
          <p:nvPr/>
        </p:nvSpPr>
        <p:spPr bwMode="auto">
          <a:xfrm>
            <a:off x="8366760" y="4174235"/>
            <a:ext cx="2361895" cy="155448"/>
          </a:xfrm>
          <a:prstGeom prst="roundRect">
            <a:avLst>
              <a:gd name="adj" fmla="val 23529"/>
            </a:avLst>
          </a:prstGeom>
          <a:solidFill>
            <a:schemeClr val="accent1"/>
          </a:solidFill>
          <a:ln/>
        </p:spPr>
      </p:sp>
      <p:sp>
        <p:nvSpPr>
          <p:cNvPr id="1086838240" name="text-404"/>
          <p:cNvSpPr txBox="1"/>
          <p:nvPr/>
        </p:nvSpPr>
        <p:spPr bwMode="auto">
          <a:xfrm>
            <a:off x="10774375" y="4133088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1300" b="1">
                <a:solidFill>
                  <a:schemeClr val="bg1"/>
                </a:solidFill>
              </a:rPr>
              <a:t>1 239</a:t>
            </a:r>
            <a:endParaRPr lang="en-US" sz="1300"/>
          </a:p>
        </p:txBody>
      </p:sp>
      <p:sp>
        <p:nvSpPr>
          <p:cNvPr id="1912426023" name="text-405"/>
          <p:cNvSpPr txBox="1"/>
          <p:nvPr/>
        </p:nvSpPr>
        <p:spPr bwMode="auto">
          <a:xfrm>
            <a:off x="7360920" y="438912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>
                <a:solidFill>
                  <a:schemeClr val="bg1"/>
                </a:solidFill>
              </a:rPr>
              <a:t>Tristesse</a:t>
            </a:r>
            <a:endParaRPr lang="en-US" sz="1300"/>
          </a:p>
        </p:txBody>
      </p:sp>
      <p:sp>
        <p:nvSpPr>
          <p:cNvPr id="639655539" name="bar-406"/>
          <p:cNvSpPr/>
          <p:nvPr/>
        </p:nvSpPr>
        <p:spPr bwMode="auto">
          <a:xfrm>
            <a:off x="8366760" y="4430268"/>
            <a:ext cx="737735" cy="155448"/>
          </a:xfrm>
          <a:prstGeom prst="roundRect">
            <a:avLst>
              <a:gd name="adj" fmla="val 23529"/>
            </a:avLst>
          </a:prstGeom>
          <a:solidFill>
            <a:schemeClr val="accent2"/>
          </a:solidFill>
          <a:ln/>
        </p:spPr>
      </p:sp>
      <p:sp>
        <p:nvSpPr>
          <p:cNvPr id="206445069" name="text-407"/>
          <p:cNvSpPr txBox="1"/>
          <p:nvPr/>
        </p:nvSpPr>
        <p:spPr bwMode="auto">
          <a:xfrm>
            <a:off x="10774375" y="438912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1300" b="1">
                <a:solidFill>
                  <a:schemeClr val="bg1"/>
                </a:solidFill>
              </a:rPr>
              <a:t>387</a:t>
            </a:r>
            <a:endParaRPr lang="en-US" sz="1300"/>
          </a:p>
        </p:txBody>
      </p:sp>
      <p:sp>
        <p:nvSpPr>
          <p:cNvPr id="520713417" name="text-408"/>
          <p:cNvSpPr txBox="1"/>
          <p:nvPr/>
        </p:nvSpPr>
        <p:spPr bwMode="auto">
          <a:xfrm>
            <a:off x="7360920" y="464515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>
                <a:solidFill>
                  <a:schemeClr val="bg1"/>
                </a:solidFill>
              </a:rPr>
              <a:t>Neutre</a:t>
            </a:r>
            <a:endParaRPr lang="en-US" sz="1300"/>
          </a:p>
        </p:txBody>
      </p:sp>
      <p:sp>
        <p:nvSpPr>
          <p:cNvPr id="2135970734" name="bar-409"/>
          <p:cNvSpPr/>
          <p:nvPr/>
        </p:nvSpPr>
        <p:spPr bwMode="auto">
          <a:xfrm>
            <a:off x="8366760" y="4686300"/>
            <a:ext cx="108659" cy="155448"/>
          </a:xfrm>
          <a:prstGeom prst="roundRect">
            <a:avLst>
              <a:gd name="adj" fmla="val 33661"/>
            </a:avLst>
          </a:prstGeom>
          <a:solidFill>
            <a:schemeClr val="accent3"/>
          </a:solidFill>
          <a:ln/>
        </p:spPr>
      </p:sp>
      <p:sp>
        <p:nvSpPr>
          <p:cNvPr id="958989512" name="text-410"/>
          <p:cNvSpPr txBox="1"/>
          <p:nvPr/>
        </p:nvSpPr>
        <p:spPr bwMode="auto">
          <a:xfrm>
            <a:off x="10774375" y="4645152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1300" b="1">
                <a:solidFill>
                  <a:schemeClr val="bg1"/>
                </a:solidFill>
              </a:rPr>
              <a:t>57</a:t>
            </a:r>
            <a:endParaRPr lang="en-US" sz="1300"/>
          </a:p>
        </p:txBody>
      </p:sp>
      <p:sp>
        <p:nvSpPr>
          <p:cNvPr id="139115906" name="text-411"/>
          <p:cNvSpPr txBox="1"/>
          <p:nvPr/>
        </p:nvSpPr>
        <p:spPr bwMode="auto">
          <a:xfrm>
            <a:off x="7360920" y="4901184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>
                <a:solidFill>
                  <a:schemeClr val="bg1"/>
                </a:solidFill>
              </a:rPr>
              <a:t>Colère</a:t>
            </a:r>
            <a:endParaRPr lang="en-US" sz="1300"/>
          </a:p>
        </p:txBody>
      </p:sp>
      <p:sp>
        <p:nvSpPr>
          <p:cNvPr id="825075740" name="bar-412"/>
          <p:cNvSpPr/>
          <p:nvPr/>
        </p:nvSpPr>
        <p:spPr bwMode="auto">
          <a:xfrm>
            <a:off x="8366760" y="4942332"/>
            <a:ext cx="76252" cy="155448"/>
          </a:xfrm>
          <a:prstGeom prst="roundRect">
            <a:avLst>
              <a:gd name="adj" fmla="val 47967"/>
            </a:avLst>
          </a:prstGeom>
          <a:solidFill>
            <a:schemeClr val="accent4"/>
          </a:solidFill>
          <a:ln/>
        </p:spPr>
      </p:sp>
      <p:sp>
        <p:nvSpPr>
          <p:cNvPr id="715467113" name="text-413"/>
          <p:cNvSpPr txBox="1"/>
          <p:nvPr/>
        </p:nvSpPr>
        <p:spPr bwMode="auto">
          <a:xfrm>
            <a:off x="10774375" y="4901184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1300" b="1">
                <a:solidFill>
                  <a:schemeClr val="bg1"/>
                </a:solidFill>
              </a:rPr>
              <a:t>40</a:t>
            </a:r>
            <a:endParaRPr lang="en-US" sz="1300"/>
          </a:p>
        </p:txBody>
      </p:sp>
      <p:sp>
        <p:nvSpPr>
          <p:cNvPr id="1329569528" name="card-414"/>
          <p:cNvSpPr/>
          <p:nvPr/>
        </p:nvSpPr>
        <p:spPr bwMode="auto">
          <a:xfrm>
            <a:off x="7132320" y="5349240"/>
            <a:ext cx="4510735" cy="822960"/>
          </a:xfrm>
          <a:prstGeom prst="roundRect">
            <a:avLst>
              <a:gd name="adj" fmla="val 13333"/>
            </a:avLst>
          </a:prstGeom>
          <a:solidFill>
            <a:schemeClr val="tx2">
              <a:alpha val="92000"/>
            </a:schemeClr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204240487" name="whitecard-415"/>
          <p:cNvSpPr/>
          <p:nvPr/>
        </p:nvSpPr>
        <p:spPr bwMode="auto">
          <a:xfrm>
            <a:off x="7196328" y="5394960"/>
            <a:ext cx="731520" cy="731520"/>
          </a:xfrm>
          <a:prstGeom prst="roundRect">
            <a:avLst>
              <a:gd name="adj" fmla="val 15000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456309186" name="img-416" descr="QR code de la vidéo originale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7242048" y="5440680"/>
            <a:ext cx="640080" cy="640080"/>
          </a:xfrm>
          <a:prstGeom prst="rect">
            <a:avLst/>
          </a:prstGeom>
        </p:spPr>
      </p:pic>
      <p:sp>
        <p:nvSpPr>
          <p:cNvPr id="545452269" name="text-417"/>
          <p:cNvSpPr txBox="1"/>
          <p:nvPr/>
        </p:nvSpPr>
        <p:spPr bwMode="auto">
          <a:xfrm>
            <a:off x="8092440" y="5349240"/>
            <a:ext cx="34134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>
                <a:solidFill>
                  <a:schemeClr val="bg2"/>
                </a:solidFill>
              </a:rPr>
              <a:t>Scannez pour ouvrir la vidéo originale</a:t>
            </a:r>
            <a:endParaRPr lang="en-US" sz="1400"/>
          </a:p>
        </p:txBody>
      </p:sp>
      <p:sp>
        <p:nvSpPr>
          <p:cNvPr id="1544515373" name="Slide Number Placeholder 0"/>
          <p:cNvSpPr>
            <a:spLocks noGrp="1"/>
          </p:cNvSpPr>
          <p:nvPr>
            <p:ph type="sldNum" sz="quarter" idx="4294967295"/>
          </p:nvPr>
        </p:nvSpPr>
        <p:spPr bwMode="auto">
          <a:xfrm>
            <a:off x="11183112" y="6400800"/>
            <a:ext cx="457200" cy="228600"/>
          </a:xfrm>
          <a:prstGeom prst="rect">
            <a:avLst/>
          </a:prstGeom>
        </p:spPr>
        <p:txBody>
          <a:bodyPr lIns="0" tIns="0" rIns="0" bIns="0"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r">
              <a:defRPr/>
            </a:pPr>
            <a:fld id="{F7021451-1387-4CA6-816F-3879F97B5CBC}" type="slidenum">
              <a:rPr lang="en-US" b="1"/>
              <a:t>19</a:t>
            </a:fld>
            <a:endParaRPr lang="en-US"/>
          </a:p>
        </p:txBody>
      </p:sp>
      <p:pic>
        <p:nvPicPr>
          <p:cNvPr id="1685205691" name="Vidéo analysée — cliquez pour lire (MP4 intégré)">
            <a:hlinkClick r:id="" action="ppaction://media"/>
          </p:cNvPr>
          <p:cNvPicPr>
            <a:picLocks noChangeAspect="1"/>
          </p:cNvPicPr>
          <p:nvPr>
            <a:vide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 rotWithShape="1">
          <a:blip r:embed="rId6"/>
          <a:stretch>
            <a:fillRect/>
          </a:stretch>
        </p:blipFill>
        <p:spPr bwMode="auto">
          <a:xfrm flipH="0" flipV="0">
            <a:off x="777240" y="2275276"/>
            <a:ext cx="5542269" cy="311968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20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2556774" name="Text 0"/>
          <p:cNvSpPr/>
          <p:nvPr>
            <p:ph type="body" idx="100" hasCustomPrompt="1"/>
          </p:nvPr>
        </p:nvSpPr>
        <p:spPr bwMode="auto"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 spc="300">
                <a:solidFill>
                  <a:schemeClr val="accent1"/>
                </a:solidFill>
              </a:rPr>
              <a:t>14 / CONCLUSION</a:t>
            </a:r>
            <a:endParaRPr lang="en-US" sz="1200"/>
          </a:p>
        </p:txBody>
      </p:sp>
      <p:sp>
        <p:nvSpPr>
          <p:cNvPr id="1576348325" name="Text 0"/>
          <p:cNvSpPr/>
          <p:nvPr>
            <p:ph type="title" idx="101" hasCustomPrompt="1"/>
          </p:nvPr>
        </p:nvSpPr>
        <p:spPr bwMode="auto"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3400" b="1">
                <a:solidFill>
                  <a:schemeClr val="bg1"/>
                </a:solidFill>
              </a:rPr>
              <a:t>Bilan et perspectives</a:t>
            </a:r>
            <a:endParaRPr lang="en-US" sz="3400"/>
          </a:p>
        </p:txBody>
      </p:sp>
      <p:sp>
        <p:nvSpPr>
          <p:cNvPr id="1664724140" name="Text 0"/>
          <p:cNvSpPr/>
          <p:nvPr>
            <p:ph type="body" idx="102" hasCustomPrompt="1"/>
          </p:nvPr>
        </p:nvSpPr>
        <p:spPr bwMode="auto">
          <a:xfrm>
            <a:off x="548640" y="138988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00">
                <a:solidFill>
                  <a:schemeClr val="bg2"/>
                </a:solidFill>
              </a:rPr>
              <a:t>Classification multiclasse, CNN, amélioration expérimentale et extension vers une application complète.</a:t>
            </a:r>
            <a:endParaRPr lang="en-US" sz="1500"/>
          </a:p>
        </p:txBody>
      </p:sp>
      <p:sp>
        <p:nvSpPr>
          <p:cNvPr id="457547102" name="card-418"/>
          <p:cNvSpPr/>
          <p:nvPr/>
        </p:nvSpPr>
        <p:spPr bwMode="auto">
          <a:xfrm>
            <a:off x="548640" y="1920240"/>
            <a:ext cx="3520440" cy="2743200"/>
          </a:xfrm>
          <a:prstGeom prst="roundRect">
            <a:avLst>
              <a:gd name="adj" fmla="val 4000"/>
            </a:avLst>
          </a:prstGeom>
          <a:solidFill>
            <a:schemeClr val="tx2">
              <a:alpha val="92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18829035" name="iconbg-419"/>
          <p:cNvSpPr/>
          <p:nvPr/>
        </p:nvSpPr>
        <p:spPr bwMode="auto">
          <a:xfrm>
            <a:off x="822960" y="2176272"/>
            <a:ext cx="548640" cy="548640"/>
          </a:xfrm>
          <a:prstGeom prst="ellipse">
            <a:avLst/>
          </a:prstGeom>
          <a:solidFill>
            <a:schemeClr val="accent1">
              <a:alpha val="14000"/>
            </a:schemeClr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19223798" name="icon-420" descr="icône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971093" y="2324405"/>
            <a:ext cx="252374" cy="252374"/>
          </a:xfrm>
          <a:prstGeom prst="rect">
            <a:avLst/>
          </a:prstGeom>
        </p:spPr>
      </p:pic>
      <p:sp>
        <p:nvSpPr>
          <p:cNvPr id="1376498752" name="text-421"/>
          <p:cNvSpPr txBox="1"/>
          <p:nvPr/>
        </p:nvSpPr>
        <p:spPr bwMode="auto">
          <a:xfrm>
            <a:off x="1554480" y="2176272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900" b="1">
                <a:solidFill>
                  <a:schemeClr val="bg1"/>
                </a:solidFill>
              </a:rPr>
              <a:t>Bilan</a:t>
            </a:r>
            <a:endParaRPr lang="en-US" sz="1900"/>
          </a:p>
        </p:txBody>
      </p:sp>
      <p:sp>
        <p:nvSpPr>
          <p:cNvPr id="1312579178" name="text-422"/>
          <p:cNvSpPr txBox="1"/>
          <p:nvPr/>
        </p:nvSpPr>
        <p:spPr bwMode="auto">
          <a:xfrm>
            <a:off x="822960" y="2926080"/>
            <a:ext cx="2971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500">
                <a:solidFill>
                  <a:schemeClr val="bg2"/>
                </a:solidFill>
              </a:rPr>
              <a:t>FER2013 a permis de construire un pipeline complet : préparation des données, baseline dense, CNN, analyse des erreurs, améliorations puis extension image/vidéo.</a:t>
            </a:r>
            <a:endParaRPr lang="en-US" sz="1500"/>
          </a:p>
        </p:txBody>
      </p:sp>
      <p:sp>
        <p:nvSpPr>
          <p:cNvPr id="106536482" name="card-423"/>
          <p:cNvSpPr/>
          <p:nvPr/>
        </p:nvSpPr>
        <p:spPr bwMode="auto">
          <a:xfrm>
            <a:off x="4334256" y="1920240"/>
            <a:ext cx="3520440" cy="2743200"/>
          </a:xfrm>
          <a:prstGeom prst="roundRect">
            <a:avLst>
              <a:gd name="adj" fmla="val 4000"/>
            </a:avLst>
          </a:prstGeom>
          <a:solidFill>
            <a:schemeClr val="tx2">
              <a:alpha val="92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663987001" name="iconbg-424"/>
          <p:cNvSpPr/>
          <p:nvPr/>
        </p:nvSpPr>
        <p:spPr bwMode="auto">
          <a:xfrm>
            <a:off x="4608576" y="2176272"/>
            <a:ext cx="548640" cy="548640"/>
          </a:xfrm>
          <a:prstGeom prst="ellipse">
            <a:avLst/>
          </a:prstGeom>
          <a:solidFill>
            <a:schemeClr val="accent1">
              <a:alpha val="14000"/>
            </a:schemeClr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922959520" name="icon-425" descr="icône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4756709" y="2324405"/>
            <a:ext cx="252374" cy="252374"/>
          </a:xfrm>
          <a:prstGeom prst="rect">
            <a:avLst/>
          </a:prstGeom>
        </p:spPr>
      </p:pic>
      <p:sp>
        <p:nvSpPr>
          <p:cNvPr id="254571761" name="text-426"/>
          <p:cNvSpPr txBox="1"/>
          <p:nvPr/>
        </p:nvSpPr>
        <p:spPr bwMode="auto">
          <a:xfrm>
            <a:off x="5340096" y="2176272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900" b="1">
                <a:solidFill>
                  <a:schemeClr val="bg1"/>
                </a:solidFill>
              </a:rPr>
              <a:t>Résultat principal</a:t>
            </a:r>
            <a:endParaRPr lang="en-US" sz="1900"/>
          </a:p>
        </p:txBody>
      </p:sp>
      <p:sp>
        <p:nvSpPr>
          <p:cNvPr id="1888459190" name="text-427"/>
          <p:cNvSpPr txBox="1"/>
          <p:nvPr/>
        </p:nvSpPr>
        <p:spPr bwMode="auto">
          <a:xfrm>
            <a:off x="4608576" y="2926080"/>
            <a:ext cx="2971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500">
                <a:solidFill>
                  <a:schemeClr val="bg2"/>
                </a:solidFill>
              </a:rPr>
              <a:t>Meilleur modèle : Exp. 1 avec data augmentation, 58,18 % en validation et 59,57 % en test final. Le CNN surpasse nettement le baseline dense.</a:t>
            </a:r>
            <a:endParaRPr lang="en-US" sz="1500"/>
          </a:p>
        </p:txBody>
      </p:sp>
      <p:sp>
        <p:nvSpPr>
          <p:cNvPr id="679480985" name="card-428"/>
          <p:cNvSpPr/>
          <p:nvPr/>
        </p:nvSpPr>
        <p:spPr bwMode="auto">
          <a:xfrm>
            <a:off x="8119872" y="1920240"/>
            <a:ext cx="3520440" cy="2743200"/>
          </a:xfrm>
          <a:prstGeom prst="roundRect">
            <a:avLst>
              <a:gd name="adj" fmla="val 4000"/>
            </a:avLst>
          </a:prstGeom>
          <a:solidFill>
            <a:schemeClr val="tx2">
              <a:alpha val="92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994491962" name="iconbg-429"/>
          <p:cNvSpPr/>
          <p:nvPr/>
        </p:nvSpPr>
        <p:spPr bwMode="auto">
          <a:xfrm>
            <a:off x="8394192" y="2176272"/>
            <a:ext cx="548640" cy="548640"/>
          </a:xfrm>
          <a:prstGeom prst="ellipse">
            <a:avLst/>
          </a:prstGeom>
          <a:solidFill>
            <a:schemeClr val="accent1">
              <a:alpha val="14000"/>
            </a:schemeClr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959040937" name="icon-430" descr="icône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8542325" y="2324405"/>
            <a:ext cx="252374" cy="252374"/>
          </a:xfrm>
          <a:prstGeom prst="rect">
            <a:avLst/>
          </a:prstGeom>
        </p:spPr>
      </p:pic>
      <p:sp>
        <p:nvSpPr>
          <p:cNvPr id="933945976" name="text-431"/>
          <p:cNvSpPr txBox="1"/>
          <p:nvPr/>
        </p:nvSpPr>
        <p:spPr bwMode="auto">
          <a:xfrm>
            <a:off x="9125712" y="2176272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900" b="1">
                <a:solidFill>
                  <a:schemeClr val="bg1"/>
                </a:solidFill>
              </a:rPr>
              <a:t>Perspectives</a:t>
            </a:r>
            <a:endParaRPr lang="en-US" sz="1900"/>
          </a:p>
        </p:txBody>
      </p:sp>
      <p:sp>
        <p:nvSpPr>
          <p:cNvPr id="1447788932" name="text-432"/>
          <p:cNvSpPr txBox="1"/>
          <p:nvPr/>
        </p:nvSpPr>
        <p:spPr bwMode="auto">
          <a:xfrm>
            <a:off x="8394192" y="2926080"/>
            <a:ext cx="2971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500">
                <a:solidFill>
                  <a:schemeClr val="bg2"/>
                </a:solidFill>
              </a:rPr>
              <a:t>Mieux traiter le déséquilibre des classes, tester d’autres architectures, ajouter des données et améliorer la robustesse (pose, éclairage, temps réel).</a:t>
            </a:r>
            <a:endParaRPr lang="en-US" sz="1500"/>
          </a:p>
        </p:txBody>
      </p:sp>
      <p:sp>
        <p:nvSpPr>
          <p:cNvPr id="1667717184" name="highlight-433"/>
          <p:cNvSpPr/>
          <p:nvPr/>
        </p:nvSpPr>
        <p:spPr bwMode="auto">
          <a:xfrm>
            <a:off x="548640" y="4846320"/>
            <a:ext cx="11094415" cy="777240"/>
          </a:xfrm>
          <a:prstGeom prst="roundRect">
            <a:avLst>
              <a:gd name="adj" fmla="val 14118"/>
            </a:avLst>
          </a:prstGeom>
          <a:solidFill>
            <a:schemeClr val="accent1">
              <a:alpha val="12000"/>
            </a:schemeClr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210599848" name="text-434"/>
          <p:cNvSpPr txBox="1"/>
          <p:nvPr/>
        </p:nvSpPr>
        <p:spPr bwMode="auto">
          <a:xfrm>
            <a:off x="822960" y="4846320"/>
            <a:ext cx="105457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chemeClr val="accent1"/>
                </a:solidFill>
              </a:rPr>
              <a:t>Message final : </a:t>
            </a:r>
            <a:r>
              <a:rPr lang="en-US" sz="1400">
                <a:solidFill>
                  <a:schemeClr val="bg1"/>
                </a:solidFill>
              </a:rPr>
              <a:t>la data augmentation apporte le meilleur gain ; les limites restent le format 48×48, le déséquilibre des classes et l’ambiguïté de certaines expressions.</a:t>
            </a:r>
            <a:endParaRPr lang="en-US" sz="1400"/>
          </a:p>
        </p:txBody>
      </p:sp>
      <p:sp>
        <p:nvSpPr>
          <p:cNvPr id="967073294" name="text-435"/>
          <p:cNvSpPr txBox="1"/>
          <p:nvPr/>
        </p:nvSpPr>
        <p:spPr bwMode="auto">
          <a:xfrm>
            <a:off x="548640" y="57150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400" b="1" spc="300">
                <a:solidFill>
                  <a:schemeClr val="bg1"/>
                </a:solidFill>
              </a:rPr>
              <a:t>QUESTIONS ?</a:t>
            </a:r>
            <a:endParaRPr lang="en-US" sz="2400"/>
          </a:p>
        </p:txBody>
      </p:sp>
      <p:sp>
        <p:nvSpPr>
          <p:cNvPr id="1234361501" name="text-436"/>
          <p:cNvSpPr txBox="1"/>
          <p:nvPr/>
        </p:nvSpPr>
        <p:spPr bwMode="auto">
          <a:xfrm>
            <a:off x="7071055" y="57150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1600">
                <a:solidFill>
                  <a:schemeClr val="accent1"/>
                </a:solidFill>
              </a:rPr>
              <a:t>Merci pour votre attention</a:t>
            </a:r>
            <a:endParaRPr lang="en-US" sz="1600"/>
          </a:p>
        </p:txBody>
      </p:sp>
      <p:sp>
        <p:nvSpPr>
          <p:cNvPr id="1330451607" name="Slide Number Placeholder 0"/>
          <p:cNvSpPr>
            <a:spLocks noGrp="1"/>
          </p:cNvSpPr>
          <p:nvPr>
            <p:ph type="sldNum" sz="quarter" idx="4294967295"/>
          </p:nvPr>
        </p:nvSpPr>
        <p:spPr bwMode="auto">
          <a:xfrm>
            <a:off x="11183112" y="6400800"/>
            <a:ext cx="457200" cy="228600"/>
          </a:xfrm>
          <a:prstGeom prst="rect">
            <a:avLst/>
          </a:prstGeom>
        </p:spPr>
        <p:txBody>
          <a:bodyPr lIns="0" tIns="0" rIns="0" bIns="0"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r">
              <a:defRPr/>
            </a:pPr>
            <a:fld id="{F7021451-1387-4CA6-816F-3879F97B5CBC}" type="slidenum">
              <a:rPr lang="en-US" b="1"/>
              <a:t>20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2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5173603" name="Text 0"/>
          <p:cNvSpPr/>
          <p:nvPr>
            <p:ph type="body" idx="100" hasCustomPrompt="1"/>
          </p:nvPr>
        </p:nvSpPr>
        <p:spPr bwMode="auto"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 spc="300">
                <a:solidFill>
                  <a:schemeClr val="accent1"/>
                </a:solidFill>
              </a:rPr>
              <a:t>ANNEXE / QUESTIONS</a:t>
            </a:r>
            <a:endParaRPr lang="en-US" sz="1200"/>
          </a:p>
        </p:txBody>
      </p:sp>
      <p:sp>
        <p:nvSpPr>
          <p:cNvPr id="1439713155" name="Text 0"/>
          <p:cNvSpPr/>
          <p:nvPr>
            <p:ph type="title" idx="101" hasCustomPrompt="1"/>
          </p:nvPr>
        </p:nvSpPr>
        <p:spPr bwMode="auto"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3400" b="1">
                <a:solidFill>
                  <a:schemeClr val="bg1"/>
                </a:solidFill>
              </a:rPr>
              <a:t>Questions techniques à anticiper</a:t>
            </a:r>
            <a:endParaRPr lang="en-US" sz="3400"/>
          </a:p>
        </p:txBody>
      </p:sp>
      <p:sp>
        <p:nvSpPr>
          <p:cNvPr id="1753103892" name="Text 0"/>
          <p:cNvSpPr/>
          <p:nvPr>
            <p:ph type="body" idx="102" hasCustomPrompt="1"/>
          </p:nvPr>
        </p:nvSpPr>
        <p:spPr bwMode="auto">
          <a:xfrm>
            <a:off x="548640" y="138988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00">
                <a:solidFill>
                  <a:schemeClr val="bg2"/>
                </a:solidFill>
              </a:rPr>
              <a:t>Diapositive de secours pour la soutenance.</a:t>
            </a:r>
            <a:endParaRPr lang="en-US" sz="1500"/>
          </a:p>
        </p:txBody>
      </p:sp>
      <p:sp>
        <p:nvSpPr>
          <p:cNvPr id="133433690" name="card-437"/>
          <p:cNvSpPr/>
          <p:nvPr/>
        </p:nvSpPr>
        <p:spPr bwMode="auto">
          <a:xfrm>
            <a:off x="548640" y="1920240"/>
            <a:ext cx="5432908" cy="1261872"/>
          </a:xfrm>
          <a:prstGeom prst="roundRect">
            <a:avLst>
              <a:gd name="adj" fmla="val 8696"/>
            </a:avLst>
          </a:prstGeom>
          <a:solidFill>
            <a:schemeClr val="tx2">
              <a:alpha val="92000"/>
            </a:schemeClr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586979657" name="num-438"/>
          <p:cNvSpPr/>
          <p:nvPr/>
        </p:nvSpPr>
        <p:spPr bwMode="auto">
          <a:xfrm>
            <a:off x="777240" y="2148840"/>
            <a:ext cx="457200" cy="457200"/>
          </a:xfrm>
          <a:prstGeom prst="ellipse">
            <a:avLst/>
          </a:prstGeom>
          <a:solidFill>
            <a:schemeClr val="accent1">
              <a:alpha val="14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23461964" name="text-439"/>
          <p:cNvSpPr txBox="1"/>
          <p:nvPr/>
        </p:nvSpPr>
        <p:spPr bwMode="auto">
          <a:xfrm>
            <a:off x="77724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300" b="1">
                <a:solidFill>
                  <a:schemeClr val="accent1"/>
                </a:solidFill>
              </a:rPr>
              <a:t>Q1</a:t>
            </a:r>
            <a:endParaRPr lang="en-US" sz="1300"/>
          </a:p>
        </p:txBody>
      </p:sp>
      <p:sp>
        <p:nvSpPr>
          <p:cNvPr id="1564137085" name="text-440"/>
          <p:cNvSpPr txBox="1"/>
          <p:nvPr/>
        </p:nvSpPr>
        <p:spPr bwMode="auto">
          <a:xfrm>
            <a:off x="1463040" y="2084832"/>
            <a:ext cx="42899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chemeClr val="bg1"/>
                </a:solidFill>
              </a:rPr>
              <a:t>Pourquoi un CNN plutôt qu’un MLP ?</a:t>
            </a:r>
            <a:endParaRPr lang="en-US" sz="1500"/>
          </a:p>
        </p:txBody>
      </p:sp>
      <p:sp>
        <p:nvSpPr>
          <p:cNvPr id="36186087" name="text-441"/>
          <p:cNvSpPr txBox="1"/>
          <p:nvPr/>
        </p:nvSpPr>
        <p:spPr bwMode="auto">
          <a:xfrm>
            <a:off x="1463040" y="2542032"/>
            <a:ext cx="42899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400">
                <a:solidFill>
                  <a:schemeClr val="bg2"/>
                </a:solidFill>
              </a:rPr>
              <a:t>Partage des poids et exploitation du voisinage spatial.</a:t>
            </a:r>
            <a:endParaRPr lang="en-US" sz="1400"/>
          </a:p>
        </p:txBody>
      </p:sp>
      <p:sp>
        <p:nvSpPr>
          <p:cNvPr id="2025713757" name="card-442"/>
          <p:cNvSpPr/>
          <p:nvPr/>
        </p:nvSpPr>
        <p:spPr bwMode="auto">
          <a:xfrm>
            <a:off x="6210148" y="1920240"/>
            <a:ext cx="5432908" cy="1261872"/>
          </a:xfrm>
          <a:prstGeom prst="roundRect">
            <a:avLst>
              <a:gd name="adj" fmla="val 8696"/>
            </a:avLst>
          </a:prstGeom>
          <a:solidFill>
            <a:schemeClr val="tx2">
              <a:alpha val="92000"/>
            </a:schemeClr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345666885" name="num-443"/>
          <p:cNvSpPr/>
          <p:nvPr/>
        </p:nvSpPr>
        <p:spPr bwMode="auto">
          <a:xfrm>
            <a:off x="6438748" y="2148840"/>
            <a:ext cx="457200" cy="457200"/>
          </a:xfrm>
          <a:prstGeom prst="ellipse">
            <a:avLst/>
          </a:prstGeom>
          <a:solidFill>
            <a:schemeClr val="accent1">
              <a:alpha val="14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6506065" name="text-444"/>
          <p:cNvSpPr txBox="1"/>
          <p:nvPr/>
        </p:nvSpPr>
        <p:spPr bwMode="auto">
          <a:xfrm>
            <a:off x="6438748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300" b="1">
                <a:solidFill>
                  <a:schemeClr val="accent1"/>
                </a:solidFill>
              </a:rPr>
              <a:t>Q2</a:t>
            </a:r>
            <a:endParaRPr lang="en-US" sz="1300"/>
          </a:p>
        </p:txBody>
      </p:sp>
      <p:sp>
        <p:nvSpPr>
          <p:cNvPr id="864139932" name="text-445"/>
          <p:cNvSpPr txBox="1"/>
          <p:nvPr/>
        </p:nvSpPr>
        <p:spPr bwMode="auto">
          <a:xfrm>
            <a:off x="7124548" y="2084832"/>
            <a:ext cx="42899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chemeClr val="bg1"/>
                </a:solidFill>
              </a:rPr>
              <a:t>Pourquoi Softmax ?</a:t>
            </a:r>
            <a:endParaRPr lang="en-US" sz="1500"/>
          </a:p>
        </p:txBody>
      </p:sp>
      <p:sp>
        <p:nvSpPr>
          <p:cNvPr id="801399345" name="text-446"/>
          <p:cNvSpPr txBox="1"/>
          <p:nvPr/>
        </p:nvSpPr>
        <p:spPr bwMode="auto">
          <a:xfrm>
            <a:off x="7124548" y="2542032"/>
            <a:ext cx="42899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400">
                <a:solidFill>
                  <a:schemeClr val="bg2"/>
                </a:solidFill>
              </a:rPr>
              <a:t>Pour obtenir une distribution de probabilités sur 7 classes exclusives.</a:t>
            </a:r>
            <a:endParaRPr lang="en-US" sz="1400"/>
          </a:p>
        </p:txBody>
      </p:sp>
      <p:sp>
        <p:nvSpPr>
          <p:cNvPr id="436634653" name="card-447"/>
          <p:cNvSpPr/>
          <p:nvPr/>
        </p:nvSpPr>
        <p:spPr bwMode="auto">
          <a:xfrm>
            <a:off x="548640" y="3319272"/>
            <a:ext cx="5432908" cy="1261872"/>
          </a:xfrm>
          <a:prstGeom prst="roundRect">
            <a:avLst>
              <a:gd name="adj" fmla="val 8696"/>
            </a:avLst>
          </a:prstGeom>
          <a:solidFill>
            <a:schemeClr val="tx2">
              <a:alpha val="92000"/>
            </a:schemeClr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6604777" name="num-448"/>
          <p:cNvSpPr/>
          <p:nvPr/>
        </p:nvSpPr>
        <p:spPr bwMode="auto">
          <a:xfrm>
            <a:off x="777240" y="3547872"/>
            <a:ext cx="457200" cy="457200"/>
          </a:xfrm>
          <a:prstGeom prst="ellipse">
            <a:avLst/>
          </a:prstGeom>
          <a:solidFill>
            <a:schemeClr val="accent1">
              <a:alpha val="14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01356796" name="text-449"/>
          <p:cNvSpPr txBox="1"/>
          <p:nvPr/>
        </p:nvSpPr>
        <p:spPr bwMode="auto">
          <a:xfrm>
            <a:off x="777240" y="35478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300" b="1">
                <a:solidFill>
                  <a:schemeClr val="accent1"/>
                </a:solidFill>
              </a:rPr>
              <a:t>Q3</a:t>
            </a:r>
            <a:endParaRPr lang="en-US" sz="1300"/>
          </a:p>
        </p:txBody>
      </p:sp>
      <p:sp>
        <p:nvSpPr>
          <p:cNvPr id="1968550384" name="text-450"/>
          <p:cNvSpPr txBox="1"/>
          <p:nvPr/>
        </p:nvSpPr>
        <p:spPr bwMode="auto">
          <a:xfrm>
            <a:off x="1463040" y="3483864"/>
            <a:ext cx="42899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chemeClr val="bg1"/>
                </a:solidFill>
              </a:rPr>
              <a:t>Pourquoi suivre aussi le macro-F1 ?</a:t>
            </a:r>
            <a:endParaRPr lang="en-US" sz="1500"/>
          </a:p>
        </p:txBody>
      </p:sp>
      <p:sp>
        <p:nvSpPr>
          <p:cNvPr id="921457607" name="text-451"/>
          <p:cNvSpPr txBox="1"/>
          <p:nvPr/>
        </p:nvSpPr>
        <p:spPr bwMode="auto">
          <a:xfrm>
            <a:off x="1463040" y="3941064"/>
            <a:ext cx="42899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400">
                <a:solidFill>
                  <a:schemeClr val="bg2"/>
                </a:solidFill>
              </a:rPr>
              <a:t>Parce que FER2013 est fortement déséquilibré.</a:t>
            </a:r>
            <a:endParaRPr lang="en-US" sz="1400"/>
          </a:p>
        </p:txBody>
      </p:sp>
      <p:sp>
        <p:nvSpPr>
          <p:cNvPr id="1780808154" name="card-452"/>
          <p:cNvSpPr/>
          <p:nvPr/>
        </p:nvSpPr>
        <p:spPr bwMode="auto">
          <a:xfrm>
            <a:off x="6210148" y="3319272"/>
            <a:ext cx="5432908" cy="1261872"/>
          </a:xfrm>
          <a:prstGeom prst="roundRect">
            <a:avLst>
              <a:gd name="adj" fmla="val 8696"/>
            </a:avLst>
          </a:prstGeom>
          <a:solidFill>
            <a:schemeClr val="tx2">
              <a:alpha val="92000"/>
            </a:schemeClr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23299734" name="num-453"/>
          <p:cNvSpPr/>
          <p:nvPr/>
        </p:nvSpPr>
        <p:spPr bwMode="auto">
          <a:xfrm>
            <a:off x="6438748" y="3547872"/>
            <a:ext cx="457200" cy="457200"/>
          </a:xfrm>
          <a:prstGeom prst="ellipse">
            <a:avLst/>
          </a:prstGeom>
          <a:solidFill>
            <a:schemeClr val="accent1">
              <a:alpha val="14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67772785" name="text-454"/>
          <p:cNvSpPr txBox="1"/>
          <p:nvPr/>
        </p:nvSpPr>
        <p:spPr bwMode="auto">
          <a:xfrm>
            <a:off x="6438748" y="35478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300" b="1">
                <a:solidFill>
                  <a:schemeClr val="accent1"/>
                </a:solidFill>
              </a:rPr>
              <a:t>Q4</a:t>
            </a:r>
            <a:endParaRPr lang="en-US" sz="1300"/>
          </a:p>
        </p:txBody>
      </p:sp>
      <p:sp>
        <p:nvSpPr>
          <p:cNvPr id="629734706" name="text-455"/>
          <p:cNvSpPr txBox="1"/>
          <p:nvPr/>
        </p:nvSpPr>
        <p:spPr bwMode="auto">
          <a:xfrm>
            <a:off x="7124548" y="3483864"/>
            <a:ext cx="42899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chemeClr val="bg1"/>
                </a:solidFill>
              </a:rPr>
              <a:t>Comment repérer le surapprentissage ?</a:t>
            </a:r>
            <a:endParaRPr lang="en-US" sz="1500"/>
          </a:p>
        </p:txBody>
      </p:sp>
      <p:sp>
        <p:nvSpPr>
          <p:cNvPr id="1848941446" name="text-456"/>
          <p:cNvSpPr txBox="1"/>
          <p:nvPr/>
        </p:nvSpPr>
        <p:spPr bwMode="auto">
          <a:xfrm>
            <a:off x="7124548" y="3941064"/>
            <a:ext cx="42899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400">
                <a:solidFill>
                  <a:schemeClr val="bg2"/>
                </a:solidFill>
              </a:rPr>
              <a:t>Quand le train progresse mais la validation plafonne ou se dégrade.</a:t>
            </a:r>
            <a:endParaRPr lang="en-US" sz="1400"/>
          </a:p>
        </p:txBody>
      </p:sp>
      <p:sp>
        <p:nvSpPr>
          <p:cNvPr id="650291981" name="card-457"/>
          <p:cNvSpPr/>
          <p:nvPr/>
        </p:nvSpPr>
        <p:spPr bwMode="auto">
          <a:xfrm>
            <a:off x="548640" y="4718304"/>
            <a:ext cx="5432908" cy="1261872"/>
          </a:xfrm>
          <a:prstGeom prst="roundRect">
            <a:avLst>
              <a:gd name="adj" fmla="val 8696"/>
            </a:avLst>
          </a:prstGeom>
          <a:solidFill>
            <a:schemeClr val="tx2">
              <a:alpha val="92000"/>
            </a:schemeClr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946929310" name="num-458"/>
          <p:cNvSpPr/>
          <p:nvPr/>
        </p:nvSpPr>
        <p:spPr bwMode="auto">
          <a:xfrm>
            <a:off x="777240" y="4946904"/>
            <a:ext cx="457200" cy="457200"/>
          </a:xfrm>
          <a:prstGeom prst="ellipse">
            <a:avLst/>
          </a:prstGeom>
          <a:solidFill>
            <a:schemeClr val="accent1">
              <a:alpha val="14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09188869" name="text-459"/>
          <p:cNvSpPr txBox="1"/>
          <p:nvPr/>
        </p:nvSpPr>
        <p:spPr bwMode="auto">
          <a:xfrm>
            <a:off x="777240" y="49469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300" b="1">
                <a:solidFill>
                  <a:schemeClr val="accent1"/>
                </a:solidFill>
              </a:rPr>
              <a:t>Q5</a:t>
            </a:r>
            <a:endParaRPr lang="en-US" sz="1300"/>
          </a:p>
        </p:txBody>
      </p:sp>
      <p:sp>
        <p:nvSpPr>
          <p:cNvPr id="76049428" name="text-460"/>
          <p:cNvSpPr txBox="1"/>
          <p:nvPr/>
        </p:nvSpPr>
        <p:spPr bwMode="auto">
          <a:xfrm>
            <a:off x="1463040" y="4882896"/>
            <a:ext cx="42899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chemeClr val="bg1"/>
                </a:solidFill>
              </a:rPr>
              <a:t>Pourquoi choisir le modèle final sur validation ?</a:t>
            </a:r>
            <a:endParaRPr lang="en-US" sz="1500"/>
          </a:p>
        </p:txBody>
      </p:sp>
      <p:sp>
        <p:nvSpPr>
          <p:cNvPr id="1497006085" name="text-461"/>
          <p:cNvSpPr txBox="1"/>
          <p:nvPr/>
        </p:nvSpPr>
        <p:spPr bwMode="auto">
          <a:xfrm>
            <a:off x="1463040" y="5340096"/>
            <a:ext cx="42899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400">
                <a:solidFill>
                  <a:schemeClr val="bg2"/>
                </a:solidFill>
              </a:rPr>
              <a:t>Pour conserver le test comme estimation finale indépendante.</a:t>
            </a:r>
            <a:endParaRPr lang="en-US" sz="1400"/>
          </a:p>
        </p:txBody>
      </p:sp>
      <p:sp>
        <p:nvSpPr>
          <p:cNvPr id="1045739134" name="card-462"/>
          <p:cNvSpPr/>
          <p:nvPr/>
        </p:nvSpPr>
        <p:spPr bwMode="auto">
          <a:xfrm>
            <a:off x="6210148" y="4718304"/>
            <a:ext cx="5432908" cy="1261872"/>
          </a:xfrm>
          <a:prstGeom prst="roundRect">
            <a:avLst>
              <a:gd name="adj" fmla="val 8696"/>
            </a:avLst>
          </a:prstGeom>
          <a:solidFill>
            <a:schemeClr val="tx2">
              <a:alpha val="92000"/>
            </a:schemeClr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114770234" name="num-463"/>
          <p:cNvSpPr/>
          <p:nvPr/>
        </p:nvSpPr>
        <p:spPr bwMode="auto">
          <a:xfrm>
            <a:off x="6438748" y="4946904"/>
            <a:ext cx="457200" cy="457200"/>
          </a:xfrm>
          <a:prstGeom prst="ellipse">
            <a:avLst/>
          </a:prstGeom>
          <a:solidFill>
            <a:schemeClr val="accent1">
              <a:alpha val="14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15767639" name="text-464"/>
          <p:cNvSpPr txBox="1"/>
          <p:nvPr/>
        </p:nvSpPr>
        <p:spPr bwMode="auto">
          <a:xfrm>
            <a:off x="6438748" y="49469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300" b="1">
                <a:solidFill>
                  <a:schemeClr val="accent1"/>
                </a:solidFill>
              </a:rPr>
              <a:t>Q6</a:t>
            </a:r>
            <a:endParaRPr lang="en-US" sz="1300"/>
          </a:p>
        </p:txBody>
      </p:sp>
      <p:sp>
        <p:nvSpPr>
          <p:cNvPr id="1509982060" name="text-465"/>
          <p:cNvSpPr txBox="1"/>
          <p:nvPr/>
        </p:nvSpPr>
        <p:spPr bwMode="auto">
          <a:xfrm>
            <a:off x="7124548" y="4882896"/>
            <a:ext cx="42899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chemeClr val="bg1"/>
                </a:solidFill>
              </a:rPr>
              <a:t>Quel rôle joue YOLO dans l’extension ?</a:t>
            </a:r>
            <a:endParaRPr lang="en-US" sz="1500"/>
          </a:p>
        </p:txBody>
      </p:sp>
      <p:sp>
        <p:nvSpPr>
          <p:cNvPr id="1433388428" name="text-466"/>
          <p:cNvSpPr txBox="1"/>
          <p:nvPr/>
        </p:nvSpPr>
        <p:spPr bwMode="auto">
          <a:xfrm>
            <a:off x="7124548" y="5340096"/>
            <a:ext cx="42899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400">
                <a:solidFill>
                  <a:schemeClr val="bg2"/>
                </a:solidFill>
              </a:rPr>
              <a:t>Détecter / localiser les visages avant classification par le CNN.</a:t>
            </a:r>
            <a:endParaRPr lang="en-US" sz="1400"/>
          </a:p>
        </p:txBody>
      </p:sp>
      <p:sp>
        <p:nvSpPr>
          <p:cNvPr id="173744205" name="Slide Number Placeholder 0"/>
          <p:cNvSpPr>
            <a:spLocks noGrp="1"/>
          </p:cNvSpPr>
          <p:nvPr>
            <p:ph type="sldNum" sz="quarter" idx="4294967295"/>
          </p:nvPr>
        </p:nvSpPr>
        <p:spPr bwMode="auto">
          <a:xfrm>
            <a:off x="11183112" y="6400800"/>
            <a:ext cx="457200" cy="228600"/>
          </a:xfrm>
          <a:prstGeom prst="rect">
            <a:avLst/>
          </a:prstGeom>
        </p:spPr>
        <p:txBody>
          <a:bodyPr lIns="0" tIns="0" rIns="0" bIns="0"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r">
              <a:defRPr/>
            </a:pPr>
            <a:fld id="{F7021451-1387-4CA6-816F-3879F97B5CBC}" type="slidenum">
              <a:rPr lang="en-US" b="1"/>
              <a:t>21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Soutenance Nuit Cyan">
  <a:themeElements>
    <a:clrScheme name="Soutenance Nuit Cyan">
      <a:dk1>
        <a:srgbClr val="0A1128"/>
      </a:dk1>
      <a:lt1>
        <a:srgbClr val="FFFFFF"/>
      </a:lt1>
      <a:dk2>
        <a:srgbClr val="111C3A"/>
      </a:dk2>
      <a:lt2>
        <a:srgbClr val="A9B8D4"/>
      </a:lt2>
      <a:accent1>
        <a:srgbClr val="22D3EE"/>
      </a:accent1>
      <a:accent2>
        <a:srgbClr val="3B82F6"/>
      </a:accent2>
      <a:accent3>
        <a:srgbClr val="8B5CF6"/>
      </a:accent3>
      <a:accent4>
        <a:srgbClr val="F59E0B"/>
      </a:accent4>
      <a:accent5>
        <a:srgbClr val="34D399"/>
      </a:accent5>
      <a:accent6>
        <a:srgbClr val="24376B"/>
      </a:accent6>
      <a:hlink>
        <a:srgbClr val="22D3EE"/>
      </a:hlink>
      <a:folHlink>
        <a:srgbClr val="8B5CF6"/>
      </a:folHlink>
    </a:clrScheme>
    <a:fontScheme name="Soutenance Nuit Cyan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ONLYOFFICE/9.4.0.129</Application>
  <PresentationFormat>On-screen Show (4:3)</PresentationFormat>
  <Paragraphs>0</Paragraphs>
  <Slides>21</Slides>
  <Notes>21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Reconnaissance et analyse automatique des expressions faciales</dc:title>
  <dc:subject>PptxGenJS Presentation</dc:subject>
  <dc:creator>Anthusan SRIKARAN et Emine OULD AGATT</dc:creator>
  <cp:lastModifiedBy/>
  <cp:revision>2</cp:revision>
  <dcterms:created xsi:type="dcterms:W3CDTF">2026-10-08T07:44:13Z</dcterms:created>
  <dcterms:modified xsi:type="dcterms:W3CDTF">2026-10-08T07:47:04Z</dcterms:modified>
</cp:coreProperties>
</file>