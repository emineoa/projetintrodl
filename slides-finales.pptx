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274" y="8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Images</c:v>
                </c:pt>
              </c:strCache>
            </c:strRef>
          </c:tx>
          <c:spPr>
            <a:prstGeom prst="rect">
              <a:avLst/>
            </a:prstGeom>
            <a:solidFill>
              <a:srgbClr val="3B82F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A01-424A-BF87-A1F224D592E2}"/>
              </c:ext>
            </c:extLst>
          </c:dPt>
          <c:dPt>
            <c:idx val="1"/>
            <c:invertIfNegative val="0"/>
            <c:bubble3D val="0"/>
            <c:spPr>
              <a:prstGeom prst="rect">
                <a:avLst/>
              </a:prstGeom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A01-424A-BF87-A1F224D592E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A01-424A-BF87-A1F224D592E2}"/>
              </c:ext>
            </c:extLst>
          </c:dPt>
          <c:dPt>
            <c:idx val="3"/>
            <c:invertIfNegative val="0"/>
            <c:bubble3D val="0"/>
            <c:spPr>
              <a:prstGeom prst="rect">
                <a:avLst/>
              </a:prstGeom>
              <a:solidFill>
                <a:srgbClr val="22D3E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A01-424A-BF87-A1F224D592E2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6A01-424A-BF87-A1F224D592E2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6A01-424A-BF87-A1F224D592E2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6A01-424A-BF87-A1F224D592E2}"/>
              </c:ext>
            </c:extLst>
          </c:dPt>
          <c:dLbls>
            <c:numFmt formatCode="#\ 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Colère</c:v>
                </c:pt>
                <c:pt idx="1">
                  <c:v>Dégoût</c:v>
                </c:pt>
                <c:pt idx="2">
                  <c:v>Peur</c:v>
                </c:pt>
                <c:pt idx="3">
                  <c:v>Joie</c:v>
                </c:pt>
                <c:pt idx="4">
                  <c:v>Tristesse</c:v>
                </c:pt>
                <c:pt idx="5">
                  <c:v>Surprise</c:v>
                </c:pt>
                <c:pt idx="6">
                  <c:v>Neutre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4953</c:v>
                </c:pt>
                <c:pt idx="1">
                  <c:v>547</c:v>
                </c:pt>
                <c:pt idx="2">
                  <c:v>5121</c:v>
                </c:pt>
                <c:pt idx="3">
                  <c:v>8989</c:v>
                </c:pt>
                <c:pt idx="4">
                  <c:v>6077</c:v>
                </c:pt>
                <c:pt idx="5">
                  <c:v>4002</c:v>
                </c:pt>
                <c:pt idx="6">
                  <c:v>6198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A01-424A-BF87-A1F224D592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prstGeom prst="rect">
            <a:avLst/>
          </a:prstGeom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9B8D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>
    <a:xfrm>
      <a:off x="731520" y="3566160"/>
      <a:ext cx="6400800" cy="2651760"/>
    </a:xfrm>
    <a:prstGeom prst="rect">
      <a:avLst/>
    </a:prstGeom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ITLE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NTENT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2963408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b="1" spc="30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  <a:defRPr/>
            </a:pPr>
            <a:endParaRPr lang="en-US" sz="1200"/>
          </a:p>
        </p:txBody>
      </p:sp>
      <p:sp>
        <p:nvSpPr>
          <p:cNvPr id="679971001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3400"/>
          </a:p>
        </p:txBody>
      </p:sp>
      <p:sp>
        <p:nvSpPr>
          <p:cNvPr id="190522347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500">
                <a:solidFill>
                  <a:schemeClr val="bg2"/>
                </a:solidFill>
              </a:defRPr>
            </a:lvl1pPr>
          </a:lstStyle>
          <a:p>
            <a:pPr marL="0" indent="0">
              <a:buNone/>
              <a:defRPr/>
            </a:pPr>
            <a:endParaRPr lang="en-US" sz="1500"/>
          </a:p>
        </p:txBody>
      </p:sp>
      <p:sp>
        <p:nvSpPr>
          <p:cNvPr id="2101446762" name="Text 0"/>
          <p:cNvSpPr/>
          <p:nvPr/>
        </p:nvSpPr>
        <p:spPr bwMode="auto">
          <a:xfrm>
            <a:off x="6583680" y="411480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 spc="200">
                <a:solidFill>
                  <a:schemeClr val="bg2"/>
                </a:solidFill>
              </a:rPr>
              <a:t>FONDAMENTAUX DU DEEP LEARNING  •  MASTER S1</a:t>
            </a:r>
            <a:endParaRPr lang="en-US" sz="1000"/>
          </a:p>
        </p:txBody>
      </p:sp>
      <p:sp>
        <p:nvSpPr>
          <p:cNvPr id="2008023852" name="Text 1"/>
          <p:cNvSpPr/>
          <p:nvPr/>
        </p:nvSpPr>
        <p:spPr bwMode="auto"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spc="200">
                <a:solidFill>
                  <a:schemeClr val="bg2"/>
                </a:solidFill>
              </a:rPr>
              <a:t>RECONNAISSANCE DES EXPRESSIONS FACIALES</a:t>
            </a:r>
            <a:endParaRPr lang="en-US" sz="1000"/>
          </a:p>
        </p:txBody>
      </p:sp>
      <p:sp>
        <p:nvSpPr>
          <p:cNvPr id="18025572" name="Text 2"/>
          <p:cNvSpPr/>
          <p:nvPr/>
        </p:nvSpPr>
        <p:spPr bwMode="auto">
          <a:xfrm>
            <a:off x="7772400" y="64008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 spc="200">
                <a:solidFill>
                  <a:schemeClr val="bg2"/>
                </a:solidFill>
              </a:rPr>
              <a:t>SOUTENANCE  •  09.10.2026</a:t>
            </a:r>
            <a:endParaRPr lang="en-US" sz="1000"/>
          </a:p>
        </p:txBody>
      </p:sp>
      <p:sp>
        <p:nvSpPr>
          <p:cNvPr id="1908649254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34099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6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5.png"/><Relationship Id="rId5" Type="http://schemas.openxmlformats.org/officeDocument/2006/relationships/hyperlink" Target="https://youtu.be/-KZI9_dtdz8" TargetMode="Externa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2031802" name="text-1"/>
          <p:cNvSpPr txBox="1"/>
          <p:nvPr/>
        </p:nvSpPr>
        <p:spPr bwMode="auto">
          <a:xfrm>
            <a:off x="731520" y="12344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 spc="400">
                <a:solidFill>
                  <a:schemeClr val="accent1"/>
                </a:solidFill>
              </a:rPr>
              <a:t>PROJET MASTER  •  DEEP LEARNING</a:t>
            </a:r>
            <a:endParaRPr lang="en-US" sz="1400"/>
          </a:p>
        </p:txBody>
      </p:sp>
      <p:sp>
        <p:nvSpPr>
          <p:cNvPr id="757221348" name="title-2"/>
          <p:cNvSpPr txBox="1"/>
          <p:nvPr/>
        </p:nvSpPr>
        <p:spPr bwMode="auto">
          <a:xfrm>
            <a:off x="731520" y="1737360"/>
            <a:ext cx="7315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3800" b="1">
                <a:solidFill>
                  <a:schemeClr val="bg1"/>
                </a:solidFill>
              </a:rPr>
              <a:t>RECONNAISSANCE</a:t>
            </a:r>
            <a:endParaRPr lang="en-US" sz="3800"/>
          </a:p>
          <a:p>
            <a:pPr marL="0" indent="0">
              <a:buNone/>
              <a:defRPr/>
            </a:pPr>
            <a:r>
              <a:rPr lang="en-US" sz="3800" b="1">
                <a:solidFill>
                  <a:schemeClr val="bg1"/>
                </a:solidFill>
              </a:rPr>
              <a:t>ET ANALYSE AUTOMATIQUE</a:t>
            </a:r>
            <a:endParaRPr lang="en-US" sz="3800"/>
          </a:p>
          <a:p>
            <a:pPr marL="0" indent="0">
              <a:buNone/>
              <a:defRPr/>
            </a:pPr>
            <a:r>
              <a:rPr lang="en-US" sz="3800" b="1">
                <a:solidFill>
                  <a:schemeClr val="bg1"/>
                </a:solidFill>
              </a:rPr>
              <a:t>DES EXPRESSIONS FACIALES</a:t>
            </a:r>
            <a:endParaRPr lang="en-US" sz="3800"/>
          </a:p>
        </p:txBody>
      </p:sp>
      <p:sp>
        <p:nvSpPr>
          <p:cNvPr id="826222874" name="text-3"/>
          <p:cNvSpPr txBox="1"/>
          <p:nvPr/>
        </p:nvSpPr>
        <p:spPr bwMode="auto">
          <a:xfrm>
            <a:off x="73152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bg2"/>
                </a:solidFill>
              </a:rPr>
              <a:t>Dataset FER2013  •  CNN multiclasse  •  détection multi-visages  •  extension vidéo</a:t>
            </a:r>
            <a:endParaRPr lang="en-US" sz="1600"/>
          </a:p>
        </p:txBody>
      </p:sp>
      <p:sp>
        <p:nvSpPr>
          <p:cNvPr id="528789656" name="card-4"/>
          <p:cNvSpPr/>
          <p:nvPr/>
        </p:nvSpPr>
        <p:spPr bwMode="auto">
          <a:xfrm>
            <a:off x="731520" y="5074920"/>
            <a:ext cx="6766560" cy="868680"/>
          </a:xfrm>
          <a:prstGeom prst="roundRect">
            <a:avLst>
              <a:gd name="adj" fmla="val 12632"/>
            </a:avLst>
          </a:prstGeom>
          <a:solidFill>
            <a:schemeClr val="tx2">
              <a:alpha val="75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50937338" name="text-5"/>
          <p:cNvSpPr txBox="1"/>
          <p:nvPr/>
        </p:nvSpPr>
        <p:spPr bwMode="auto">
          <a:xfrm>
            <a:off x="960120" y="50749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Présenté par </a:t>
            </a:r>
            <a:r>
              <a:rPr lang="en-US" sz="1500" b="1">
                <a:solidFill>
                  <a:schemeClr val="bg1"/>
                </a:solidFill>
              </a:rPr>
              <a:t>Anthusan SRIKARAN</a:t>
            </a:r>
            <a:r>
              <a:rPr lang="en-US" sz="1500">
                <a:solidFill>
                  <a:schemeClr val="bg2"/>
                </a:solidFill>
              </a:rPr>
              <a:t> et </a:t>
            </a:r>
            <a:r>
              <a:rPr lang="en-US" sz="1500" b="1">
                <a:solidFill>
                  <a:schemeClr val="bg1"/>
                </a:solidFill>
              </a:rPr>
              <a:t>Emine OULD AGATT</a:t>
            </a:r>
            <a:endParaRPr lang="en-US" sz="1500"/>
          </a:p>
        </p:txBody>
      </p:sp>
      <p:sp>
        <p:nvSpPr>
          <p:cNvPr id="520583825" name="text-6"/>
          <p:cNvSpPr txBox="1"/>
          <p:nvPr/>
        </p:nvSpPr>
        <p:spPr bwMode="auto">
          <a:xfrm>
            <a:off x="5212080" y="50749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300" b="1" spc="200">
                <a:solidFill>
                  <a:schemeClr val="accent1"/>
                </a:solidFill>
              </a:rPr>
              <a:t>09 OCTOBRE 2026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282475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01 / PROBLÉMATIQUE</a:t>
            </a:r>
            <a:endParaRPr lang="en-US" sz="1200"/>
          </a:p>
        </p:txBody>
      </p:sp>
      <p:sp>
        <p:nvSpPr>
          <p:cNvPr id="662555971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Objectif du projet</a:t>
            </a:r>
            <a:endParaRPr lang="en-US" sz="3400"/>
          </a:p>
        </p:txBody>
      </p:sp>
      <p:sp>
        <p:nvSpPr>
          <p:cNvPr id="2039715759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Passer d’un classifieur sur visage isolé à un système capable de traiter des images et une vidéo.</a:t>
            </a:r>
            <a:endParaRPr lang="en-US" sz="1500"/>
          </a:p>
        </p:txBody>
      </p:sp>
      <p:sp>
        <p:nvSpPr>
          <p:cNvPr id="677381505" name="card-7"/>
          <p:cNvSpPr/>
          <p:nvPr/>
        </p:nvSpPr>
        <p:spPr bwMode="auto">
          <a:xfrm>
            <a:off x="548640" y="196596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00526420" name="iconbg-8"/>
          <p:cNvSpPr/>
          <p:nvPr/>
        </p:nvSpPr>
        <p:spPr bwMode="auto">
          <a:xfrm>
            <a:off x="822960" y="2240280"/>
            <a:ext cx="640080" cy="64008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49357335" name="icon-9" descr="icône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995782" y="2413102"/>
            <a:ext cx="294437" cy="294437"/>
          </a:xfrm>
          <a:prstGeom prst="rect">
            <a:avLst/>
          </a:prstGeom>
        </p:spPr>
      </p:pic>
      <p:sp>
        <p:nvSpPr>
          <p:cNvPr id="1562425032" name="text-10"/>
          <p:cNvSpPr txBox="1"/>
          <p:nvPr/>
        </p:nvSpPr>
        <p:spPr bwMode="auto">
          <a:xfrm>
            <a:off x="3063240" y="22219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  <a:defRPr/>
            </a:pPr>
            <a:r>
              <a:rPr lang="en-US" sz="3200" b="1">
                <a:solidFill>
                  <a:schemeClr val="accent6"/>
                </a:solidFill>
              </a:rPr>
              <a:t>01</a:t>
            </a:r>
            <a:endParaRPr lang="en-US" sz="3200"/>
          </a:p>
        </p:txBody>
      </p:sp>
      <p:sp>
        <p:nvSpPr>
          <p:cNvPr id="1837787840" name="text-11"/>
          <p:cNvSpPr txBox="1"/>
          <p:nvPr/>
        </p:nvSpPr>
        <p:spPr bwMode="auto">
          <a:xfrm>
            <a:off x="822960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bg1"/>
                </a:solidFill>
              </a:rPr>
              <a:t>Étape 1 — classifier</a:t>
            </a:r>
            <a:endParaRPr lang="en-US" sz="1800"/>
          </a:p>
        </p:txBody>
      </p:sp>
      <p:sp>
        <p:nvSpPr>
          <p:cNvPr id="1761610579" name="text-12"/>
          <p:cNvSpPr txBox="1"/>
          <p:nvPr/>
        </p:nvSpPr>
        <p:spPr bwMode="auto">
          <a:xfrm>
            <a:off x="822960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Prédire l’une des 7 émotions de FER2013 à partir d’un visage 48×48 en niveaux de gris.</a:t>
            </a:r>
            <a:endParaRPr lang="en-US" sz="1400"/>
          </a:p>
        </p:txBody>
      </p:sp>
      <p:sp>
        <p:nvSpPr>
          <p:cNvPr id="999619885" name="chev-13"/>
          <p:cNvSpPr/>
          <p:nvPr/>
        </p:nvSpPr>
        <p:spPr bwMode="auto">
          <a:xfrm>
            <a:off x="4110228" y="320040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91158874" name="card-14"/>
          <p:cNvSpPr/>
          <p:nvPr/>
        </p:nvSpPr>
        <p:spPr bwMode="auto">
          <a:xfrm>
            <a:off x="4334256" y="196596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02496198" name="iconbg-15"/>
          <p:cNvSpPr/>
          <p:nvPr/>
        </p:nvSpPr>
        <p:spPr bwMode="auto">
          <a:xfrm>
            <a:off x="4608576" y="2240280"/>
            <a:ext cx="640080" cy="64008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85233671" name="icon-16" descr="icône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81398" y="2413102"/>
            <a:ext cx="294437" cy="294437"/>
          </a:xfrm>
          <a:prstGeom prst="rect">
            <a:avLst/>
          </a:prstGeom>
        </p:spPr>
      </p:pic>
      <p:sp>
        <p:nvSpPr>
          <p:cNvPr id="1263800991" name="text-17"/>
          <p:cNvSpPr txBox="1"/>
          <p:nvPr/>
        </p:nvSpPr>
        <p:spPr bwMode="auto">
          <a:xfrm>
            <a:off x="6848856" y="22219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  <a:defRPr/>
            </a:pPr>
            <a:r>
              <a:rPr lang="en-US" sz="3200" b="1">
                <a:solidFill>
                  <a:schemeClr val="accent6"/>
                </a:solidFill>
              </a:rPr>
              <a:t>02</a:t>
            </a:r>
            <a:endParaRPr lang="en-US" sz="3200"/>
          </a:p>
        </p:txBody>
      </p:sp>
      <p:sp>
        <p:nvSpPr>
          <p:cNvPr id="553578461" name="text-18"/>
          <p:cNvSpPr txBox="1"/>
          <p:nvPr/>
        </p:nvSpPr>
        <p:spPr bwMode="auto">
          <a:xfrm>
            <a:off x="4608576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bg1"/>
                </a:solidFill>
              </a:rPr>
              <a:t>Étape 2 — améliorer</a:t>
            </a:r>
            <a:endParaRPr lang="en-US" sz="1800"/>
          </a:p>
        </p:txBody>
      </p:sp>
      <p:sp>
        <p:nvSpPr>
          <p:cNvPr id="387776448" name="text-19"/>
          <p:cNvSpPr txBox="1"/>
          <p:nvPr/>
        </p:nvSpPr>
        <p:spPr bwMode="auto">
          <a:xfrm>
            <a:off x="4608576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Comparer plusieurs variantes contrôlées pour augmenter la généralisation et réduire les erreurs.</a:t>
            </a:r>
            <a:endParaRPr lang="en-US" sz="1400"/>
          </a:p>
        </p:txBody>
      </p:sp>
      <p:sp>
        <p:nvSpPr>
          <p:cNvPr id="897974271" name="chev-20"/>
          <p:cNvSpPr/>
          <p:nvPr/>
        </p:nvSpPr>
        <p:spPr bwMode="auto">
          <a:xfrm>
            <a:off x="7895844" y="320040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04784799" name="card-21"/>
          <p:cNvSpPr/>
          <p:nvPr/>
        </p:nvSpPr>
        <p:spPr bwMode="auto">
          <a:xfrm>
            <a:off x="8119872" y="196596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02146010" name="iconbg-22"/>
          <p:cNvSpPr/>
          <p:nvPr/>
        </p:nvSpPr>
        <p:spPr bwMode="auto">
          <a:xfrm>
            <a:off x="8394192" y="2240280"/>
            <a:ext cx="640080" cy="64008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05279204" name="icon-23" descr="icône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567014" y="2413102"/>
            <a:ext cx="294437" cy="294437"/>
          </a:xfrm>
          <a:prstGeom prst="rect">
            <a:avLst/>
          </a:prstGeom>
        </p:spPr>
      </p:pic>
      <p:sp>
        <p:nvSpPr>
          <p:cNvPr id="1568385820" name="text-24"/>
          <p:cNvSpPr txBox="1"/>
          <p:nvPr/>
        </p:nvSpPr>
        <p:spPr bwMode="auto">
          <a:xfrm>
            <a:off x="10634472" y="22219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  <a:defRPr/>
            </a:pPr>
            <a:r>
              <a:rPr lang="en-US" sz="3200" b="1">
                <a:solidFill>
                  <a:schemeClr val="accent6"/>
                </a:solidFill>
              </a:rPr>
              <a:t>03</a:t>
            </a:r>
            <a:endParaRPr lang="en-US" sz="3200"/>
          </a:p>
        </p:txBody>
      </p:sp>
      <p:sp>
        <p:nvSpPr>
          <p:cNvPr id="1097401509" name="text-25"/>
          <p:cNvSpPr txBox="1"/>
          <p:nvPr/>
        </p:nvSpPr>
        <p:spPr bwMode="auto">
          <a:xfrm>
            <a:off x="8394192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bg1"/>
                </a:solidFill>
              </a:rPr>
              <a:t>Étape 3 — étendre</a:t>
            </a:r>
            <a:endParaRPr lang="en-US" sz="1800"/>
          </a:p>
        </p:txBody>
      </p:sp>
      <p:sp>
        <p:nvSpPr>
          <p:cNvPr id="52850235" name="text-26"/>
          <p:cNvSpPr txBox="1"/>
          <p:nvPr/>
        </p:nvSpPr>
        <p:spPr bwMode="auto">
          <a:xfrm>
            <a:off x="8394192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Détecter plusieurs visages avec YOLO puis appliquer le CNN sur chaque crop ; tester ensuite sur une vidéo.</a:t>
            </a:r>
            <a:endParaRPr lang="en-US" sz="1400"/>
          </a:p>
        </p:txBody>
      </p:sp>
      <p:sp>
        <p:nvSpPr>
          <p:cNvPr id="1836141084" name="highlight-27"/>
          <p:cNvSpPr/>
          <p:nvPr/>
        </p:nvSpPr>
        <p:spPr bwMode="auto">
          <a:xfrm>
            <a:off x="548640" y="4892039"/>
            <a:ext cx="11094415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1431320781" name="icon-28" descr="guillemet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68680" y="5303520"/>
            <a:ext cx="365760" cy="365760"/>
          </a:xfrm>
          <a:prstGeom prst="rect">
            <a:avLst/>
          </a:prstGeom>
        </p:spPr>
      </p:pic>
      <p:sp>
        <p:nvSpPr>
          <p:cNvPr id="1971924407" name="text-29"/>
          <p:cNvSpPr txBox="1"/>
          <p:nvPr/>
        </p:nvSpPr>
        <p:spPr bwMode="auto">
          <a:xfrm>
            <a:off x="1508759" y="4892039"/>
            <a:ext cx="9722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Question centrale : </a:t>
            </a:r>
            <a:r>
              <a:rPr lang="en-US" sz="1600">
                <a:solidFill>
                  <a:schemeClr val="bg1"/>
                </a:solidFill>
              </a:rPr>
              <a:t>comment obtenir un modèle simple mais robuste pour distinguer des expressions parfois ambiguës, sur un dataset déséquilibré et de faible résolution ?</a:t>
            </a:r>
            <a:endParaRPr lang="en-US" sz="1600"/>
          </a:p>
        </p:txBody>
      </p:sp>
      <p:sp>
        <p:nvSpPr>
          <p:cNvPr id="1349646782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562631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02 / DONNÉES</a:t>
            </a:r>
            <a:endParaRPr lang="en-US" sz="1200"/>
          </a:p>
        </p:txBody>
      </p:sp>
      <p:sp>
        <p:nvSpPr>
          <p:cNvPr id="2139840902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FER2013 : vue d’ensemble</a:t>
            </a:r>
            <a:endParaRPr lang="en-US" sz="3400"/>
          </a:p>
        </p:txBody>
      </p:sp>
      <p:sp>
        <p:nvSpPr>
          <p:cNvPr id="317679455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Le choix du dataset guide le format d’entrée, les classes et les métriques à privilégier.</a:t>
            </a:r>
            <a:endParaRPr lang="en-US" sz="1500"/>
          </a:p>
        </p:txBody>
      </p:sp>
      <p:sp>
        <p:nvSpPr>
          <p:cNvPr id="1062293493" name="card-30"/>
          <p:cNvSpPr/>
          <p:nvPr/>
        </p:nvSpPr>
        <p:spPr bwMode="auto">
          <a:xfrm>
            <a:off x="548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72441079" name="text-31"/>
          <p:cNvSpPr txBox="1"/>
          <p:nvPr/>
        </p:nvSpPr>
        <p:spPr bwMode="auto">
          <a:xfrm>
            <a:off x="685800" y="1984248"/>
            <a:ext cx="23774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 b="1">
                <a:solidFill>
                  <a:schemeClr val="accent1"/>
                </a:solidFill>
              </a:rPr>
              <a:t>35 887</a:t>
            </a:r>
            <a:endParaRPr lang="en-US" sz="2800"/>
          </a:p>
        </p:txBody>
      </p:sp>
      <p:sp>
        <p:nvSpPr>
          <p:cNvPr id="1495422491" name="text-32"/>
          <p:cNvSpPr txBox="1"/>
          <p:nvPr/>
        </p:nvSpPr>
        <p:spPr bwMode="auto">
          <a:xfrm>
            <a:off x="685800" y="2526487"/>
            <a:ext cx="23774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IMAGES AU TOTAL</a:t>
            </a:r>
            <a:endParaRPr lang="en-US" sz="1100"/>
          </a:p>
        </p:txBody>
      </p:sp>
      <p:sp>
        <p:nvSpPr>
          <p:cNvPr id="1452438898" name="card-33"/>
          <p:cNvSpPr/>
          <p:nvPr/>
        </p:nvSpPr>
        <p:spPr bwMode="auto">
          <a:xfrm>
            <a:off x="3362858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0773367" name="text-34"/>
          <p:cNvSpPr txBox="1"/>
          <p:nvPr/>
        </p:nvSpPr>
        <p:spPr bwMode="auto">
          <a:xfrm>
            <a:off x="3500018" y="1984248"/>
            <a:ext cx="23774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 b="1">
                <a:solidFill>
                  <a:schemeClr val="accent1"/>
                </a:solidFill>
              </a:rPr>
              <a:t>48 × 48 × 1</a:t>
            </a:r>
            <a:endParaRPr lang="en-US" sz="2800"/>
          </a:p>
        </p:txBody>
      </p:sp>
      <p:sp>
        <p:nvSpPr>
          <p:cNvPr id="88244395" name="text-35"/>
          <p:cNvSpPr txBox="1"/>
          <p:nvPr/>
        </p:nvSpPr>
        <p:spPr bwMode="auto">
          <a:xfrm>
            <a:off x="3500018" y="2526487"/>
            <a:ext cx="23774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FORMAT</a:t>
            </a:r>
            <a:endParaRPr lang="en-US" sz="1100"/>
          </a:p>
        </p:txBody>
      </p:sp>
      <p:sp>
        <p:nvSpPr>
          <p:cNvPr id="156439998" name="card-36"/>
          <p:cNvSpPr/>
          <p:nvPr/>
        </p:nvSpPr>
        <p:spPr bwMode="auto">
          <a:xfrm>
            <a:off x="6177077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74240771" name="text-37"/>
          <p:cNvSpPr txBox="1"/>
          <p:nvPr/>
        </p:nvSpPr>
        <p:spPr bwMode="auto">
          <a:xfrm>
            <a:off x="6314237" y="1984248"/>
            <a:ext cx="23774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 b="1">
                <a:solidFill>
                  <a:schemeClr val="accent1"/>
                </a:solidFill>
              </a:rPr>
              <a:t>7</a:t>
            </a:r>
            <a:endParaRPr lang="en-US" sz="2800"/>
          </a:p>
        </p:txBody>
      </p:sp>
      <p:sp>
        <p:nvSpPr>
          <p:cNvPr id="30226189" name="text-38"/>
          <p:cNvSpPr txBox="1"/>
          <p:nvPr/>
        </p:nvSpPr>
        <p:spPr bwMode="auto">
          <a:xfrm>
            <a:off x="6314237" y="2526487"/>
            <a:ext cx="23774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CLASSES</a:t>
            </a:r>
            <a:endParaRPr lang="en-US" sz="1100"/>
          </a:p>
        </p:txBody>
      </p:sp>
      <p:sp>
        <p:nvSpPr>
          <p:cNvPr id="659269046" name="card-39"/>
          <p:cNvSpPr/>
          <p:nvPr/>
        </p:nvSpPr>
        <p:spPr bwMode="auto">
          <a:xfrm>
            <a:off x="8991295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35226155" name="text-40"/>
          <p:cNvSpPr txBox="1"/>
          <p:nvPr/>
        </p:nvSpPr>
        <p:spPr bwMode="auto">
          <a:xfrm>
            <a:off x="9128455" y="1984248"/>
            <a:ext cx="23774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chemeClr val="accent1"/>
                </a:solidFill>
              </a:rPr>
              <a:t>Train / Public / Private</a:t>
            </a:r>
            <a:endParaRPr lang="en-US" sz="1800"/>
          </a:p>
        </p:txBody>
      </p:sp>
      <p:sp>
        <p:nvSpPr>
          <p:cNvPr id="1187194951" name="text-41"/>
          <p:cNvSpPr txBox="1"/>
          <p:nvPr/>
        </p:nvSpPr>
        <p:spPr bwMode="auto">
          <a:xfrm>
            <a:off x="9128455" y="2526487"/>
            <a:ext cx="23774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SPLIT OFFICIEL</a:t>
            </a:r>
            <a:endParaRPr lang="en-US" sz="1100"/>
          </a:p>
        </p:txBody>
      </p:sp>
      <p:sp>
        <p:nvSpPr>
          <p:cNvPr id="1495469508" name="card-42"/>
          <p:cNvSpPr/>
          <p:nvPr/>
        </p:nvSpPr>
        <p:spPr bwMode="auto">
          <a:xfrm>
            <a:off x="548640" y="3063240"/>
            <a:ext cx="6766560" cy="3246120"/>
          </a:xfrm>
          <a:prstGeom prst="roundRect">
            <a:avLst>
              <a:gd name="adj" fmla="val 338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07247457" name="text-43"/>
          <p:cNvSpPr txBox="1"/>
          <p:nvPr/>
        </p:nvSpPr>
        <p:spPr bwMode="auto">
          <a:xfrm>
            <a:off x="82296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Distribution des classes</a:t>
            </a:r>
            <a:endParaRPr lang="en-US" sz="1500"/>
          </a:p>
        </p:txBody>
      </p:sp>
      <p:graphicFrame>
        <p:nvGraphicFramePr>
          <p:cNvPr id="1532138745" name="Chart 0"/>
          <p:cNvGraphicFramePr>
            <a:graphicFrameLocks/>
          </p:cNvGraphicFramePr>
          <p:nvPr/>
        </p:nvGraphicFramePr>
        <p:xfrm>
          <a:off x="731520" y="3566160"/>
          <a:ext cx="640080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53115576" name="card-44"/>
          <p:cNvSpPr/>
          <p:nvPr/>
        </p:nvSpPr>
        <p:spPr bwMode="auto">
          <a:xfrm>
            <a:off x="7543800" y="3063240"/>
            <a:ext cx="4099255" cy="2286000"/>
          </a:xfrm>
          <a:prstGeom prst="roundRect">
            <a:avLst>
              <a:gd name="adj" fmla="val 4800"/>
            </a:avLst>
          </a:prstGeom>
          <a:solidFill>
            <a:schemeClr val="tx2">
              <a:alpha val="92000"/>
            </a:scheme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980747" name="text-45"/>
          <p:cNvSpPr txBox="1"/>
          <p:nvPr/>
        </p:nvSpPr>
        <p:spPr bwMode="auto">
          <a:xfrm>
            <a:off x="7818120" y="3200400"/>
            <a:ext cx="3550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accent4"/>
                </a:solidFill>
              </a:rPr>
              <a:t>Déséquilibre notable</a:t>
            </a:r>
            <a:endParaRPr lang="en-US" sz="1600"/>
          </a:p>
        </p:txBody>
      </p:sp>
      <p:sp>
        <p:nvSpPr>
          <p:cNvPr id="1561672892" name="text-46"/>
          <p:cNvSpPr txBox="1"/>
          <p:nvPr/>
        </p:nvSpPr>
        <p:spPr bwMode="auto">
          <a:xfrm>
            <a:off x="7818120" y="3703320"/>
            <a:ext cx="35506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bg1"/>
                </a:solidFill>
              </a:rPr>
              <a:t>Majoritaire : Happy (8 989)</a:t>
            </a:r>
            <a:endParaRPr lang="en-US" sz="1400"/>
          </a:p>
          <a:p>
            <a:pPr marL="203200" indent="-203200">
              <a:spcAft>
                <a:spcPts val="7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bg1"/>
                </a:solidFill>
              </a:rPr>
              <a:t>Minoritaire : Disgust (547)</a:t>
            </a:r>
            <a:endParaRPr lang="en-US" sz="1400"/>
          </a:p>
          <a:p>
            <a:pPr marL="203200" indent="-203200">
              <a:spcAft>
                <a:spcPts val="7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bg1"/>
                </a:solidFill>
              </a:rPr>
              <a:t>Rapport majoritaire / minoritaire : 16,4×</a:t>
            </a:r>
            <a:endParaRPr lang="en-US" sz="1400"/>
          </a:p>
        </p:txBody>
      </p:sp>
      <p:sp>
        <p:nvSpPr>
          <p:cNvPr id="839220459" name="whitecard-47"/>
          <p:cNvSpPr/>
          <p:nvPr/>
        </p:nvSpPr>
        <p:spPr bwMode="auto">
          <a:xfrm>
            <a:off x="7543800" y="5532120"/>
            <a:ext cx="4099255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120036387" name="img-48" descr="Les 7 expressions de FER201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1214" y="5577840"/>
            <a:ext cx="3424428" cy="685800"/>
          </a:xfrm>
          <a:prstGeom prst="rect">
            <a:avLst/>
          </a:prstGeom>
        </p:spPr>
      </p:pic>
      <p:sp>
        <p:nvSpPr>
          <p:cNvPr id="1751487956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1842837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02 / DONNÉES — COMPLÉMENTS</a:t>
            </a:r>
            <a:endParaRPr lang="en-US" sz="1200"/>
          </a:p>
        </p:txBody>
      </p:sp>
      <p:sp>
        <p:nvSpPr>
          <p:cNvPr id="1532250125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FER2013 : provenance et effectifs</a:t>
            </a:r>
            <a:endParaRPr lang="en-US" sz="3400"/>
          </a:p>
        </p:txBody>
      </p:sp>
      <p:sp>
        <p:nvSpPr>
          <p:cNvPr id="530846525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Source, attribution et licence sont précisés selon la fiche descriptive du notebook.</a:t>
            </a:r>
            <a:endParaRPr lang="en-US" sz="1500"/>
          </a:p>
        </p:txBody>
      </p:sp>
      <p:sp>
        <p:nvSpPr>
          <p:cNvPr id="1154899913" name="card-49"/>
          <p:cNvSpPr/>
          <p:nvPr/>
        </p:nvSpPr>
        <p:spPr bwMode="auto">
          <a:xfrm>
            <a:off x="548640" y="1920240"/>
            <a:ext cx="5760720" cy="4206240"/>
          </a:xfrm>
          <a:prstGeom prst="roundRect">
            <a:avLst>
              <a:gd name="adj" fmla="val 2609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25957874" name="text-50"/>
          <p:cNvSpPr txBox="1"/>
          <p:nvPr/>
        </p:nvSpPr>
        <p:spPr bwMode="auto">
          <a:xfrm>
            <a:off x="82296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chemeClr val="accent1"/>
                </a:solidFill>
              </a:rPr>
              <a:t>SOURCE</a:t>
            </a:r>
            <a:endParaRPr lang="en-US" sz="1100"/>
          </a:p>
        </p:txBody>
      </p:sp>
      <p:sp>
        <p:nvSpPr>
          <p:cNvPr id="262283587" name="text-51"/>
          <p:cNvSpPr txBox="1"/>
          <p:nvPr/>
        </p:nvSpPr>
        <p:spPr bwMode="auto">
          <a:xfrm>
            <a:off x="822960" y="2395728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Challenge « Facial Expression Recognition » (2013)</a:t>
            </a:r>
            <a:endParaRPr lang="en-US" sz="1400"/>
          </a:p>
          <a:p>
            <a:pPr marL="0" indent="0"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Copie publique : kaggle.com/datasets/msambare/fer2013</a:t>
            </a:r>
            <a:endParaRPr lang="en-US" sz="1400"/>
          </a:p>
        </p:txBody>
      </p:sp>
      <p:sp>
        <p:nvSpPr>
          <p:cNvPr id="2097631943" name="text-52"/>
          <p:cNvSpPr txBox="1"/>
          <p:nvPr/>
        </p:nvSpPr>
        <p:spPr bwMode="auto">
          <a:xfrm>
            <a:off x="822960" y="3108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chemeClr val="accent1"/>
                </a:solidFill>
              </a:rPr>
              <a:t>RÉFÉRENCES D’ORIGINE</a:t>
            </a:r>
            <a:endParaRPr lang="en-US" sz="1100"/>
          </a:p>
        </p:txBody>
      </p:sp>
      <p:sp>
        <p:nvSpPr>
          <p:cNvPr id="1296191712" name="text-53"/>
          <p:cNvSpPr txBox="1"/>
          <p:nvPr/>
        </p:nvSpPr>
        <p:spPr bwMode="auto">
          <a:xfrm>
            <a:off x="822960" y="3401568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Pierre-Luc Carrier et Aaron Courville ; Goodfellow et al. (2013)</a:t>
            </a:r>
            <a:endParaRPr lang="en-US" sz="1400"/>
          </a:p>
        </p:txBody>
      </p:sp>
      <p:sp>
        <p:nvSpPr>
          <p:cNvPr id="1241652797" name="text-54"/>
          <p:cNvSpPr txBox="1"/>
          <p:nvPr/>
        </p:nvSpPr>
        <p:spPr bwMode="auto">
          <a:xfrm>
            <a:off x="822960" y="41148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chemeClr val="accent1"/>
                </a:solidFill>
              </a:rPr>
              <a:t>LICENCE INDIQUÉE (COPIE KAGGLE)</a:t>
            </a:r>
            <a:endParaRPr lang="en-US" sz="1100"/>
          </a:p>
        </p:txBody>
      </p:sp>
      <p:sp>
        <p:nvSpPr>
          <p:cNvPr id="1622426528" name="text-55"/>
          <p:cNvSpPr txBox="1"/>
          <p:nvPr/>
        </p:nvSpPr>
        <p:spPr bwMode="auto">
          <a:xfrm>
            <a:off x="822960" y="4407408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« Database: Open Database, Contents: Database Contents »</a:t>
            </a:r>
            <a:endParaRPr lang="en-US" sz="1400"/>
          </a:p>
        </p:txBody>
      </p:sp>
      <p:sp>
        <p:nvSpPr>
          <p:cNvPr id="2066337506" name="text-56"/>
          <p:cNvSpPr txBox="1"/>
          <p:nvPr/>
        </p:nvSpPr>
        <p:spPr bwMode="auto">
          <a:xfrm>
            <a:off x="822960" y="51206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chemeClr val="accent1"/>
                </a:solidFill>
              </a:rPr>
              <a:t>FORMAT</a:t>
            </a:r>
            <a:endParaRPr lang="en-US" sz="1100"/>
          </a:p>
        </p:txBody>
      </p:sp>
      <p:sp>
        <p:nvSpPr>
          <p:cNvPr id="1937791711" name="text-57"/>
          <p:cNvSpPr txBox="1"/>
          <p:nvPr/>
        </p:nvSpPr>
        <p:spPr bwMode="auto">
          <a:xfrm>
            <a:off x="822960" y="5413248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CSV : chaînes de 2 304 pixels ; images 48×48 en niveaux de gris</a:t>
            </a:r>
            <a:endParaRPr lang="en-US" sz="1400"/>
          </a:p>
        </p:txBody>
      </p:sp>
      <p:graphicFrame>
        <p:nvGraphicFramePr>
          <p:cNvPr id="1539439058" name="tableau-effectifs"/>
          <p:cNvGraphicFramePr>
            <a:graphicFrameLocks noGrp="1"/>
          </p:cNvGraphicFramePr>
          <p:nvPr/>
        </p:nvGraphicFramePr>
        <p:xfrm>
          <a:off x="6583680" y="1920240"/>
          <a:ext cx="5059375" cy="914400"/>
        </p:xfrm>
        <a:graphic>
          <a:graphicData uri="http://schemas.openxmlformats.org/drawingml/2006/table">
            <a:tbl>
              <a:tblPr/>
              <a:tblGrid>
                <a:gridCol w="3136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5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Expression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Images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Colère (Angry)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4 953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accent4"/>
                          </a:solidFill>
                          <a:latin typeface="Calibri"/>
                          <a:ea typeface="Calibri"/>
                          <a:cs typeface="Calibri"/>
                        </a:rPr>
                        <a:t>Dégoût (Disgust)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accent4"/>
                          </a:solidFill>
                          <a:latin typeface="Calibri"/>
                          <a:ea typeface="Calibri"/>
                          <a:cs typeface="Calibri"/>
                        </a:rPr>
                        <a:t>547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Peur (Fear)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5 121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Joie (Happy)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8 989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Tristesse (Sad)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6 077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Surprise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4 002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Neutre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6 198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</a:rPr>
                        <a:t>TOTAL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</a:rPr>
                        <a:t>35 887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0E3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78816556" name="card-58"/>
          <p:cNvSpPr/>
          <p:nvPr/>
        </p:nvSpPr>
        <p:spPr bwMode="auto">
          <a:xfrm>
            <a:off x="6583680" y="5120640"/>
            <a:ext cx="5059375" cy="1005840"/>
          </a:xfrm>
          <a:prstGeom prst="roundRect">
            <a:avLst>
              <a:gd name="adj" fmla="val 10909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44964019" name="text-59"/>
          <p:cNvSpPr txBox="1"/>
          <p:nvPr/>
        </p:nvSpPr>
        <p:spPr bwMode="auto">
          <a:xfrm>
            <a:off x="6858000" y="5120640"/>
            <a:ext cx="45107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4"/>
                </a:solidFill>
              </a:rPr>
              <a:t>Remarque : </a:t>
            </a:r>
            <a:r>
              <a:rPr lang="en-US" sz="1400">
                <a:solidFill>
                  <a:schemeClr val="bg1"/>
                </a:solidFill>
              </a:rPr>
              <a:t>la classe Dégoût représente seulement 1,52 % du dataset (547 images sur 35 887).</a:t>
            </a:r>
            <a:endParaRPr lang="en-US" sz="1400"/>
          </a:p>
        </p:txBody>
      </p:sp>
      <p:sp>
        <p:nvSpPr>
          <p:cNvPr id="1213800402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926492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03 / PRÉPARATION</a:t>
            </a:r>
            <a:endParaRPr lang="en-US" sz="1200"/>
          </a:p>
        </p:txBody>
      </p:sp>
      <p:sp>
        <p:nvSpPr>
          <p:cNvPr id="589208963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Prétraitement et exploration visuelle</a:t>
            </a:r>
            <a:endParaRPr lang="en-US" sz="3400"/>
          </a:p>
        </p:txBody>
      </p:sp>
      <p:sp>
        <p:nvSpPr>
          <p:cNvPr id="1274718559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Toutes les images sont traitées de manière cohérente avant l’entraînement.</a:t>
            </a:r>
            <a:endParaRPr lang="en-US" sz="1500"/>
          </a:p>
        </p:txBody>
      </p:sp>
      <p:sp>
        <p:nvSpPr>
          <p:cNvPr id="417897978" name="card-60"/>
          <p:cNvSpPr/>
          <p:nvPr/>
        </p:nvSpPr>
        <p:spPr bwMode="auto">
          <a:xfrm>
            <a:off x="548640" y="1920240"/>
            <a:ext cx="6675120" cy="621792"/>
          </a:xfrm>
          <a:prstGeom prst="roundRect">
            <a:avLst>
              <a:gd name="adj" fmla="val 17647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0655913" name="num-61"/>
          <p:cNvSpPr/>
          <p:nvPr/>
        </p:nvSpPr>
        <p:spPr bwMode="auto">
          <a:xfrm>
            <a:off x="749808" y="1993392"/>
            <a:ext cx="475488" cy="475488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77218152" name="text-62"/>
          <p:cNvSpPr txBox="1"/>
          <p:nvPr/>
        </p:nvSpPr>
        <p:spPr bwMode="auto">
          <a:xfrm>
            <a:off x="749808" y="1993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1</a:t>
            </a:r>
            <a:endParaRPr lang="en-US" sz="1600"/>
          </a:p>
        </p:txBody>
      </p:sp>
      <p:sp>
        <p:nvSpPr>
          <p:cNvPr id="1136141162" name="text-63"/>
          <p:cNvSpPr txBox="1"/>
          <p:nvPr/>
        </p:nvSpPr>
        <p:spPr bwMode="auto">
          <a:xfrm>
            <a:off x="1463040" y="1920240"/>
            <a:ext cx="5577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Conversion des chaînes de pixels en tenseurs 48×48×1</a:t>
            </a:r>
            <a:endParaRPr lang="en-US" sz="1400"/>
          </a:p>
        </p:txBody>
      </p:sp>
      <p:sp>
        <p:nvSpPr>
          <p:cNvPr id="2108899004" name="card-64"/>
          <p:cNvSpPr/>
          <p:nvPr/>
        </p:nvSpPr>
        <p:spPr bwMode="auto">
          <a:xfrm>
            <a:off x="548640" y="2615184"/>
            <a:ext cx="6675120" cy="621792"/>
          </a:xfrm>
          <a:prstGeom prst="roundRect">
            <a:avLst>
              <a:gd name="adj" fmla="val 17647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57926202" name="num-65"/>
          <p:cNvSpPr/>
          <p:nvPr/>
        </p:nvSpPr>
        <p:spPr bwMode="auto">
          <a:xfrm>
            <a:off x="749808" y="2688336"/>
            <a:ext cx="475488" cy="475488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86601016" name="text-66"/>
          <p:cNvSpPr txBox="1"/>
          <p:nvPr/>
        </p:nvSpPr>
        <p:spPr bwMode="auto">
          <a:xfrm>
            <a:off x="749808" y="2688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2</a:t>
            </a:r>
            <a:endParaRPr lang="en-US" sz="1600"/>
          </a:p>
        </p:txBody>
      </p:sp>
      <p:sp>
        <p:nvSpPr>
          <p:cNvPr id="1997590290" name="text-67"/>
          <p:cNvSpPr txBox="1"/>
          <p:nvPr/>
        </p:nvSpPr>
        <p:spPr bwMode="auto">
          <a:xfrm>
            <a:off x="1463040" y="2615184"/>
            <a:ext cx="5577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Normalisation des intensités entre 0 et 1</a:t>
            </a:r>
            <a:endParaRPr lang="en-US" sz="1400"/>
          </a:p>
        </p:txBody>
      </p:sp>
      <p:sp>
        <p:nvSpPr>
          <p:cNvPr id="420952188" name="card-68"/>
          <p:cNvSpPr/>
          <p:nvPr/>
        </p:nvSpPr>
        <p:spPr bwMode="auto">
          <a:xfrm>
            <a:off x="548640" y="3310127"/>
            <a:ext cx="6675120" cy="621792"/>
          </a:xfrm>
          <a:prstGeom prst="roundRect">
            <a:avLst>
              <a:gd name="adj" fmla="val 17647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53967647" name="num-69"/>
          <p:cNvSpPr/>
          <p:nvPr/>
        </p:nvSpPr>
        <p:spPr bwMode="auto">
          <a:xfrm>
            <a:off x="749808" y="3383280"/>
            <a:ext cx="475488" cy="475488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87115661" name="text-70"/>
          <p:cNvSpPr txBox="1"/>
          <p:nvPr/>
        </p:nvSpPr>
        <p:spPr bwMode="auto">
          <a:xfrm>
            <a:off x="749808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3</a:t>
            </a:r>
            <a:endParaRPr lang="en-US" sz="1600"/>
          </a:p>
        </p:txBody>
      </p:sp>
      <p:sp>
        <p:nvSpPr>
          <p:cNvPr id="720513976" name="text-71"/>
          <p:cNvSpPr txBox="1"/>
          <p:nvPr/>
        </p:nvSpPr>
        <p:spPr bwMode="auto">
          <a:xfrm>
            <a:off x="1463040" y="3310127"/>
            <a:ext cx="5577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Labels conservés en entiers 0–6 (sparse categorical crossentropy)</a:t>
            </a:r>
            <a:endParaRPr lang="en-US" sz="1400"/>
          </a:p>
        </p:txBody>
      </p:sp>
      <p:sp>
        <p:nvSpPr>
          <p:cNvPr id="936024716" name="card-72"/>
          <p:cNvSpPr/>
          <p:nvPr/>
        </p:nvSpPr>
        <p:spPr bwMode="auto">
          <a:xfrm>
            <a:off x="548640" y="4005072"/>
            <a:ext cx="6675120" cy="621792"/>
          </a:xfrm>
          <a:prstGeom prst="roundRect">
            <a:avLst>
              <a:gd name="adj" fmla="val 17647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15711634" name="num-73"/>
          <p:cNvSpPr/>
          <p:nvPr/>
        </p:nvSpPr>
        <p:spPr bwMode="auto">
          <a:xfrm>
            <a:off x="749808" y="4078224"/>
            <a:ext cx="475488" cy="475488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70587959" name="text-74"/>
          <p:cNvSpPr txBox="1"/>
          <p:nvPr/>
        </p:nvSpPr>
        <p:spPr bwMode="auto">
          <a:xfrm>
            <a:off x="749808" y="4078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4</a:t>
            </a:r>
            <a:endParaRPr lang="en-US" sz="1600"/>
          </a:p>
        </p:txBody>
      </p:sp>
      <p:sp>
        <p:nvSpPr>
          <p:cNvPr id="1439747473" name="text-75"/>
          <p:cNvSpPr txBox="1"/>
          <p:nvPr/>
        </p:nvSpPr>
        <p:spPr bwMode="auto">
          <a:xfrm>
            <a:off x="1463040" y="4005072"/>
            <a:ext cx="5577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Split officiel : 28 709 train, 3 589 validation, 3 589 test</a:t>
            </a:r>
            <a:endParaRPr lang="en-US" sz="1400"/>
          </a:p>
        </p:txBody>
      </p:sp>
      <p:sp>
        <p:nvSpPr>
          <p:cNvPr id="716199559" name="card-76"/>
          <p:cNvSpPr/>
          <p:nvPr/>
        </p:nvSpPr>
        <p:spPr bwMode="auto">
          <a:xfrm>
            <a:off x="548640" y="4700016"/>
            <a:ext cx="6675120" cy="621792"/>
          </a:xfrm>
          <a:prstGeom prst="roundRect">
            <a:avLst>
              <a:gd name="adj" fmla="val 17647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29702809" name="num-77"/>
          <p:cNvSpPr/>
          <p:nvPr/>
        </p:nvSpPr>
        <p:spPr bwMode="auto">
          <a:xfrm>
            <a:off x="749808" y="4773168"/>
            <a:ext cx="475488" cy="475488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98591221" name="text-78"/>
          <p:cNvSpPr txBox="1"/>
          <p:nvPr/>
        </p:nvSpPr>
        <p:spPr bwMode="auto">
          <a:xfrm>
            <a:off x="749808" y="47731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5</a:t>
            </a:r>
            <a:endParaRPr lang="en-US" sz="1600"/>
          </a:p>
        </p:txBody>
      </p:sp>
      <p:sp>
        <p:nvSpPr>
          <p:cNvPr id="1963019018" name="text-79"/>
          <p:cNvSpPr txBox="1"/>
          <p:nvPr/>
        </p:nvSpPr>
        <p:spPr bwMode="auto">
          <a:xfrm>
            <a:off x="1463040" y="4700016"/>
            <a:ext cx="5577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Jeu de test conservé uniquement pour l’évaluation finale</a:t>
            </a:r>
            <a:endParaRPr lang="en-US" sz="1400"/>
          </a:p>
        </p:txBody>
      </p:sp>
      <p:sp>
        <p:nvSpPr>
          <p:cNvPr id="977234612" name="highlight-80"/>
          <p:cNvSpPr/>
          <p:nvPr/>
        </p:nvSpPr>
        <p:spPr bwMode="auto">
          <a:xfrm>
            <a:off x="548640" y="5431536"/>
            <a:ext cx="6675120" cy="694944"/>
          </a:xfrm>
          <a:prstGeom prst="roundRect">
            <a:avLst>
              <a:gd name="adj" fmla="val 15789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65018084" name="text-81"/>
          <p:cNvSpPr txBox="1"/>
          <p:nvPr/>
        </p:nvSpPr>
        <p:spPr bwMode="auto">
          <a:xfrm>
            <a:off x="822960" y="5431536"/>
            <a:ext cx="6126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Pourquoi ? </a:t>
            </a:r>
            <a:r>
              <a:rPr lang="en-US" sz="1400">
                <a:solidFill>
                  <a:schemeClr val="bg1"/>
                </a:solidFill>
              </a:rPr>
              <a:t>Normalisation : optimisation plus stable ; labels entiers : loss sparse ; train / val / test : éviter toute fuite de données.</a:t>
            </a:r>
            <a:endParaRPr lang="en-US" sz="1400"/>
          </a:p>
        </p:txBody>
      </p:sp>
      <p:sp>
        <p:nvSpPr>
          <p:cNvPr id="1385150822" name="card-82"/>
          <p:cNvSpPr/>
          <p:nvPr/>
        </p:nvSpPr>
        <p:spPr bwMode="auto">
          <a:xfrm>
            <a:off x="7498080" y="1920240"/>
            <a:ext cx="4144975" cy="4206240"/>
          </a:xfrm>
          <a:prstGeom prst="roundRect">
            <a:avLst>
              <a:gd name="adj" fmla="val 2647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7492082" name="text-83"/>
          <p:cNvSpPr txBox="1"/>
          <p:nvPr/>
        </p:nvSpPr>
        <p:spPr bwMode="auto">
          <a:xfrm>
            <a:off x="7726680" y="2029968"/>
            <a:ext cx="3687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Exemples d’images par classe</a:t>
            </a:r>
            <a:endParaRPr lang="en-US" sz="1500"/>
          </a:p>
        </p:txBody>
      </p:sp>
      <p:sp>
        <p:nvSpPr>
          <p:cNvPr id="572162117" name="whitecard-84"/>
          <p:cNvSpPr/>
          <p:nvPr/>
        </p:nvSpPr>
        <p:spPr bwMode="auto">
          <a:xfrm>
            <a:off x="7726680" y="2468880"/>
            <a:ext cx="3687775" cy="3520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65505872" name="img-85" descr="Exemples de visages FER2013 par classe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8384180" y="2523744"/>
            <a:ext cx="2372776" cy="3410712"/>
          </a:xfrm>
          <a:prstGeom prst="rect">
            <a:avLst/>
          </a:prstGeom>
        </p:spPr>
      </p:pic>
      <p:sp>
        <p:nvSpPr>
          <p:cNvPr id="307102426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7286464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04 / MODÈLE DE RÉFÉRENCE</a:t>
            </a:r>
            <a:endParaRPr lang="en-US" sz="1200"/>
          </a:p>
        </p:txBody>
      </p:sp>
      <p:sp>
        <p:nvSpPr>
          <p:cNvPr id="1063956593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Baseline dense (MLP)</a:t>
            </a:r>
            <a:endParaRPr lang="en-US" sz="3400"/>
          </a:p>
        </p:txBody>
      </p:sp>
      <p:sp>
        <p:nvSpPr>
          <p:cNvPr id="1575827768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Un modèle simple sert de point de comparaison avant de passer aux convolutions.</a:t>
            </a:r>
            <a:endParaRPr lang="en-US" sz="1500"/>
          </a:p>
        </p:txBody>
      </p:sp>
      <p:sp>
        <p:nvSpPr>
          <p:cNvPr id="896232502" name="card-86"/>
          <p:cNvSpPr/>
          <p:nvPr/>
        </p:nvSpPr>
        <p:spPr bwMode="auto">
          <a:xfrm>
            <a:off x="548640" y="1920240"/>
            <a:ext cx="7406640" cy="2423160"/>
          </a:xfrm>
          <a:prstGeom prst="roundRect">
            <a:avLst>
              <a:gd name="adj" fmla="val 4528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88696283" name="text-87"/>
          <p:cNvSpPr txBox="1"/>
          <p:nvPr/>
        </p:nvSpPr>
        <p:spPr bwMode="auto">
          <a:xfrm>
            <a:off x="822960" y="20299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Architecture</a:t>
            </a:r>
            <a:endParaRPr lang="en-US" sz="1500"/>
          </a:p>
        </p:txBody>
      </p:sp>
      <p:sp>
        <p:nvSpPr>
          <p:cNvPr id="1436350889" name="block-88"/>
          <p:cNvSpPr/>
          <p:nvPr/>
        </p:nvSpPr>
        <p:spPr bwMode="auto">
          <a:xfrm>
            <a:off x="891540" y="2560320"/>
            <a:ext cx="1371600" cy="731520"/>
          </a:xfrm>
          <a:prstGeom prst="roundRect">
            <a:avLst>
              <a:gd name="adj" fmla="val 12500"/>
            </a:avLst>
          </a:prstGeom>
          <a:solidFill>
            <a:schemeClr val="accent2">
              <a:alpha val="22000"/>
            </a:schemeClr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652895420" name="text-89"/>
          <p:cNvSpPr txBox="1"/>
          <p:nvPr/>
        </p:nvSpPr>
        <p:spPr bwMode="auto">
          <a:xfrm>
            <a:off x="891540" y="2560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Input</a:t>
            </a:r>
            <a:endParaRPr lang="en-US" sz="1400"/>
          </a:p>
        </p:txBody>
      </p:sp>
      <p:sp>
        <p:nvSpPr>
          <p:cNvPr id="382114934" name="text-90"/>
          <p:cNvSpPr txBox="1"/>
          <p:nvPr/>
        </p:nvSpPr>
        <p:spPr bwMode="auto">
          <a:xfrm>
            <a:off x="891540" y="3364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48×48×1</a:t>
            </a:r>
            <a:endParaRPr lang="en-US" sz="1300"/>
          </a:p>
        </p:txBody>
      </p:sp>
      <p:sp>
        <p:nvSpPr>
          <p:cNvPr id="1492280412" name="chev-91"/>
          <p:cNvSpPr/>
          <p:nvPr/>
        </p:nvSpPr>
        <p:spPr bwMode="auto">
          <a:xfrm>
            <a:off x="2377440" y="278892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38538440" name="block-92"/>
          <p:cNvSpPr/>
          <p:nvPr/>
        </p:nvSpPr>
        <p:spPr bwMode="auto">
          <a:xfrm>
            <a:off x="2674620" y="2560320"/>
            <a:ext cx="13716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2200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145021154" name="text-93"/>
          <p:cNvSpPr txBox="1"/>
          <p:nvPr/>
        </p:nvSpPr>
        <p:spPr bwMode="auto">
          <a:xfrm>
            <a:off x="2674620" y="2560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Flatten</a:t>
            </a:r>
            <a:endParaRPr lang="en-US" sz="1400"/>
          </a:p>
        </p:txBody>
      </p:sp>
      <p:sp>
        <p:nvSpPr>
          <p:cNvPr id="997789146" name="text-94"/>
          <p:cNvSpPr txBox="1"/>
          <p:nvPr/>
        </p:nvSpPr>
        <p:spPr bwMode="auto">
          <a:xfrm>
            <a:off x="2674620" y="3364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2304</a:t>
            </a:r>
            <a:endParaRPr lang="en-US" sz="1300"/>
          </a:p>
        </p:txBody>
      </p:sp>
      <p:sp>
        <p:nvSpPr>
          <p:cNvPr id="1815624489" name="chev-95"/>
          <p:cNvSpPr/>
          <p:nvPr/>
        </p:nvSpPr>
        <p:spPr bwMode="auto">
          <a:xfrm>
            <a:off x="4160519" y="278892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58037108" name="block-96"/>
          <p:cNvSpPr/>
          <p:nvPr/>
        </p:nvSpPr>
        <p:spPr bwMode="auto">
          <a:xfrm>
            <a:off x="4457700" y="2560320"/>
            <a:ext cx="1371600" cy="731520"/>
          </a:xfrm>
          <a:prstGeom prst="roundRect">
            <a:avLst>
              <a:gd name="adj" fmla="val 12500"/>
            </a:avLst>
          </a:prstGeom>
          <a:solidFill>
            <a:schemeClr val="accent1">
              <a:alpha val="2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98620086" name="text-97"/>
          <p:cNvSpPr txBox="1"/>
          <p:nvPr/>
        </p:nvSpPr>
        <p:spPr bwMode="auto">
          <a:xfrm>
            <a:off x="4457700" y="2560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Dense + ReLU</a:t>
            </a:r>
            <a:endParaRPr lang="en-US" sz="1400"/>
          </a:p>
        </p:txBody>
      </p:sp>
      <p:sp>
        <p:nvSpPr>
          <p:cNvPr id="750741374" name="text-98"/>
          <p:cNvSpPr txBox="1"/>
          <p:nvPr/>
        </p:nvSpPr>
        <p:spPr bwMode="auto">
          <a:xfrm>
            <a:off x="4457700" y="3364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256</a:t>
            </a:r>
            <a:endParaRPr lang="en-US" sz="1300"/>
          </a:p>
        </p:txBody>
      </p:sp>
      <p:sp>
        <p:nvSpPr>
          <p:cNvPr id="2043369629" name="chev-99"/>
          <p:cNvSpPr/>
          <p:nvPr/>
        </p:nvSpPr>
        <p:spPr bwMode="auto">
          <a:xfrm>
            <a:off x="5943600" y="278892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63407120" name="block-100"/>
          <p:cNvSpPr/>
          <p:nvPr/>
        </p:nvSpPr>
        <p:spPr bwMode="auto">
          <a:xfrm>
            <a:off x="6240780" y="2560320"/>
            <a:ext cx="137160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22000"/>
            </a:schemeClr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995242608" name="text-101"/>
          <p:cNvSpPr txBox="1"/>
          <p:nvPr/>
        </p:nvSpPr>
        <p:spPr bwMode="auto">
          <a:xfrm>
            <a:off x="6240780" y="2560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Softmax</a:t>
            </a:r>
            <a:endParaRPr lang="en-US" sz="1400"/>
          </a:p>
        </p:txBody>
      </p:sp>
      <p:sp>
        <p:nvSpPr>
          <p:cNvPr id="1036912849" name="text-102"/>
          <p:cNvSpPr txBox="1"/>
          <p:nvPr/>
        </p:nvSpPr>
        <p:spPr bwMode="auto">
          <a:xfrm>
            <a:off x="6240780" y="3364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7</a:t>
            </a:r>
            <a:endParaRPr lang="en-US" sz="1300"/>
          </a:p>
        </p:txBody>
      </p:sp>
      <p:sp>
        <p:nvSpPr>
          <p:cNvPr id="1681249286" name="text-103"/>
          <p:cNvSpPr txBox="1"/>
          <p:nvPr/>
        </p:nvSpPr>
        <p:spPr bwMode="auto">
          <a:xfrm>
            <a:off x="822960" y="37947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591 879</a:t>
            </a:r>
            <a:r>
              <a:rPr lang="en-US" sz="1600">
                <a:solidFill>
                  <a:schemeClr val="bg2"/>
                </a:solidFill>
              </a:rPr>
              <a:t> paramètres entraînables</a:t>
            </a:r>
            <a:endParaRPr lang="en-US" sz="1600"/>
          </a:p>
        </p:txBody>
      </p:sp>
      <p:sp>
        <p:nvSpPr>
          <p:cNvPr id="1131459699" name="card-104"/>
          <p:cNvSpPr/>
          <p:nvPr/>
        </p:nvSpPr>
        <p:spPr bwMode="auto">
          <a:xfrm>
            <a:off x="8183880" y="1920240"/>
            <a:ext cx="3459175" cy="1143000"/>
          </a:xfrm>
          <a:prstGeom prst="roundRect">
            <a:avLst>
              <a:gd name="adj" fmla="val 960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96166510" name="text-105"/>
          <p:cNvSpPr txBox="1"/>
          <p:nvPr/>
        </p:nvSpPr>
        <p:spPr bwMode="auto">
          <a:xfrm>
            <a:off x="8321039" y="2029968"/>
            <a:ext cx="318485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chemeClr val="accent1"/>
                </a:solidFill>
              </a:rPr>
              <a:t>36,83 %</a:t>
            </a:r>
            <a:endParaRPr lang="en-US" sz="3200"/>
          </a:p>
        </p:txBody>
      </p:sp>
      <p:sp>
        <p:nvSpPr>
          <p:cNvPr id="1921487861" name="text-106"/>
          <p:cNvSpPr txBox="1"/>
          <p:nvPr/>
        </p:nvSpPr>
        <p:spPr bwMode="auto">
          <a:xfrm>
            <a:off x="8321039" y="2628900"/>
            <a:ext cx="318485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VALIDATION ACCURACY</a:t>
            </a:r>
            <a:endParaRPr lang="en-US" sz="1100"/>
          </a:p>
        </p:txBody>
      </p:sp>
      <p:sp>
        <p:nvSpPr>
          <p:cNvPr id="1162350395" name="card-107"/>
          <p:cNvSpPr/>
          <p:nvPr/>
        </p:nvSpPr>
        <p:spPr bwMode="auto">
          <a:xfrm>
            <a:off x="8183880" y="3200400"/>
            <a:ext cx="3459175" cy="1143000"/>
          </a:xfrm>
          <a:prstGeom prst="roundRect">
            <a:avLst>
              <a:gd name="adj" fmla="val 960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10956024" name="text-108"/>
          <p:cNvSpPr txBox="1"/>
          <p:nvPr/>
        </p:nvSpPr>
        <p:spPr bwMode="auto">
          <a:xfrm>
            <a:off x="8321039" y="3310127"/>
            <a:ext cx="318485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chemeClr val="accent4"/>
                </a:solidFill>
              </a:rPr>
              <a:t>1,6058</a:t>
            </a:r>
            <a:endParaRPr lang="en-US" sz="3200"/>
          </a:p>
        </p:txBody>
      </p:sp>
      <p:sp>
        <p:nvSpPr>
          <p:cNvPr id="1194579790" name="text-109"/>
          <p:cNvSpPr txBox="1"/>
          <p:nvPr/>
        </p:nvSpPr>
        <p:spPr bwMode="auto">
          <a:xfrm>
            <a:off x="8321039" y="3909060"/>
            <a:ext cx="318485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VALIDATION LOSS</a:t>
            </a:r>
            <a:endParaRPr lang="en-US" sz="1100"/>
          </a:p>
        </p:txBody>
      </p:sp>
      <p:sp>
        <p:nvSpPr>
          <p:cNvPr id="1705008815" name="card-110"/>
          <p:cNvSpPr/>
          <p:nvPr/>
        </p:nvSpPr>
        <p:spPr bwMode="auto">
          <a:xfrm>
            <a:off x="548640" y="4572000"/>
            <a:ext cx="3545738" cy="1371600"/>
          </a:xfrm>
          <a:prstGeom prst="roundRect">
            <a:avLst>
              <a:gd name="adj" fmla="val 800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71400353" name="iconbg-111"/>
          <p:cNvSpPr/>
          <p:nvPr/>
        </p:nvSpPr>
        <p:spPr bwMode="auto">
          <a:xfrm>
            <a:off x="777240" y="5006340"/>
            <a:ext cx="502920" cy="50292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59561659" name="icon-112" descr="icône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913028" y="5142128"/>
            <a:ext cx="231343" cy="231343"/>
          </a:xfrm>
          <a:prstGeom prst="rect">
            <a:avLst/>
          </a:prstGeom>
        </p:spPr>
      </p:pic>
      <p:sp>
        <p:nvSpPr>
          <p:cNvPr id="2073605455" name="text-113"/>
          <p:cNvSpPr txBox="1"/>
          <p:nvPr/>
        </p:nvSpPr>
        <p:spPr bwMode="auto">
          <a:xfrm>
            <a:off x="1417320" y="4572000"/>
            <a:ext cx="24484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Ne modélise pas explicitement la structure spatiale du visage.</a:t>
            </a:r>
            <a:endParaRPr lang="en-US" sz="1400"/>
          </a:p>
        </p:txBody>
      </p:sp>
      <p:sp>
        <p:nvSpPr>
          <p:cNvPr id="783243894" name="card-114"/>
          <p:cNvSpPr/>
          <p:nvPr/>
        </p:nvSpPr>
        <p:spPr bwMode="auto">
          <a:xfrm>
            <a:off x="4322978" y="4572000"/>
            <a:ext cx="3545738" cy="1371600"/>
          </a:xfrm>
          <a:prstGeom prst="roundRect">
            <a:avLst>
              <a:gd name="adj" fmla="val 800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74084714" name="iconbg-115"/>
          <p:cNvSpPr/>
          <p:nvPr/>
        </p:nvSpPr>
        <p:spPr bwMode="auto">
          <a:xfrm>
            <a:off x="4551578" y="5006340"/>
            <a:ext cx="502920" cy="50292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73059340" name="icon-116" descr="icône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687367" y="5142128"/>
            <a:ext cx="231343" cy="231343"/>
          </a:xfrm>
          <a:prstGeom prst="rect">
            <a:avLst/>
          </a:prstGeom>
        </p:spPr>
      </p:pic>
      <p:sp>
        <p:nvSpPr>
          <p:cNvPr id="2026696283" name="text-117"/>
          <p:cNvSpPr txBox="1"/>
          <p:nvPr/>
        </p:nvSpPr>
        <p:spPr bwMode="auto">
          <a:xfrm>
            <a:off x="5191658" y="4572000"/>
            <a:ext cx="24484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Mesure le gain apporté par les convolutions.</a:t>
            </a:r>
            <a:endParaRPr lang="en-US" sz="1400"/>
          </a:p>
        </p:txBody>
      </p:sp>
      <p:sp>
        <p:nvSpPr>
          <p:cNvPr id="828949342" name="card-118"/>
          <p:cNvSpPr/>
          <p:nvPr/>
        </p:nvSpPr>
        <p:spPr bwMode="auto">
          <a:xfrm>
            <a:off x="8097317" y="4572000"/>
            <a:ext cx="3545738" cy="1371600"/>
          </a:xfrm>
          <a:prstGeom prst="roundRect">
            <a:avLst>
              <a:gd name="adj" fmla="val 800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73659764" name="iconbg-119"/>
          <p:cNvSpPr/>
          <p:nvPr/>
        </p:nvSpPr>
        <p:spPr bwMode="auto">
          <a:xfrm>
            <a:off x="8325917" y="5006340"/>
            <a:ext cx="502920" cy="50292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20239065" name="icon-120" descr="icône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461705" y="5142128"/>
            <a:ext cx="231343" cy="231343"/>
          </a:xfrm>
          <a:prstGeom prst="rect">
            <a:avLst/>
          </a:prstGeom>
        </p:spPr>
      </p:pic>
      <p:sp>
        <p:nvSpPr>
          <p:cNvPr id="1501348222" name="text-121"/>
          <p:cNvSpPr txBox="1"/>
          <p:nvPr/>
        </p:nvSpPr>
        <p:spPr bwMode="auto">
          <a:xfrm>
            <a:off x="8965997" y="4572000"/>
            <a:ext cx="24484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Nettement inférieur aux CNN testés ensuite.</a:t>
            </a:r>
            <a:endParaRPr lang="en-US" sz="1400"/>
          </a:p>
        </p:txBody>
      </p:sp>
      <p:sp>
        <p:nvSpPr>
          <p:cNvPr id="135493438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089272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04 / MLP — MÉCANISMES</a:t>
            </a:r>
            <a:endParaRPr lang="en-US" sz="1200"/>
          </a:p>
        </p:txBody>
      </p:sp>
      <p:sp>
        <p:nvSpPr>
          <p:cNvPr id="179710218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Du neurone à la rétropropagation</a:t>
            </a:r>
            <a:endParaRPr lang="en-US" sz="3400"/>
          </a:p>
        </p:txBody>
      </p:sp>
      <p:sp>
        <p:nvSpPr>
          <p:cNvPr id="2067646803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Les mécanismes du MLP servent aussi de fondement à l’entraînement du CNN.</a:t>
            </a:r>
            <a:endParaRPr lang="en-US" sz="1500"/>
          </a:p>
        </p:txBody>
      </p:sp>
      <p:sp>
        <p:nvSpPr>
          <p:cNvPr id="1043332050" name="card-122"/>
          <p:cNvSpPr/>
          <p:nvPr/>
        </p:nvSpPr>
        <p:spPr bwMode="auto">
          <a:xfrm>
            <a:off x="548640" y="1920240"/>
            <a:ext cx="3520440" cy="2971800"/>
          </a:xfrm>
          <a:prstGeom prst="roundRect">
            <a:avLst>
              <a:gd name="adj" fmla="val 369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30949726" name="num-123"/>
          <p:cNvSpPr/>
          <p:nvPr/>
        </p:nvSpPr>
        <p:spPr bwMode="auto">
          <a:xfrm>
            <a:off x="822960" y="2148840"/>
            <a:ext cx="502920" cy="50292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01665099" name="text-124"/>
          <p:cNvSpPr txBox="1"/>
          <p:nvPr/>
        </p:nvSpPr>
        <p:spPr bwMode="auto">
          <a:xfrm>
            <a:off x="82296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accent1"/>
                </a:solidFill>
              </a:rPr>
              <a:t>01</a:t>
            </a:r>
            <a:endParaRPr lang="en-US" sz="1500"/>
          </a:p>
        </p:txBody>
      </p:sp>
      <p:sp>
        <p:nvSpPr>
          <p:cNvPr id="52630051" name="text-125"/>
          <p:cNvSpPr txBox="1"/>
          <p:nvPr/>
        </p:nvSpPr>
        <p:spPr bwMode="auto">
          <a:xfrm>
            <a:off x="1508759" y="2148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bg1"/>
                </a:solidFill>
              </a:rPr>
              <a:t>Propagation avant</a:t>
            </a:r>
            <a:endParaRPr lang="en-US" sz="1800"/>
          </a:p>
        </p:txBody>
      </p:sp>
      <p:sp>
        <p:nvSpPr>
          <p:cNvPr id="1181451956" name="formule-126"/>
          <p:cNvSpPr/>
          <p:nvPr/>
        </p:nvSpPr>
        <p:spPr bwMode="auto">
          <a:xfrm>
            <a:off x="822960" y="2834640"/>
            <a:ext cx="2971800" cy="502920"/>
          </a:xfrm>
          <a:prstGeom prst="roundRect">
            <a:avLst>
              <a:gd name="adj" fmla="val 14545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01639689" name="text-127"/>
          <p:cNvSpPr txBox="1"/>
          <p:nvPr/>
        </p:nvSpPr>
        <p:spPr bwMode="auto">
          <a:xfrm>
            <a:off x="822960" y="28346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z = W·x + b</a:t>
            </a:r>
            <a:endParaRPr lang="en-US" sz="1600"/>
          </a:p>
        </p:txBody>
      </p:sp>
      <p:sp>
        <p:nvSpPr>
          <p:cNvPr id="536094558" name="text-128"/>
          <p:cNvSpPr txBox="1"/>
          <p:nvPr/>
        </p:nvSpPr>
        <p:spPr bwMode="auto">
          <a:xfrm>
            <a:off x="822960" y="352044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Les poids pondèrent les entrées et le biais décale la somme.</a:t>
            </a:r>
            <a:endParaRPr lang="en-US" sz="14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ReLU(z) = max(0, z) introduit une non-linéarité.</a:t>
            </a:r>
            <a:endParaRPr lang="en-US" sz="1400"/>
          </a:p>
        </p:txBody>
      </p:sp>
      <p:sp>
        <p:nvSpPr>
          <p:cNvPr id="1333521216" name="card-129"/>
          <p:cNvSpPr/>
          <p:nvPr/>
        </p:nvSpPr>
        <p:spPr bwMode="auto">
          <a:xfrm>
            <a:off x="4334256" y="1920240"/>
            <a:ext cx="3520440" cy="2971800"/>
          </a:xfrm>
          <a:prstGeom prst="roundRect">
            <a:avLst>
              <a:gd name="adj" fmla="val 369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76563078" name="num-130"/>
          <p:cNvSpPr/>
          <p:nvPr/>
        </p:nvSpPr>
        <p:spPr bwMode="auto">
          <a:xfrm>
            <a:off x="4608576" y="2148840"/>
            <a:ext cx="502920" cy="50292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0228471" name="text-131"/>
          <p:cNvSpPr txBox="1"/>
          <p:nvPr/>
        </p:nvSpPr>
        <p:spPr bwMode="auto">
          <a:xfrm>
            <a:off x="4608576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accent1"/>
                </a:solidFill>
              </a:rPr>
              <a:t>02</a:t>
            </a:r>
            <a:endParaRPr lang="en-US" sz="1500"/>
          </a:p>
        </p:txBody>
      </p:sp>
      <p:sp>
        <p:nvSpPr>
          <p:cNvPr id="1143368843" name="text-132"/>
          <p:cNvSpPr txBox="1"/>
          <p:nvPr/>
        </p:nvSpPr>
        <p:spPr bwMode="auto">
          <a:xfrm>
            <a:off x="5294376" y="2148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bg1"/>
                </a:solidFill>
              </a:rPr>
              <a:t>Prédiction multiclasse</a:t>
            </a:r>
            <a:endParaRPr lang="en-US" sz="1800"/>
          </a:p>
        </p:txBody>
      </p:sp>
      <p:sp>
        <p:nvSpPr>
          <p:cNvPr id="1041383149" name="formule-133"/>
          <p:cNvSpPr/>
          <p:nvPr/>
        </p:nvSpPr>
        <p:spPr bwMode="auto">
          <a:xfrm>
            <a:off x="4608576" y="2834640"/>
            <a:ext cx="2971800" cy="502920"/>
          </a:xfrm>
          <a:prstGeom prst="roundRect">
            <a:avLst>
              <a:gd name="adj" fmla="val 14545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41810081" name="text-134"/>
          <p:cNvSpPr txBox="1"/>
          <p:nvPr/>
        </p:nvSpPr>
        <p:spPr bwMode="auto">
          <a:xfrm>
            <a:off x="4608576" y="28346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Dense(7) + Softmax</a:t>
            </a:r>
            <a:endParaRPr lang="en-US" sz="1600"/>
          </a:p>
        </p:txBody>
      </p:sp>
      <p:sp>
        <p:nvSpPr>
          <p:cNvPr id="1604898792" name="text-135"/>
          <p:cNvSpPr txBox="1"/>
          <p:nvPr/>
        </p:nvSpPr>
        <p:spPr bwMode="auto">
          <a:xfrm>
            <a:off x="4608576" y="352044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Produit 7 probabilités, dont la somme vaut 1.</a:t>
            </a:r>
            <a:endParaRPr lang="en-US" sz="14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La classe retenue est celle de probabilité maximale (argmax).</a:t>
            </a:r>
            <a:endParaRPr lang="en-US" sz="1400"/>
          </a:p>
        </p:txBody>
      </p:sp>
      <p:sp>
        <p:nvSpPr>
          <p:cNvPr id="831677856" name="card-136"/>
          <p:cNvSpPr/>
          <p:nvPr/>
        </p:nvSpPr>
        <p:spPr bwMode="auto">
          <a:xfrm>
            <a:off x="8119872" y="1920240"/>
            <a:ext cx="3520440" cy="2971800"/>
          </a:xfrm>
          <a:prstGeom prst="roundRect">
            <a:avLst>
              <a:gd name="adj" fmla="val 369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08192348" name="num-137"/>
          <p:cNvSpPr/>
          <p:nvPr/>
        </p:nvSpPr>
        <p:spPr bwMode="auto">
          <a:xfrm>
            <a:off x="8394192" y="2148840"/>
            <a:ext cx="502920" cy="50292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84870" name="text-138"/>
          <p:cNvSpPr txBox="1"/>
          <p:nvPr/>
        </p:nvSpPr>
        <p:spPr bwMode="auto"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accent1"/>
                </a:solidFill>
              </a:rPr>
              <a:t>03</a:t>
            </a:r>
            <a:endParaRPr lang="en-US" sz="1500"/>
          </a:p>
        </p:txBody>
      </p:sp>
      <p:sp>
        <p:nvSpPr>
          <p:cNvPr id="75358405" name="text-139"/>
          <p:cNvSpPr txBox="1"/>
          <p:nvPr/>
        </p:nvSpPr>
        <p:spPr bwMode="auto">
          <a:xfrm>
            <a:off x="9079992" y="2148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bg1"/>
                </a:solidFill>
              </a:rPr>
              <a:t>Apprentissage</a:t>
            </a:r>
            <a:endParaRPr lang="en-US" sz="1800"/>
          </a:p>
        </p:txBody>
      </p:sp>
      <p:sp>
        <p:nvSpPr>
          <p:cNvPr id="1733696124" name="formule-140"/>
          <p:cNvSpPr/>
          <p:nvPr/>
        </p:nvSpPr>
        <p:spPr bwMode="auto">
          <a:xfrm>
            <a:off x="8394192" y="2834640"/>
            <a:ext cx="2971800" cy="502920"/>
          </a:xfrm>
          <a:prstGeom prst="roundRect">
            <a:avLst>
              <a:gd name="adj" fmla="val 14545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02987443" name="text-141"/>
          <p:cNvSpPr txBox="1"/>
          <p:nvPr/>
        </p:nvSpPr>
        <p:spPr bwMode="auto">
          <a:xfrm>
            <a:off x="8394192" y="28346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accent1"/>
                </a:solidFill>
              </a:rPr>
              <a:t>sparse_categorical_crossentropy</a:t>
            </a:r>
            <a:endParaRPr lang="en-US" sz="1300"/>
          </a:p>
        </p:txBody>
      </p:sp>
      <p:sp>
        <p:nvSpPr>
          <p:cNvPr id="1481334575" name="text-142"/>
          <p:cNvSpPr txBox="1"/>
          <p:nvPr/>
        </p:nvSpPr>
        <p:spPr bwMode="auto">
          <a:xfrm>
            <a:off x="8394192" y="352044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La loss mesure l’erreur de prédiction.</a:t>
            </a:r>
            <a:endParaRPr lang="en-US" sz="14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La rétropropagation calcule les gradients ; Adam met à jour poids et biais.</a:t>
            </a:r>
            <a:endParaRPr lang="en-US" sz="1400"/>
          </a:p>
        </p:txBody>
      </p:sp>
      <p:sp>
        <p:nvSpPr>
          <p:cNvPr id="307225728" name="text-143"/>
          <p:cNvSpPr txBox="1"/>
          <p:nvPr/>
        </p:nvSpPr>
        <p:spPr bwMode="auto">
          <a:xfrm>
            <a:off x="54864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chemeClr val="accent1"/>
                </a:solidFill>
              </a:rPr>
              <a:t>CYCLE D’ENTRAÎNEMENT</a:t>
            </a:r>
            <a:endParaRPr lang="en-US" sz="1100"/>
          </a:p>
        </p:txBody>
      </p:sp>
      <p:sp>
        <p:nvSpPr>
          <p:cNvPr id="1771509716" name="block-144"/>
          <p:cNvSpPr/>
          <p:nvPr/>
        </p:nvSpPr>
        <p:spPr bwMode="auto">
          <a:xfrm>
            <a:off x="548640" y="5349240"/>
            <a:ext cx="2286000" cy="685800"/>
          </a:xfrm>
          <a:prstGeom prst="roundRect">
            <a:avLst>
              <a:gd name="adj" fmla="val 13333"/>
            </a:avLst>
          </a:prstGeom>
          <a:solidFill>
            <a:schemeClr val="accent2">
              <a:alpha val="22000"/>
            </a:schemeClr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027369584" name="text-145"/>
          <p:cNvSpPr txBox="1"/>
          <p:nvPr/>
        </p:nvSpPr>
        <p:spPr bwMode="auto">
          <a:xfrm>
            <a:off x="548640" y="5349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Forward pass</a:t>
            </a:r>
            <a:endParaRPr lang="en-US" sz="1500"/>
          </a:p>
        </p:txBody>
      </p:sp>
      <p:sp>
        <p:nvSpPr>
          <p:cNvPr id="686441986" name="chev-146"/>
          <p:cNvSpPr/>
          <p:nvPr/>
        </p:nvSpPr>
        <p:spPr bwMode="auto">
          <a:xfrm>
            <a:off x="3059125" y="5554980"/>
            <a:ext cx="201168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71871398" name="block-147"/>
          <p:cNvSpPr/>
          <p:nvPr/>
        </p:nvSpPr>
        <p:spPr bwMode="auto">
          <a:xfrm>
            <a:off x="3484778" y="5349240"/>
            <a:ext cx="2286000" cy="685800"/>
          </a:xfrm>
          <a:prstGeom prst="roundRect">
            <a:avLst>
              <a:gd name="adj" fmla="val 13333"/>
            </a:avLst>
          </a:prstGeom>
          <a:solidFill>
            <a:schemeClr val="accent4">
              <a:alpha val="22000"/>
            </a:schemeClr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117650253" name="text-148"/>
          <p:cNvSpPr txBox="1"/>
          <p:nvPr/>
        </p:nvSpPr>
        <p:spPr bwMode="auto">
          <a:xfrm>
            <a:off x="3484778" y="5349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Loss</a:t>
            </a:r>
            <a:endParaRPr lang="en-US" sz="1500"/>
          </a:p>
        </p:txBody>
      </p:sp>
      <p:sp>
        <p:nvSpPr>
          <p:cNvPr id="1465090011" name="chev-149"/>
          <p:cNvSpPr/>
          <p:nvPr/>
        </p:nvSpPr>
        <p:spPr bwMode="auto">
          <a:xfrm>
            <a:off x="5995264" y="5554980"/>
            <a:ext cx="201168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82844997" name="block-150"/>
          <p:cNvSpPr/>
          <p:nvPr/>
        </p:nvSpPr>
        <p:spPr bwMode="auto">
          <a:xfrm>
            <a:off x="6420917" y="5349240"/>
            <a:ext cx="228600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2200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747512464" name="text-151"/>
          <p:cNvSpPr txBox="1"/>
          <p:nvPr/>
        </p:nvSpPr>
        <p:spPr bwMode="auto">
          <a:xfrm>
            <a:off x="6420917" y="5349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Backpropagation</a:t>
            </a:r>
            <a:endParaRPr lang="en-US" sz="1500"/>
          </a:p>
        </p:txBody>
      </p:sp>
      <p:sp>
        <p:nvSpPr>
          <p:cNvPr id="474636369" name="chev-152"/>
          <p:cNvSpPr/>
          <p:nvPr/>
        </p:nvSpPr>
        <p:spPr bwMode="auto">
          <a:xfrm>
            <a:off x="8931402" y="5554980"/>
            <a:ext cx="201168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08976826" name="block-153"/>
          <p:cNvSpPr/>
          <p:nvPr/>
        </p:nvSpPr>
        <p:spPr bwMode="auto">
          <a:xfrm>
            <a:off x="9357055" y="5349240"/>
            <a:ext cx="2286000" cy="685800"/>
          </a:xfrm>
          <a:prstGeom prst="roundRect">
            <a:avLst>
              <a:gd name="adj" fmla="val 13333"/>
            </a:avLst>
          </a:prstGeom>
          <a:solidFill>
            <a:schemeClr val="accent1">
              <a:alpha val="2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125492995" name="text-154"/>
          <p:cNvSpPr txBox="1"/>
          <p:nvPr/>
        </p:nvSpPr>
        <p:spPr bwMode="auto">
          <a:xfrm>
            <a:off x="9357055" y="5349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Mise à jour (Adam)</a:t>
            </a:r>
            <a:endParaRPr lang="en-US" sz="1500"/>
          </a:p>
        </p:txBody>
      </p:sp>
      <p:sp>
        <p:nvSpPr>
          <p:cNvPr id="1941594901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595203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05 / CNN</a:t>
            </a:r>
            <a:endParaRPr lang="en-US" sz="1200"/>
          </a:p>
        </p:txBody>
      </p:sp>
      <p:sp>
        <p:nvSpPr>
          <p:cNvPr id="1920325722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Architecture CNN retenue comme base</a:t>
            </a:r>
            <a:endParaRPr lang="en-US" sz="3400"/>
          </a:p>
        </p:txBody>
      </p:sp>
      <p:sp>
        <p:nvSpPr>
          <p:cNvPr id="1525146383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Trois blocs convolution / pooling puis une tête Dense + Dropout + Softmax.</a:t>
            </a:r>
            <a:endParaRPr lang="en-US" sz="1500"/>
          </a:p>
        </p:txBody>
      </p:sp>
      <p:sp>
        <p:nvSpPr>
          <p:cNvPr id="1586934456" name="block-155"/>
          <p:cNvSpPr/>
          <p:nvPr/>
        </p:nvSpPr>
        <p:spPr bwMode="auto">
          <a:xfrm>
            <a:off x="548640" y="192024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2">
              <a:alpha val="22000"/>
            </a:schemeClr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985676774" name="text-156"/>
          <p:cNvSpPr txBox="1"/>
          <p:nvPr/>
        </p:nvSpPr>
        <p:spPr bwMode="auto">
          <a:xfrm>
            <a:off x="548640" y="19202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Input</a:t>
            </a:r>
            <a:endParaRPr lang="en-US" sz="1400"/>
          </a:p>
        </p:txBody>
      </p:sp>
      <p:sp>
        <p:nvSpPr>
          <p:cNvPr id="914916308" name="text-157"/>
          <p:cNvSpPr txBox="1"/>
          <p:nvPr/>
        </p:nvSpPr>
        <p:spPr bwMode="auto">
          <a:xfrm>
            <a:off x="548640" y="27614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48×48×1</a:t>
            </a:r>
            <a:endParaRPr lang="en-US" sz="1300"/>
          </a:p>
        </p:txBody>
      </p:sp>
      <p:sp>
        <p:nvSpPr>
          <p:cNvPr id="1718861853" name="chev-158"/>
          <p:cNvSpPr/>
          <p:nvPr/>
        </p:nvSpPr>
        <p:spPr bwMode="auto">
          <a:xfrm>
            <a:off x="1934185" y="217170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56261003" name="block-159"/>
          <p:cNvSpPr/>
          <p:nvPr/>
        </p:nvSpPr>
        <p:spPr bwMode="auto">
          <a:xfrm>
            <a:off x="2176729" y="192024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1">
              <a:alpha val="2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15890569" name="text-160"/>
          <p:cNvSpPr txBox="1"/>
          <p:nvPr/>
        </p:nvSpPr>
        <p:spPr bwMode="auto">
          <a:xfrm>
            <a:off x="2176729" y="19202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Conv 3×3</a:t>
            </a:r>
            <a:endParaRPr lang="en-US" sz="1400"/>
          </a:p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32 filtres</a:t>
            </a:r>
            <a:endParaRPr lang="en-US" sz="1400"/>
          </a:p>
        </p:txBody>
      </p:sp>
      <p:sp>
        <p:nvSpPr>
          <p:cNvPr id="375430005" name="text-161"/>
          <p:cNvSpPr txBox="1"/>
          <p:nvPr/>
        </p:nvSpPr>
        <p:spPr bwMode="auto">
          <a:xfrm>
            <a:off x="2176729" y="27614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48×48×32</a:t>
            </a:r>
            <a:endParaRPr lang="en-US" sz="1300"/>
          </a:p>
        </p:txBody>
      </p:sp>
      <p:sp>
        <p:nvSpPr>
          <p:cNvPr id="1707021803" name="chev-162"/>
          <p:cNvSpPr/>
          <p:nvPr/>
        </p:nvSpPr>
        <p:spPr bwMode="auto">
          <a:xfrm>
            <a:off x="3562274" y="217170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55957822" name="block-163"/>
          <p:cNvSpPr/>
          <p:nvPr/>
        </p:nvSpPr>
        <p:spPr bwMode="auto">
          <a:xfrm>
            <a:off x="3804818" y="192024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3">
              <a:alpha val="2200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937936840" name="text-164"/>
          <p:cNvSpPr txBox="1"/>
          <p:nvPr/>
        </p:nvSpPr>
        <p:spPr bwMode="auto">
          <a:xfrm>
            <a:off x="3804818" y="19202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MaxPool</a:t>
            </a:r>
            <a:endParaRPr lang="en-US" sz="1400"/>
          </a:p>
        </p:txBody>
      </p:sp>
      <p:sp>
        <p:nvSpPr>
          <p:cNvPr id="1849743074" name="text-165"/>
          <p:cNvSpPr txBox="1"/>
          <p:nvPr/>
        </p:nvSpPr>
        <p:spPr bwMode="auto">
          <a:xfrm>
            <a:off x="3804818" y="27614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24×24×32</a:t>
            </a:r>
            <a:endParaRPr lang="en-US" sz="1300"/>
          </a:p>
        </p:txBody>
      </p:sp>
      <p:sp>
        <p:nvSpPr>
          <p:cNvPr id="720339675" name="chev-166"/>
          <p:cNvSpPr/>
          <p:nvPr/>
        </p:nvSpPr>
        <p:spPr bwMode="auto">
          <a:xfrm>
            <a:off x="5190363" y="217170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81232986" name="block-167"/>
          <p:cNvSpPr/>
          <p:nvPr/>
        </p:nvSpPr>
        <p:spPr bwMode="auto">
          <a:xfrm>
            <a:off x="5432908" y="192024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1">
              <a:alpha val="2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59240813" name="text-168"/>
          <p:cNvSpPr txBox="1"/>
          <p:nvPr/>
        </p:nvSpPr>
        <p:spPr bwMode="auto">
          <a:xfrm>
            <a:off x="5432908" y="19202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Conv 3×3</a:t>
            </a:r>
            <a:endParaRPr lang="en-US" sz="1400"/>
          </a:p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64 filtres</a:t>
            </a:r>
            <a:endParaRPr lang="en-US" sz="1400"/>
          </a:p>
        </p:txBody>
      </p:sp>
      <p:sp>
        <p:nvSpPr>
          <p:cNvPr id="1061798399" name="text-169"/>
          <p:cNvSpPr txBox="1"/>
          <p:nvPr/>
        </p:nvSpPr>
        <p:spPr bwMode="auto">
          <a:xfrm>
            <a:off x="5432908" y="27614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24×24×64</a:t>
            </a:r>
            <a:endParaRPr lang="en-US" sz="1300"/>
          </a:p>
        </p:txBody>
      </p:sp>
      <p:sp>
        <p:nvSpPr>
          <p:cNvPr id="1407027019" name="chev-170"/>
          <p:cNvSpPr/>
          <p:nvPr/>
        </p:nvSpPr>
        <p:spPr bwMode="auto">
          <a:xfrm>
            <a:off x="6818452" y="217170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56980339" name="block-171"/>
          <p:cNvSpPr/>
          <p:nvPr/>
        </p:nvSpPr>
        <p:spPr bwMode="auto">
          <a:xfrm>
            <a:off x="7060997" y="192024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3">
              <a:alpha val="2200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20224562" name="text-172"/>
          <p:cNvSpPr txBox="1"/>
          <p:nvPr/>
        </p:nvSpPr>
        <p:spPr bwMode="auto">
          <a:xfrm>
            <a:off x="7060997" y="19202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MaxPool</a:t>
            </a:r>
            <a:endParaRPr lang="en-US" sz="1400"/>
          </a:p>
        </p:txBody>
      </p:sp>
      <p:sp>
        <p:nvSpPr>
          <p:cNvPr id="450923847" name="text-173"/>
          <p:cNvSpPr txBox="1"/>
          <p:nvPr/>
        </p:nvSpPr>
        <p:spPr bwMode="auto">
          <a:xfrm>
            <a:off x="7060997" y="27614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12×12×64</a:t>
            </a:r>
            <a:endParaRPr lang="en-US" sz="1300"/>
          </a:p>
        </p:txBody>
      </p:sp>
      <p:sp>
        <p:nvSpPr>
          <p:cNvPr id="57566393" name="chev-174"/>
          <p:cNvSpPr/>
          <p:nvPr/>
        </p:nvSpPr>
        <p:spPr bwMode="auto">
          <a:xfrm>
            <a:off x="8446541" y="217170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56536930" name="block-175"/>
          <p:cNvSpPr/>
          <p:nvPr/>
        </p:nvSpPr>
        <p:spPr bwMode="auto">
          <a:xfrm>
            <a:off x="8689086" y="192024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1">
              <a:alpha val="2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21241201" name="text-176"/>
          <p:cNvSpPr txBox="1"/>
          <p:nvPr/>
        </p:nvSpPr>
        <p:spPr bwMode="auto">
          <a:xfrm>
            <a:off x="8689086" y="19202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Conv 3×3</a:t>
            </a:r>
            <a:endParaRPr lang="en-US" sz="1400"/>
          </a:p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128 filtres</a:t>
            </a:r>
            <a:endParaRPr lang="en-US" sz="1400"/>
          </a:p>
        </p:txBody>
      </p:sp>
      <p:sp>
        <p:nvSpPr>
          <p:cNvPr id="560223378" name="text-177"/>
          <p:cNvSpPr txBox="1"/>
          <p:nvPr/>
        </p:nvSpPr>
        <p:spPr bwMode="auto">
          <a:xfrm>
            <a:off x="8689086" y="27614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12×12×128</a:t>
            </a:r>
            <a:endParaRPr lang="en-US" sz="1300"/>
          </a:p>
        </p:txBody>
      </p:sp>
      <p:sp>
        <p:nvSpPr>
          <p:cNvPr id="374977535" name="chev-178"/>
          <p:cNvSpPr/>
          <p:nvPr/>
        </p:nvSpPr>
        <p:spPr bwMode="auto">
          <a:xfrm>
            <a:off x="10074631" y="217170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8788424" name="block-179"/>
          <p:cNvSpPr/>
          <p:nvPr/>
        </p:nvSpPr>
        <p:spPr bwMode="auto">
          <a:xfrm>
            <a:off x="10317175" y="192024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3">
              <a:alpha val="2200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002548296" name="text-180"/>
          <p:cNvSpPr txBox="1"/>
          <p:nvPr/>
        </p:nvSpPr>
        <p:spPr bwMode="auto">
          <a:xfrm>
            <a:off x="10317175" y="19202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MaxPool</a:t>
            </a:r>
            <a:endParaRPr lang="en-US" sz="1400"/>
          </a:p>
        </p:txBody>
      </p:sp>
      <p:sp>
        <p:nvSpPr>
          <p:cNvPr id="225326907" name="text-181"/>
          <p:cNvSpPr txBox="1"/>
          <p:nvPr/>
        </p:nvSpPr>
        <p:spPr bwMode="auto">
          <a:xfrm>
            <a:off x="10317175" y="27614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6×6×128</a:t>
            </a:r>
            <a:endParaRPr lang="en-US" sz="1300"/>
          </a:p>
        </p:txBody>
      </p:sp>
      <p:sp>
        <p:nvSpPr>
          <p:cNvPr id="1284485127" name="block-182"/>
          <p:cNvSpPr/>
          <p:nvPr/>
        </p:nvSpPr>
        <p:spPr bwMode="auto">
          <a:xfrm>
            <a:off x="548640" y="333756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3">
              <a:alpha val="2200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622207201" name="text-183"/>
          <p:cNvSpPr txBox="1"/>
          <p:nvPr/>
        </p:nvSpPr>
        <p:spPr bwMode="auto">
          <a:xfrm>
            <a:off x="548640" y="33375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Flatten</a:t>
            </a:r>
            <a:endParaRPr lang="en-US" sz="1400"/>
          </a:p>
        </p:txBody>
      </p:sp>
      <p:sp>
        <p:nvSpPr>
          <p:cNvPr id="1040342918" name="text-184"/>
          <p:cNvSpPr txBox="1"/>
          <p:nvPr/>
        </p:nvSpPr>
        <p:spPr bwMode="auto">
          <a:xfrm>
            <a:off x="548640" y="41788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4608</a:t>
            </a:r>
            <a:endParaRPr lang="en-US" sz="1300"/>
          </a:p>
        </p:txBody>
      </p:sp>
      <p:sp>
        <p:nvSpPr>
          <p:cNvPr id="1303720323" name="chev-185"/>
          <p:cNvSpPr/>
          <p:nvPr/>
        </p:nvSpPr>
        <p:spPr bwMode="auto">
          <a:xfrm>
            <a:off x="1934185" y="3589019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237815" name="block-186"/>
          <p:cNvSpPr/>
          <p:nvPr/>
        </p:nvSpPr>
        <p:spPr bwMode="auto">
          <a:xfrm>
            <a:off x="2176729" y="333756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2">
              <a:alpha val="22000"/>
            </a:schemeClr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831359843" name="text-187"/>
          <p:cNvSpPr txBox="1"/>
          <p:nvPr/>
        </p:nvSpPr>
        <p:spPr bwMode="auto">
          <a:xfrm>
            <a:off x="2176729" y="33375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Dense + ReLU</a:t>
            </a:r>
            <a:endParaRPr lang="en-US" sz="1400"/>
          </a:p>
        </p:txBody>
      </p:sp>
      <p:sp>
        <p:nvSpPr>
          <p:cNvPr id="976448026" name="text-188"/>
          <p:cNvSpPr txBox="1"/>
          <p:nvPr/>
        </p:nvSpPr>
        <p:spPr bwMode="auto">
          <a:xfrm>
            <a:off x="2176729" y="41788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128</a:t>
            </a:r>
            <a:endParaRPr lang="en-US" sz="1300"/>
          </a:p>
        </p:txBody>
      </p:sp>
      <p:sp>
        <p:nvSpPr>
          <p:cNvPr id="1999614236" name="chev-189"/>
          <p:cNvSpPr/>
          <p:nvPr/>
        </p:nvSpPr>
        <p:spPr bwMode="auto">
          <a:xfrm>
            <a:off x="3562274" y="3589019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75153253" name="block-190"/>
          <p:cNvSpPr/>
          <p:nvPr/>
        </p:nvSpPr>
        <p:spPr bwMode="auto">
          <a:xfrm>
            <a:off x="3804818" y="333756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4">
              <a:alpha val="22000"/>
            </a:schemeClr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85706382" name="text-191"/>
          <p:cNvSpPr txBox="1"/>
          <p:nvPr/>
        </p:nvSpPr>
        <p:spPr bwMode="auto">
          <a:xfrm>
            <a:off x="3804818" y="33375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Dropout</a:t>
            </a:r>
            <a:endParaRPr lang="en-US" sz="1400"/>
          </a:p>
        </p:txBody>
      </p:sp>
      <p:sp>
        <p:nvSpPr>
          <p:cNvPr id="1644497044" name="text-192"/>
          <p:cNvSpPr txBox="1"/>
          <p:nvPr/>
        </p:nvSpPr>
        <p:spPr bwMode="auto">
          <a:xfrm>
            <a:off x="3804818" y="41788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0.30</a:t>
            </a:r>
            <a:endParaRPr lang="en-US" sz="1300"/>
          </a:p>
        </p:txBody>
      </p:sp>
      <p:sp>
        <p:nvSpPr>
          <p:cNvPr id="1074212560" name="chev-193"/>
          <p:cNvSpPr/>
          <p:nvPr/>
        </p:nvSpPr>
        <p:spPr bwMode="auto">
          <a:xfrm>
            <a:off x="5190363" y="3589019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42113508" name="block-194"/>
          <p:cNvSpPr/>
          <p:nvPr/>
        </p:nvSpPr>
        <p:spPr bwMode="auto">
          <a:xfrm>
            <a:off x="5432908" y="3337560"/>
            <a:ext cx="1325880" cy="777240"/>
          </a:xfrm>
          <a:prstGeom prst="roundRect">
            <a:avLst>
              <a:gd name="adj" fmla="val 11765"/>
            </a:avLst>
          </a:prstGeom>
          <a:solidFill>
            <a:schemeClr val="accent5">
              <a:alpha val="22000"/>
            </a:schemeClr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679664745" name="text-195"/>
          <p:cNvSpPr txBox="1"/>
          <p:nvPr/>
        </p:nvSpPr>
        <p:spPr bwMode="auto">
          <a:xfrm>
            <a:off x="5432908" y="33375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Softmax</a:t>
            </a:r>
            <a:endParaRPr lang="en-US" sz="1400"/>
          </a:p>
        </p:txBody>
      </p:sp>
      <p:sp>
        <p:nvSpPr>
          <p:cNvPr id="1781654403" name="text-196"/>
          <p:cNvSpPr txBox="1"/>
          <p:nvPr/>
        </p:nvSpPr>
        <p:spPr bwMode="auto">
          <a:xfrm>
            <a:off x="5432908" y="41788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7 classes</a:t>
            </a:r>
            <a:endParaRPr lang="en-US" sz="1300"/>
          </a:p>
        </p:txBody>
      </p:sp>
      <p:sp>
        <p:nvSpPr>
          <p:cNvPr id="1513250736" name="card-197"/>
          <p:cNvSpPr/>
          <p:nvPr/>
        </p:nvSpPr>
        <p:spPr bwMode="auto">
          <a:xfrm>
            <a:off x="7152437" y="3246120"/>
            <a:ext cx="4490618" cy="1234440"/>
          </a:xfrm>
          <a:prstGeom prst="roundRect">
            <a:avLst>
              <a:gd name="adj" fmla="val 8889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56549856" name="text-198"/>
          <p:cNvSpPr txBox="1"/>
          <p:nvPr/>
        </p:nvSpPr>
        <p:spPr bwMode="auto">
          <a:xfrm>
            <a:off x="7426757" y="3319272"/>
            <a:ext cx="3941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683 527</a:t>
            </a:r>
            <a:r>
              <a:rPr lang="en-US" sz="1500">
                <a:solidFill>
                  <a:schemeClr val="bg2"/>
                </a:solidFill>
              </a:rPr>
              <a:t>  paramètres au total</a:t>
            </a:r>
            <a:endParaRPr lang="en-US" sz="1400"/>
          </a:p>
        </p:txBody>
      </p:sp>
      <p:sp>
        <p:nvSpPr>
          <p:cNvPr id="2082782512" name="text-199"/>
          <p:cNvSpPr txBox="1"/>
          <p:nvPr/>
        </p:nvSpPr>
        <p:spPr bwMode="auto">
          <a:xfrm>
            <a:off x="7426757" y="3904488"/>
            <a:ext cx="3941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Couche la plus lourde : Dense 128 (589 952 paramètres)</a:t>
            </a:r>
            <a:endParaRPr lang="en-US" sz="1400"/>
          </a:p>
        </p:txBody>
      </p:sp>
      <p:sp>
        <p:nvSpPr>
          <p:cNvPr id="2011180850" name="card-200"/>
          <p:cNvSpPr/>
          <p:nvPr/>
        </p:nvSpPr>
        <p:spPr bwMode="auto">
          <a:xfrm>
            <a:off x="548640" y="4709160"/>
            <a:ext cx="3545738" cy="594360"/>
          </a:xfrm>
          <a:prstGeom prst="roundRect">
            <a:avLst>
              <a:gd name="adj" fmla="val 1846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06759331" name="icon-201" descr="icône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749808" y="4892039"/>
            <a:ext cx="228600" cy="228600"/>
          </a:xfrm>
          <a:prstGeom prst="rect">
            <a:avLst/>
          </a:prstGeom>
        </p:spPr>
      </p:pic>
      <p:sp>
        <p:nvSpPr>
          <p:cNvPr id="1638040274" name="text-202"/>
          <p:cNvSpPr txBox="1"/>
          <p:nvPr/>
        </p:nvSpPr>
        <p:spPr bwMode="auto">
          <a:xfrm>
            <a:off x="1143000" y="4709160"/>
            <a:ext cx="28142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Optimiseur : Adam, lr initial 1e-3</a:t>
            </a:r>
            <a:endParaRPr lang="en-US" sz="1400"/>
          </a:p>
        </p:txBody>
      </p:sp>
      <p:sp>
        <p:nvSpPr>
          <p:cNvPr id="1802532417" name="card-203"/>
          <p:cNvSpPr/>
          <p:nvPr/>
        </p:nvSpPr>
        <p:spPr bwMode="auto">
          <a:xfrm>
            <a:off x="4322978" y="4709160"/>
            <a:ext cx="3545738" cy="594360"/>
          </a:xfrm>
          <a:prstGeom prst="roundRect">
            <a:avLst>
              <a:gd name="adj" fmla="val 1846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944802369" name="icon-204" descr="icône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24146" y="4892039"/>
            <a:ext cx="228600" cy="228600"/>
          </a:xfrm>
          <a:prstGeom prst="rect">
            <a:avLst/>
          </a:prstGeom>
        </p:spPr>
      </p:pic>
      <p:sp>
        <p:nvSpPr>
          <p:cNvPr id="1406958900" name="text-205"/>
          <p:cNvSpPr txBox="1"/>
          <p:nvPr/>
        </p:nvSpPr>
        <p:spPr bwMode="auto">
          <a:xfrm>
            <a:off x="4917338" y="4709160"/>
            <a:ext cx="28142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Loss : sparse categorical crossentropy</a:t>
            </a:r>
            <a:endParaRPr lang="en-US" sz="1400"/>
          </a:p>
        </p:txBody>
      </p:sp>
      <p:sp>
        <p:nvSpPr>
          <p:cNvPr id="186488041" name="card-206"/>
          <p:cNvSpPr/>
          <p:nvPr/>
        </p:nvSpPr>
        <p:spPr bwMode="auto">
          <a:xfrm>
            <a:off x="8097317" y="4709160"/>
            <a:ext cx="3545738" cy="594360"/>
          </a:xfrm>
          <a:prstGeom prst="roundRect">
            <a:avLst>
              <a:gd name="adj" fmla="val 1846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846823219" name="icon-207" descr="icône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298485" y="4892039"/>
            <a:ext cx="228600" cy="228600"/>
          </a:xfrm>
          <a:prstGeom prst="rect">
            <a:avLst/>
          </a:prstGeom>
        </p:spPr>
      </p:pic>
      <p:sp>
        <p:nvSpPr>
          <p:cNvPr id="1628763240" name="text-208"/>
          <p:cNvSpPr txBox="1"/>
          <p:nvPr/>
        </p:nvSpPr>
        <p:spPr bwMode="auto">
          <a:xfrm>
            <a:off x="8691677" y="4709160"/>
            <a:ext cx="28142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Dropout : 0,30 sur le CNN de référence</a:t>
            </a:r>
            <a:endParaRPr lang="en-US" sz="1400"/>
          </a:p>
        </p:txBody>
      </p:sp>
      <p:sp>
        <p:nvSpPr>
          <p:cNvPr id="1534533922" name="highlight-209"/>
          <p:cNvSpPr/>
          <p:nvPr/>
        </p:nvSpPr>
        <p:spPr bwMode="auto">
          <a:xfrm>
            <a:off x="548640" y="5486400"/>
            <a:ext cx="11094415" cy="640080"/>
          </a:xfrm>
          <a:prstGeom prst="roundRect">
            <a:avLst>
              <a:gd name="adj" fmla="val 17143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787250544" name="text-210"/>
          <p:cNvSpPr txBox="1"/>
          <p:nvPr/>
        </p:nvSpPr>
        <p:spPr bwMode="auto">
          <a:xfrm>
            <a:off x="822960" y="548640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Par rapport au MLP, le CNN exploite le voisinage spatial et apprend des filtres locaux (contours, sourcils, bouche, yeux).</a:t>
            </a:r>
            <a:endParaRPr lang="en-US" sz="1400"/>
          </a:p>
        </p:txBody>
      </p:sp>
      <p:sp>
        <p:nvSpPr>
          <p:cNvPr id="522632116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2184456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05 / CNN — DÉTAILS TECHNIQUES</a:t>
            </a:r>
            <a:endParaRPr lang="en-US" sz="1200"/>
          </a:p>
        </p:txBody>
      </p:sp>
      <p:sp>
        <p:nvSpPr>
          <p:cNvPr id="856652180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Dimensions et paramètres couche par couche</a:t>
            </a:r>
            <a:endParaRPr lang="en-US" sz="3400"/>
          </a:p>
        </p:txBody>
      </p:sp>
      <p:sp>
        <p:nvSpPr>
          <p:cNvPr id="760855553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Architecture réelle issue du model.summary() du notebook ; sortie Softmax à 7 classes.</a:t>
            </a:r>
            <a:endParaRPr lang="en-US" sz="1500"/>
          </a:p>
        </p:txBody>
      </p:sp>
      <p:graphicFrame>
        <p:nvGraphicFramePr>
          <p:cNvPr id="519171741" name="tableau-cnn"/>
          <p:cNvGraphicFramePr>
            <a:graphicFrameLocks noGrp="1"/>
          </p:cNvGraphicFramePr>
          <p:nvPr/>
        </p:nvGraphicFramePr>
        <p:xfrm>
          <a:off x="548640" y="1920240"/>
          <a:ext cx="6035039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Couche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Sortie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Paramètres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Input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48×48×1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Conv2D — 32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48×48×32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320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MaxPooling2D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24×24×32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Conv2D — 64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24×24×64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18 496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MaxPooling2D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12×12×64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Conv2D — 128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12×12×128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73 856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MaxPooling2D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6×6×128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Flatten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4 608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accent4"/>
                          </a:solidFill>
                          <a:latin typeface="Calibri"/>
                          <a:ea typeface="Calibri"/>
                          <a:cs typeface="Calibri"/>
                        </a:rPr>
                        <a:t>Dense — 128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3A2A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accent4"/>
                          </a:solidFill>
                          <a:latin typeface="Calibri"/>
                          <a:ea typeface="Calibri"/>
                          <a:cs typeface="Calibri"/>
                        </a:rPr>
                        <a:t>128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3A2A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accent4"/>
                          </a:solidFill>
                          <a:latin typeface="Calibri"/>
                          <a:ea typeface="Calibri"/>
                          <a:cs typeface="Calibri"/>
                        </a:rPr>
                        <a:t>589 952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3A2A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Dropout — 0,30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128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Dense — 7 / Softmax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903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</a:rPr>
                        <a:t>TOTAL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</a:rPr>
                        <a:t>683 527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37160" marR="137160" marT="27432" marB="27432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0E3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74247306" name="card-211"/>
          <p:cNvSpPr/>
          <p:nvPr/>
        </p:nvSpPr>
        <p:spPr bwMode="auto">
          <a:xfrm>
            <a:off x="6858000" y="1920240"/>
            <a:ext cx="4785055" cy="987552"/>
          </a:xfrm>
          <a:prstGeom prst="roundRect">
            <a:avLst>
              <a:gd name="adj" fmla="val 11111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40577310" name="text-212"/>
          <p:cNvSpPr txBox="1"/>
          <p:nvPr/>
        </p:nvSpPr>
        <p:spPr bwMode="auto">
          <a:xfrm>
            <a:off x="7086600" y="201168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Convolution / filtres</a:t>
            </a:r>
            <a:endParaRPr lang="en-US" sz="1400"/>
          </a:p>
        </p:txBody>
      </p:sp>
      <p:sp>
        <p:nvSpPr>
          <p:cNvPr id="1023627510" name="text-213"/>
          <p:cNvSpPr txBox="1"/>
          <p:nvPr/>
        </p:nvSpPr>
        <p:spPr bwMode="auto">
          <a:xfrm>
            <a:off x="7086600" y="2322576"/>
            <a:ext cx="4327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chemeClr val="bg1"/>
                </a:solidFill>
              </a:rPr>
              <a:t>32 → 64 → 128 cartes d’activation : les filtres captent des motifs locaux (contours, bouche, yeux).</a:t>
            </a:r>
            <a:endParaRPr lang="en-US" sz="1300"/>
          </a:p>
        </p:txBody>
      </p:sp>
      <p:sp>
        <p:nvSpPr>
          <p:cNvPr id="1121712721" name="card-214"/>
          <p:cNvSpPr/>
          <p:nvPr/>
        </p:nvSpPr>
        <p:spPr bwMode="auto">
          <a:xfrm>
            <a:off x="6858000" y="2990088"/>
            <a:ext cx="4785055" cy="987552"/>
          </a:xfrm>
          <a:prstGeom prst="roundRect">
            <a:avLst>
              <a:gd name="adj" fmla="val 11111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7960382" name="text-215"/>
          <p:cNvSpPr txBox="1"/>
          <p:nvPr/>
        </p:nvSpPr>
        <p:spPr bwMode="auto">
          <a:xfrm>
            <a:off x="7086600" y="3081528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Kernel, stride, padding</a:t>
            </a:r>
            <a:endParaRPr lang="en-US" sz="1400"/>
          </a:p>
        </p:txBody>
      </p:sp>
      <p:sp>
        <p:nvSpPr>
          <p:cNvPr id="550966937" name="text-216"/>
          <p:cNvSpPr txBox="1"/>
          <p:nvPr/>
        </p:nvSpPr>
        <p:spPr bwMode="auto">
          <a:xfrm>
            <a:off x="7086600" y="3392424"/>
            <a:ext cx="4327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chemeClr val="bg1"/>
                </a:solidFill>
              </a:rPr>
              <a:t>Kernels 3×3, stride 1, padding « same » : la taille spatiale est conservée avant le pooling.</a:t>
            </a:r>
            <a:endParaRPr lang="en-US" sz="1300"/>
          </a:p>
        </p:txBody>
      </p:sp>
      <p:sp>
        <p:nvSpPr>
          <p:cNvPr id="524506708" name="card-217"/>
          <p:cNvSpPr/>
          <p:nvPr/>
        </p:nvSpPr>
        <p:spPr bwMode="auto">
          <a:xfrm>
            <a:off x="6858000" y="4059936"/>
            <a:ext cx="4785055" cy="987552"/>
          </a:xfrm>
          <a:prstGeom prst="roundRect">
            <a:avLst>
              <a:gd name="adj" fmla="val 11111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46019939" name="text-218"/>
          <p:cNvSpPr txBox="1"/>
          <p:nvPr/>
        </p:nvSpPr>
        <p:spPr bwMode="auto">
          <a:xfrm>
            <a:off x="7086600" y="4151376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Pooling et Flatten</a:t>
            </a:r>
            <a:endParaRPr lang="en-US" sz="1400"/>
          </a:p>
        </p:txBody>
      </p:sp>
      <p:sp>
        <p:nvSpPr>
          <p:cNvPr id="1774485874" name="text-219"/>
          <p:cNvSpPr txBox="1"/>
          <p:nvPr/>
        </p:nvSpPr>
        <p:spPr bwMode="auto">
          <a:xfrm>
            <a:off x="7086600" y="4462272"/>
            <a:ext cx="4327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chemeClr val="bg1"/>
                </a:solidFill>
              </a:rPr>
              <a:t>MaxPooling 2×2 divise largeur et hauteur par 2 ; Flatten produit 4 608 valeurs.</a:t>
            </a:r>
            <a:endParaRPr lang="en-US" sz="1300"/>
          </a:p>
        </p:txBody>
      </p:sp>
      <p:sp>
        <p:nvSpPr>
          <p:cNvPr id="1977217279" name="card-220"/>
          <p:cNvSpPr/>
          <p:nvPr/>
        </p:nvSpPr>
        <p:spPr bwMode="auto">
          <a:xfrm>
            <a:off x="6858000" y="5129784"/>
            <a:ext cx="4785055" cy="987552"/>
          </a:xfrm>
          <a:prstGeom prst="roundRect">
            <a:avLst>
              <a:gd name="adj" fmla="val 11111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64632857" name="text-221"/>
          <p:cNvSpPr txBox="1"/>
          <p:nvPr/>
        </p:nvSpPr>
        <p:spPr bwMode="auto">
          <a:xfrm>
            <a:off x="7086600" y="5221224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Dense et Dropout</a:t>
            </a:r>
            <a:endParaRPr lang="en-US" sz="1400"/>
          </a:p>
        </p:txBody>
      </p:sp>
      <p:sp>
        <p:nvSpPr>
          <p:cNvPr id="2018200799" name="text-222"/>
          <p:cNvSpPr txBox="1"/>
          <p:nvPr/>
        </p:nvSpPr>
        <p:spPr bwMode="auto">
          <a:xfrm>
            <a:off x="7086600" y="5532120"/>
            <a:ext cx="4327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chemeClr val="bg1"/>
                </a:solidFill>
              </a:rPr>
              <a:t>Dense(128) combine les caractéristiques ; Dropout 0,30 régularise l’apprentissage.</a:t>
            </a:r>
            <a:endParaRPr lang="en-US" sz="1300"/>
          </a:p>
        </p:txBody>
      </p:sp>
      <p:sp>
        <p:nvSpPr>
          <p:cNvPr id="149117908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2252304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06 / ENTRAÎNEMENT</a:t>
            </a:r>
            <a:endParaRPr lang="en-US" sz="1200"/>
          </a:p>
        </p:txBody>
      </p:sp>
      <p:sp>
        <p:nvSpPr>
          <p:cNvPr id="662014409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Protocole d’apprentissage et diagnostic</a:t>
            </a:r>
            <a:endParaRPr lang="en-US" sz="3400"/>
          </a:p>
        </p:txBody>
      </p:sp>
      <p:sp>
        <p:nvSpPr>
          <p:cNvPr id="821568872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Suivi des courbes pour repérer la convergence et un éventuel surapprentissage.</a:t>
            </a:r>
            <a:endParaRPr lang="en-US" sz="1500"/>
          </a:p>
        </p:txBody>
      </p:sp>
      <p:sp>
        <p:nvSpPr>
          <p:cNvPr id="1257249932" name="card-223"/>
          <p:cNvSpPr/>
          <p:nvPr/>
        </p:nvSpPr>
        <p:spPr bwMode="auto">
          <a:xfrm>
            <a:off x="548640" y="1874520"/>
            <a:ext cx="2103120" cy="960120"/>
          </a:xfrm>
          <a:prstGeom prst="roundRect">
            <a:avLst>
              <a:gd name="adj" fmla="val 11429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5749688" name="text-224"/>
          <p:cNvSpPr txBox="1"/>
          <p:nvPr/>
        </p:nvSpPr>
        <p:spPr bwMode="auto">
          <a:xfrm>
            <a:off x="685800" y="1984248"/>
            <a:ext cx="18288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chemeClr val="accent1"/>
                </a:solidFill>
              </a:rPr>
              <a:t>128</a:t>
            </a:r>
            <a:endParaRPr lang="en-US" sz="2200"/>
          </a:p>
        </p:txBody>
      </p:sp>
      <p:sp>
        <p:nvSpPr>
          <p:cNvPr id="409957874" name="text-225"/>
          <p:cNvSpPr txBox="1"/>
          <p:nvPr/>
        </p:nvSpPr>
        <p:spPr bwMode="auto">
          <a:xfrm>
            <a:off x="685800" y="2469793"/>
            <a:ext cx="18288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BATCH SIZE</a:t>
            </a:r>
            <a:endParaRPr lang="en-US" sz="1100"/>
          </a:p>
        </p:txBody>
      </p:sp>
      <p:sp>
        <p:nvSpPr>
          <p:cNvPr id="902075088" name="card-226"/>
          <p:cNvSpPr/>
          <p:nvPr/>
        </p:nvSpPr>
        <p:spPr bwMode="auto">
          <a:xfrm>
            <a:off x="2796464" y="1874520"/>
            <a:ext cx="2103120" cy="960120"/>
          </a:xfrm>
          <a:prstGeom prst="roundRect">
            <a:avLst>
              <a:gd name="adj" fmla="val 11429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41775110" name="text-227"/>
          <p:cNvSpPr txBox="1"/>
          <p:nvPr/>
        </p:nvSpPr>
        <p:spPr bwMode="auto">
          <a:xfrm>
            <a:off x="2933624" y="1984248"/>
            <a:ext cx="18288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chemeClr val="accent1"/>
                </a:solidFill>
              </a:rPr>
              <a:t>40</a:t>
            </a:r>
            <a:endParaRPr lang="en-US" sz="2200"/>
          </a:p>
        </p:txBody>
      </p:sp>
      <p:sp>
        <p:nvSpPr>
          <p:cNvPr id="231388761" name="text-228"/>
          <p:cNvSpPr txBox="1"/>
          <p:nvPr/>
        </p:nvSpPr>
        <p:spPr bwMode="auto">
          <a:xfrm>
            <a:off x="2933624" y="2469793"/>
            <a:ext cx="18288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ÉPOQUES MAX</a:t>
            </a:r>
            <a:endParaRPr lang="en-US" sz="1100"/>
          </a:p>
        </p:txBody>
      </p:sp>
      <p:sp>
        <p:nvSpPr>
          <p:cNvPr id="1100168780" name="card-229"/>
          <p:cNvSpPr/>
          <p:nvPr/>
        </p:nvSpPr>
        <p:spPr bwMode="auto">
          <a:xfrm>
            <a:off x="5044288" y="1874520"/>
            <a:ext cx="2103120" cy="960120"/>
          </a:xfrm>
          <a:prstGeom prst="roundRect">
            <a:avLst>
              <a:gd name="adj" fmla="val 11429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99853736" name="text-230"/>
          <p:cNvSpPr txBox="1"/>
          <p:nvPr/>
        </p:nvSpPr>
        <p:spPr bwMode="auto">
          <a:xfrm>
            <a:off x="5181447" y="1984248"/>
            <a:ext cx="18288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chemeClr val="accent1"/>
                </a:solidFill>
              </a:rPr>
              <a:t>patience 6</a:t>
            </a:r>
            <a:endParaRPr lang="en-US" sz="2200"/>
          </a:p>
        </p:txBody>
      </p:sp>
      <p:sp>
        <p:nvSpPr>
          <p:cNvPr id="964607268" name="text-231"/>
          <p:cNvSpPr txBox="1"/>
          <p:nvPr/>
        </p:nvSpPr>
        <p:spPr bwMode="auto">
          <a:xfrm>
            <a:off x="5181447" y="2469793"/>
            <a:ext cx="18288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EARLY STOPPING</a:t>
            </a:r>
            <a:endParaRPr lang="en-US" sz="1100"/>
          </a:p>
        </p:txBody>
      </p:sp>
      <p:sp>
        <p:nvSpPr>
          <p:cNvPr id="1832478879" name="card-232"/>
          <p:cNvSpPr/>
          <p:nvPr/>
        </p:nvSpPr>
        <p:spPr bwMode="auto">
          <a:xfrm>
            <a:off x="7292111" y="1874520"/>
            <a:ext cx="2103120" cy="960120"/>
          </a:xfrm>
          <a:prstGeom prst="roundRect">
            <a:avLst>
              <a:gd name="adj" fmla="val 11429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87526943" name="text-233"/>
          <p:cNvSpPr txBox="1"/>
          <p:nvPr/>
        </p:nvSpPr>
        <p:spPr bwMode="auto">
          <a:xfrm>
            <a:off x="7429271" y="1984248"/>
            <a:ext cx="18288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chemeClr val="accent1"/>
                </a:solidFill>
              </a:rPr>
              <a:t>facteur 0,5</a:t>
            </a:r>
            <a:endParaRPr lang="en-US" sz="2200"/>
          </a:p>
        </p:txBody>
      </p:sp>
      <p:sp>
        <p:nvSpPr>
          <p:cNvPr id="264816141" name="text-234"/>
          <p:cNvSpPr txBox="1"/>
          <p:nvPr/>
        </p:nvSpPr>
        <p:spPr bwMode="auto">
          <a:xfrm>
            <a:off x="7429271" y="2469793"/>
            <a:ext cx="18288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REDUCE LR</a:t>
            </a:r>
            <a:endParaRPr lang="en-US" sz="1100"/>
          </a:p>
        </p:txBody>
      </p:sp>
      <p:sp>
        <p:nvSpPr>
          <p:cNvPr id="1347723127" name="card-235"/>
          <p:cNvSpPr/>
          <p:nvPr/>
        </p:nvSpPr>
        <p:spPr bwMode="auto">
          <a:xfrm>
            <a:off x="9539935" y="1874520"/>
            <a:ext cx="2103120" cy="960120"/>
          </a:xfrm>
          <a:prstGeom prst="roundRect">
            <a:avLst>
              <a:gd name="adj" fmla="val 11429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31348891" name="text-236"/>
          <p:cNvSpPr txBox="1"/>
          <p:nvPr/>
        </p:nvSpPr>
        <p:spPr bwMode="auto">
          <a:xfrm>
            <a:off x="9677095" y="1984248"/>
            <a:ext cx="18288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chemeClr val="accent1"/>
                </a:solidFill>
              </a:rPr>
              <a:t>val_loss</a:t>
            </a:r>
            <a:endParaRPr lang="en-US" sz="2200"/>
          </a:p>
        </p:txBody>
      </p:sp>
      <p:sp>
        <p:nvSpPr>
          <p:cNvPr id="209344055" name="text-237"/>
          <p:cNvSpPr txBox="1"/>
          <p:nvPr/>
        </p:nvSpPr>
        <p:spPr bwMode="auto">
          <a:xfrm>
            <a:off x="9677095" y="2469793"/>
            <a:ext cx="18288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CHECKPOINT</a:t>
            </a:r>
            <a:endParaRPr lang="en-US" sz="1100"/>
          </a:p>
        </p:txBody>
      </p:sp>
      <p:sp>
        <p:nvSpPr>
          <p:cNvPr id="126849305" name="whitecard-238"/>
          <p:cNvSpPr/>
          <p:nvPr/>
        </p:nvSpPr>
        <p:spPr bwMode="auto">
          <a:xfrm>
            <a:off x="548640" y="2971800"/>
            <a:ext cx="543290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75599836" name="img-239" descr="Courbe de loss du CNN de référence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234774" y="3081528"/>
            <a:ext cx="4060639" cy="2295144"/>
          </a:xfrm>
          <a:prstGeom prst="rect">
            <a:avLst/>
          </a:prstGeom>
        </p:spPr>
      </p:pic>
      <p:sp>
        <p:nvSpPr>
          <p:cNvPr id="1636441130" name="whitecard-240"/>
          <p:cNvSpPr/>
          <p:nvPr/>
        </p:nvSpPr>
        <p:spPr bwMode="auto">
          <a:xfrm>
            <a:off x="6210148" y="2971800"/>
            <a:ext cx="543290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201751720" name="img-241" descr="Courbe d’accuracy du CNN de référence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896282" y="3081528"/>
            <a:ext cx="4060639" cy="2295144"/>
          </a:xfrm>
          <a:prstGeom prst="rect">
            <a:avLst/>
          </a:prstGeom>
        </p:spPr>
      </p:pic>
      <p:sp>
        <p:nvSpPr>
          <p:cNvPr id="938670940" name="highlight-242"/>
          <p:cNvSpPr/>
          <p:nvPr/>
        </p:nvSpPr>
        <p:spPr bwMode="auto">
          <a:xfrm>
            <a:off x="548640" y="5669280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94975327" name="text-243"/>
          <p:cNvSpPr txBox="1"/>
          <p:nvPr/>
        </p:nvSpPr>
        <p:spPr bwMode="auto">
          <a:xfrm>
            <a:off x="822960" y="566928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Lecture : </a:t>
            </a:r>
            <a:r>
              <a:rPr lang="en-US" sz="1400">
                <a:solidFill>
                  <a:schemeClr val="bg1"/>
                </a:solidFill>
              </a:rPr>
              <a:t>le train progresse alors que la validation plafonne vers ~57 %, ce qui justifie des expériences d’amélioration.</a:t>
            </a:r>
            <a:endParaRPr lang="en-US" sz="1400"/>
          </a:p>
        </p:txBody>
      </p:sp>
      <p:sp>
        <p:nvSpPr>
          <p:cNvPr id="874887644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605582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07 / VALIDATION</a:t>
            </a:r>
            <a:endParaRPr lang="en-US" sz="1200"/>
          </a:p>
        </p:txBody>
      </p:sp>
      <p:sp>
        <p:nvSpPr>
          <p:cNvPr id="143216629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Évaluation du CNN de référence</a:t>
            </a:r>
            <a:endParaRPr lang="en-US" sz="3400"/>
          </a:p>
        </p:txBody>
      </p:sp>
      <p:sp>
        <p:nvSpPr>
          <p:cNvPr id="1317311406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L’accuracy seule ne suffit pas : il faut lire la matrice de confusion et les classes difficiles.</a:t>
            </a:r>
            <a:endParaRPr lang="en-US" sz="1500"/>
          </a:p>
        </p:txBody>
      </p:sp>
      <p:sp>
        <p:nvSpPr>
          <p:cNvPr id="2014730965" name="whitecard-244"/>
          <p:cNvSpPr/>
          <p:nvPr/>
        </p:nvSpPr>
        <p:spPr bwMode="auto">
          <a:xfrm>
            <a:off x="548640" y="1920240"/>
            <a:ext cx="46177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94487024" name="img-245" descr="Matrice de confusion normalisée — validation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658368" y="2032690"/>
            <a:ext cx="4398264" cy="3981339"/>
          </a:xfrm>
          <a:prstGeom prst="rect">
            <a:avLst/>
          </a:prstGeom>
        </p:spPr>
      </p:pic>
      <p:sp>
        <p:nvSpPr>
          <p:cNvPr id="1385856208" name="card-246"/>
          <p:cNvSpPr/>
          <p:nvPr/>
        </p:nvSpPr>
        <p:spPr bwMode="auto">
          <a:xfrm>
            <a:off x="5440680" y="1920240"/>
            <a:ext cx="2986887" cy="1051560"/>
          </a:xfrm>
          <a:prstGeom prst="roundRect">
            <a:avLst>
              <a:gd name="adj" fmla="val 1043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13950697" name="text-247"/>
          <p:cNvSpPr txBox="1"/>
          <p:nvPr/>
        </p:nvSpPr>
        <p:spPr bwMode="auto">
          <a:xfrm>
            <a:off x="5577840" y="2029968"/>
            <a:ext cx="2712568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56,84 %</a:t>
            </a:r>
            <a:endParaRPr lang="en-US" sz="3000"/>
          </a:p>
        </p:txBody>
      </p:sp>
      <p:sp>
        <p:nvSpPr>
          <p:cNvPr id="1635026512" name="text-248"/>
          <p:cNvSpPr txBox="1"/>
          <p:nvPr/>
        </p:nvSpPr>
        <p:spPr bwMode="auto">
          <a:xfrm>
            <a:off x="5577840" y="2572207"/>
            <a:ext cx="27125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ACCURACY</a:t>
            </a:r>
            <a:endParaRPr lang="en-US" sz="1100"/>
          </a:p>
        </p:txBody>
      </p:sp>
      <p:sp>
        <p:nvSpPr>
          <p:cNvPr id="1800395171" name="card-249"/>
          <p:cNvSpPr/>
          <p:nvPr/>
        </p:nvSpPr>
        <p:spPr bwMode="auto">
          <a:xfrm>
            <a:off x="8656168" y="1920240"/>
            <a:ext cx="2986887" cy="1051560"/>
          </a:xfrm>
          <a:prstGeom prst="roundRect">
            <a:avLst>
              <a:gd name="adj" fmla="val 1043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39441667" name="text-250"/>
          <p:cNvSpPr txBox="1"/>
          <p:nvPr/>
        </p:nvSpPr>
        <p:spPr bwMode="auto">
          <a:xfrm>
            <a:off x="8793328" y="2029968"/>
            <a:ext cx="2712568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0,5183</a:t>
            </a:r>
            <a:endParaRPr lang="en-US" sz="3000"/>
          </a:p>
        </p:txBody>
      </p:sp>
      <p:sp>
        <p:nvSpPr>
          <p:cNvPr id="1645916572" name="text-251"/>
          <p:cNvSpPr txBox="1"/>
          <p:nvPr/>
        </p:nvSpPr>
        <p:spPr bwMode="auto">
          <a:xfrm>
            <a:off x="8793328" y="2572207"/>
            <a:ext cx="27125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MACRO-F1</a:t>
            </a:r>
            <a:endParaRPr lang="en-US" sz="1100"/>
          </a:p>
        </p:txBody>
      </p:sp>
      <p:sp>
        <p:nvSpPr>
          <p:cNvPr id="919810626" name="card-252"/>
          <p:cNvSpPr/>
          <p:nvPr/>
        </p:nvSpPr>
        <p:spPr bwMode="auto">
          <a:xfrm>
            <a:off x="5440680" y="3154680"/>
            <a:ext cx="6202375" cy="2971800"/>
          </a:xfrm>
          <a:prstGeom prst="roundRect">
            <a:avLst>
              <a:gd name="adj" fmla="val 369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79244298" name="text-253"/>
          <p:cNvSpPr txBox="1"/>
          <p:nvPr/>
        </p:nvSpPr>
        <p:spPr bwMode="auto">
          <a:xfrm>
            <a:off x="5715000" y="3264408"/>
            <a:ext cx="5653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Confusions observées</a:t>
            </a:r>
            <a:endParaRPr lang="en-US" sz="1600"/>
          </a:p>
        </p:txBody>
      </p:sp>
      <p:sp>
        <p:nvSpPr>
          <p:cNvPr id="84320465" name="text-254"/>
          <p:cNvSpPr txBox="1"/>
          <p:nvPr/>
        </p:nvSpPr>
        <p:spPr bwMode="auto">
          <a:xfrm>
            <a:off x="5715000" y="3703320"/>
            <a:ext cx="565373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bg1"/>
                </a:solidFill>
              </a:rPr>
              <a:t>Rappels les plus élevés : Happy (0,828), Surprise (0,740), Angry (0,559)</a:t>
            </a:r>
            <a:endParaRPr lang="en-US" sz="1600"/>
          </a:p>
          <a:p>
            <a:pPr marL="203200" indent="-203200">
              <a:spcAft>
                <a:spcPts val="12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bg1"/>
                </a:solidFill>
              </a:rPr>
              <a:t>Classe la plus difficile : Disgust (rappel 0,214), très sous-représentée</a:t>
            </a:r>
            <a:endParaRPr lang="en-US" sz="1600"/>
          </a:p>
          <a:p>
            <a:pPr marL="203200" indent="-203200">
              <a:spcAft>
                <a:spcPts val="12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bg1"/>
                </a:solidFill>
              </a:rPr>
              <a:t>Confusions fréquentes : Sad → Neutral (119), Sad → Angry (113), Fear → Sad (106)</a:t>
            </a:r>
            <a:endParaRPr lang="en-US" sz="1600"/>
          </a:p>
          <a:p>
            <a:pPr marL="203200" indent="-203200">
              <a:spcAft>
                <a:spcPts val="12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bg1"/>
                </a:solidFill>
              </a:rPr>
              <a:t>Les émotions proches ou peu marquées restent les plus ambiguës</a:t>
            </a:r>
            <a:endParaRPr lang="en-US" sz="1600"/>
          </a:p>
        </p:txBody>
      </p:sp>
      <p:sp>
        <p:nvSpPr>
          <p:cNvPr id="1887794774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29561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08 / EXPÉRIMENTATIONS</a:t>
            </a:r>
            <a:endParaRPr lang="en-US" sz="1200"/>
          </a:p>
        </p:txBody>
      </p:sp>
      <p:sp>
        <p:nvSpPr>
          <p:cNvPr id="370320947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Trois expériences contrôlées</a:t>
            </a:r>
            <a:endParaRPr lang="en-US" sz="3400"/>
          </a:p>
        </p:txBody>
      </p:sp>
      <p:sp>
        <p:nvSpPr>
          <p:cNvPr id="199565150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Une seule modification principale à la fois pour interpréter l’effet observé.</a:t>
            </a:r>
            <a:endParaRPr lang="en-US" sz="1500"/>
          </a:p>
        </p:txBody>
      </p:sp>
      <p:graphicFrame>
        <p:nvGraphicFramePr>
          <p:cNvPr id="954338107" name="tableau-experiences"/>
          <p:cNvGraphicFramePr>
            <a:graphicFrameLocks noGrp="1"/>
          </p:cNvGraphicFramePr>
          <p:nvPr/>
        </p:nvGraphicFramePr>
        <p:xfrm>
          <a:off x="548640" y="1920240"/>
          <a:ext cx="6903720" cy="91440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Expérience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Modification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Val acc.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Observation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CNN réf.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3 blocs Conv/Pool, dropout 0.30, Adam 1e-3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0,5684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base de comparaison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Exp. 1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Augmentation : flip + rotation 0.05 + zoom 0.08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</a:rPr>
                        <a:t>0,5818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meilleure validation (+0,013)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rgbClr val="0E3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Exp. 2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Dropout 0.50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0,5486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dégradation (−0,020)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Exp. 3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Learning rate 3e-4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0,5606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légère dégradation (−0,008)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Baseline dense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Flatten + Dense, sans convolution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0,3683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référence très inférieure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T="36576" marB="36576" anchor="ctr">
                    <a:lnL w="9525" algn="ctr">
                      <a:solidFill>
                        <a:srgbClr val="24376B"/>
                      </a:solidFill>
                    </a:lnL>
                    <a:lnR w="9525" algn="ctr">
                      <a:solidFill>
                        <a:srgbClr val="24376B"/>
                      </a:solidFill>
                    </a:lnR>
                    <a:lnT w="9525" algn="ctr">
                      <a:solidFill>
                        <a:srgbClr val="24376B"/>
                      </a:solidFill>
                    </a:lnT>
                    <a:lnB w="9525" algn="ctr">
                      <a:solidFill>
                        <a:srgbClr val="24376B"/>
                      </a:solidFill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62027828" name="whitecard-255"/>
          <p:cNvSpPr/>
          <p:nvPr/>
        </p:nvSpPr>
        <p:spPr bwMode="auto">
          <a:xfrm>
            <a:off x="7726680" y="1920240"/>
            <a:ext cx="3916375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11390014" name="img-256" descr="Comparaison des expériences — accuracy de validation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7836408" y="2191047"/>
            <a:ext cx="3696919" cy="2293026"/>
          </a:xfrm>
          <a:prstGeom prst="rect">
            <a:avLst/>
          </a:prstGeom>
        </p:spPr>
      </p:pic>
      <p:sp>
        <p:nvSpPr>
          <p:cNvPr id="644820599" name="highlight-257"/>
          <p:cNvSpPr/>
          <p:nvPr/>
        </p:nvSpPr>
        <p:spPr bwMode="auto">
          <a:xfrm>
            <a:off x="548640" y="4892039"/>
            <a:ext cx="11094415" cy="1234440"/>
          </a:xfrm>
          <a:prstGeom prst="roundRect">
            <a:avLst>
              <a:gd name="adj" fmla="val 8889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798896464" name="iconbg-258"/>
          <p:cNvSpPr/>
          <p:nvPr/>
        </p:nvSpPr>
        <p:spPr bwMode="auto">
          <a:xfrm>
            <a:off x="822960" y="5221224"/>
            <a:ext cx="566928" cy="566928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16402247" name="icon-259" descr="icône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76031" y="5374295"/>
            <a:ext cx="260787" cy="260787"/>
          </a:xfrm>
          <a:prstGeom prst="rect">
            <a:avLst/>
          </a:prstGeom>
        </p:spPr>
      </p:pic>
      <p:sp>
        <p:nvSpPr>
          <p:cNvPr id="1933190199" name="text-260"/>
          <p:cNvSpPr txBox="1"/>
          <p:nvPr/>
        </p:nvSpPr>
        <p:spPr bwMode="auto">
          <a:xfrm>
            <a:off x="1645920" y="4983480"/>
            <a:ext cx="9722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accent1"/>
                </a:solidFill>
              </a:rPr>
              <a:t>Modèle retenu : Exp. 1 — Data Augmentation</a:t>
            </a:r>
            <a:endParaRPr lang="en-US" sz="1800"/>
          </a:p>
        </p:txBody>
      </p:sp>
      <p:sp>
        <p:nvSpPr>
          <p:cNvPr id="606297027" name="text-261"/>
          <p:cNvSpPr txBox="1"/>
          <p:nvPr/>
        </p:nvSpPr>
        <p:spPr bwMode="auto">
          <a:xfrm>
            <a:off x="1645920" y="5394960"/>
            <a:ext cx="9722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Critère : meilleure accuracy de validation (0,5818), sans consulter le jeu de test. Meilleur compromis généralisation / simplicité.</a:t>
            </a:r>
            <a:endParaRPr lang="en-US" sz="1400"/>
          </a:p>
        </p:txBody>
      </p:sp>
      <p:sp>
        <p:nvSpPr>
          <p:cNvPr id="210643435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825978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09 / TEST FINAL</a:t>
            </a:r>
            <a:endParaRPr lang="en-US" sz="1200"/>
          </a:p>
        </p:txBody>
      </p:sp>
      <p:sp>
        <p:nvSpPr>
          <p:cNvPr id="50837940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Performances du modèle retenu</a:t>
            </a:r>
            <a:endParaRPr lang="en-US" sz="3400"/>
          </a:p>
        </p:txBody>
      </p:sp>
      <p:sp>
        <p:nvSpPr>
          <p:cNvPr id="2112613603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Le jeu de test n’est utilisé qu’après le choix du meilleur modèle sur validation.</a:t>
            </a:r>
            <a:endParaRPr lang="en-US" sz="1500"/>
          </a:p>
        </p:txBody>
      </p:sp>
      <p:sp>
        <p:nvSpPr>
          <p:cNvPr id="76761204" name="whitecard-262"/>
          <p:cNvSpPr/>
          <p:nvPr/>
        </p:nvSpPr>
        <p:spPr bwMode="auto">
          <a:xfrm>
            <a:off x="548640" y="1920240"/>
            <a:ext cx="46177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1512192" name="img-263" descr="Matrice de confusion normalisée — test final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658368" y="2032690"/>
            <a:ext cx="4398264" cy="3981339"/>
          </a:xfrm>
          <a:prstGeom prst="rect">
            <a:avLst/>
          </a:prstGeom>
        </p:spPr>
      </p:pic>
      <p:sp>
        <p:nvSpPr>
          <p:cNvPr id="1853604631" name="card-264"/>
          <p:cNvSpPr/>
          <p:nvPr/>
        </p:nvSpPr>
        <p:spPr bwMode="auto">
          <a:xfrm>
            <a:off x="5440680" y="1920240"/>
            <a:ext cx="1915058" cy="1051560"/>
          </a:xfrm>
          <a:prstGeom prst="roundRect">
            <a:avLst>
              <a:gd name="adj" fmla="val 1043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87038508" name="text-265"/>
          <p:cNvSpPr txBox="1"/>
          <p:nvPr/>
        </p:nvSpPr>
        <p:spPr bwMode="auto">
          <a:xfrm>
            <a:off x="5577840" y="2029968"/>
            <a:ext cx="1640738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chemeClr val="accent1"/>
                </a:solidFill>
              </a:rPr>
              <a:t>59,57 %</a:t>
            </a:r>
            <a:endParaRPr lang="en-US" sz="2600"/>
          </a:p>
        </p:txBody>
      </p:sp>
      <p:sp>
        <p:nvSpPr>
          <p:cNvPr id="1393544146" name="text-266"/>
          <p:cNvSpPr txBox="1"/>
          <p:nvPr/>
        </p:nvSpPr>
        <p:spPr bwMode="auto">
          <a:xfrm>
            <a:off x="5577840" y="2572207"/>
            <a:ext cx="164073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ACCURACY</a:t>
            </a:r>
            <a:endParaRPr lang="en-US" sz="1100"/>
          </a:p>
        </p:txBody>
      </p:sp>
      <p:sp>
        <p:nvSpPr>
          <p:cNvPr id="21382635" name="card-267"/>
          <p:cNvSpPr/>
          <p:nvPr/>
        </p:nvSpPr>
        <p:spPr bwMode="auto">
          <a:xfrm>
            <a:off x="7584338" y="1920240"/>
            <a:ext cx="1915058" cy="1051560"/>
          </a:xfrm>
          <a:prstGeom prst="roundRect">
            <a:avLst>
              <a:gd name="adj" fmla="val 1043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7230267" name="text-268"/>
          <p:cNvSpPr txBox="1"/>
          <p:nvPr/>
        </p:nvSpPr>
        <p:spPr bwMode="auto">
          <a:xfrm>
            <a:off x="7721498" y="2029968"/>
            <a:ext cx="1640738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chemeClr val="accent1"/>
                </a:solidFill>
              </a:rPr>
              <a:t>0,5406</a:t>
            </a:r>
            <a:endParaRPr lang="en-US" sz="2600"/>
          </a:p>
        </p:txBody>
      </p:sp>
      <p:sp>
        <p:nvSpPr>
          <p:cNvPr id="681684441" name="text-269"/>
          <p:cNvSpPr txBox="1"/>
          <p:nvPr/>
        </p:nvSpPr>
        <p:spPr bwMode="auto">
          <a:xfrm>
            <a:off x="7721498" y="2572207"/>
            <a:ext cx="164073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MACRO-F1</a:t>
            </a:r>
            <a:endParaRPr lang="en-US" sz="1100"/>
          </a:p>
        </p:txBody>
      </p:sp>
      <p:sp>
        <p:nvSpPr>
          <p:cNvPr id="786992316" name="card-270"/>
          <p:cNvSpPr/>
          <p:nvPr/>
        </p:nvSpPr>
        <p:spPr bwMode="auto">
          <a:xfrm>
            <a:off x="9727997" y="1920240"/>
            <a:ext cx="1915058" cy="1051560"/>
          </a:xfrm>
          <a:prstGeom prst="roundRect">
            <a:avLst>
              <a:gd name="adj" fmla="val 1043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2535154" name="text-271"/>
          <p:cNvSpPr txBox="1"/>
          <p:nvPr/>
        </p:nvSpPr>
        <p:spPr bwMode="auto">
          <a:xfrm>
            <a:off x="9865157" y="2029968"/>
            <a:ext cx="1640738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chemeClr val="accent1"/>
                </a:solidFill>
              </a:rPr>
              <a:t>0,5901</a:t>
            </a:r>
            <a:endParaRPr lang="en-US" sz="2600"/>
          </a:p>
        </p:txBody>
      </p:sp>
      <p:sp>
        <p:nvSpPr>
          <p:cNvPr id="1318285824" name="text-272"/>
          <p:cNvSpPr txBox="1"/>
          <p:nvPr/>
        </p:nvSpPr>
        <p:spPr bwMode="auto">
          <a:xfrm>
            <a:off x="9865157" y="2572207"/>
            <a:ext cx="164073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WEIGHTED F1</a:t>
            </a:r>
            <a:endParaRPr lang="en-US" sz="1100"/>
          </a:p>
        </p:txBody>
      </p:sp>
      <p:sp>
        <p:nvSpPr>
          <p:cNvPr id="1820945124" name="card-273"/>
          <p:cNvSpPr/>
          <p:nvPr/>
        </p:nvSpPr>
        <p:spPr bwMode="auto">
          <a:xfrm>
            <a:off x="5440680" y="3154680"/>
            <a:ext cx="6202375" cy="2971800"/>
          </a:xfrm>
          <a:prstGeom prst="roundRect">
            <a:avLst>
              <a:gd name="adj" fmla="val 369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19923481" name="text-274"/>
          <p:cNvSpPr txBox="1"/>
          <p:nvPr/>
        </p:nvSpPr>
        <p:spPr bwMode="auto">
          <a:xfrm>
            <a:off x="5715000" y="3264408"/>
            <a:ext cx="5653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Lecture de la matrice (PrivateTest)</a:t>
            </a:r>
            <a:endParaRPr lang="en-US" sz="1600"/>
          </a:p>
        </p:txBody>
      </p:sp>
      <p:sp>
        <p:nvSpPr>
          <p:cNvPr id="1809235890" name="text-275"/>
          <p:cNvSpPr txBox="1"/>
          <p:nvPr/>
        </p:nvSpPr>
        <p:spPr bwMode="auto">
          <a:xfrm>
            <a:off x="5715000" y="3703320"/>
            <a:ext cx="565373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bg1"/>
                </a:solidFill>
              </a:rPr>
              <a:t>Meilleurs rappels : Happy 0,8248 ; Neutral 0,6677 ; Surprise 0,6635</a:t>
            </a:r>
            <a:endParaRPr lang="en-US" sz="1600"/>
          </a:p>
          <a:p>
            <a:pPr marL="203200" indent="-203200">
              <a:spcAft>
                <a:spcPts val="12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bg1"/>
                </a:solidFill>
              </a:rPr>
              <a:t>Rappel le plus faible : Disgust 0,2182</a:t>
            </a:r>
            <a:endParaRPr lang="en-US" sz="1600"/>
          </a:p>
          <a:p>
            <a:pPr marL="203200" indent="-203200">
              <a:spcAft>
                <a:spcPts val="12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bg1"/>
                </a:solidFill>
              </a:rPr>
              <a:t>Confusions dominantes : Sad → Neutral (139), Fear → Sad (97), Fear → Angry (95)</a:t>
            </a:r>
            <a:endParaRPr lang="en-US" sz="1600"/>
          </a:p>
          <a:p>
            <a:pPr marL="203200" indent="-203200">
              <a:spcAft>
                <a:spcPts val="12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bg1"/>
                </a:solidFill>
              </a:rPr>
              <a:t>Comparaison valide sur validation : 56,84 % → 58,18 % (+1,34 point)</a:t>
            </a:r>
            <a:endParaRPr lang="en-US" sz="1600"/>
          </a:p>
        </p:txBody>
      </p:sp>
      <p:sp>
        <p:nvSpPr>
          <p:cNvPr id="19652955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444264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10 / ANALYSE DES ERREURS</a:t>
            </a:r>
            <a:endParaRPr lang="en-US" sz="1200"/>
          </a:p>
        </p:txBody>
      </p:sp>
      <p:sp>
        <p:nvSpPr>
          <p:cNvPr id="1484899321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Exemples de mauvaises prédictions</a:t>
            </a:r>
            <a:endParaRPr lang="en-US" sz="3400"/>
          </a:p>
        </p:txBody>
      </p:sp>
      <p:sp>
        <p:nvSpPr>
          <p:cNvPr id="2060991307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Les erreurs reflètent souvent des expressions ambiguës, peu marquées ou visuellement proches.</a:t>
            </a:r>
            <a:endParaRPr lang="en-US" sz="1500"/>
          </a:p>
        </p:txBody>
      </p:sp>
      <p:sp>
        <p:nvSpPr>
          <p:cNvPr id="1082024762" name="whitecard-276"/>
          <p:cNvSpPr/>
          <p:nvPr/>
        </p:nvSpPr>
        <p:spPr bwMode="auto">
          <a:xfrm>
            <a:off x="548640" y="1920240"/>
            <a:ext cx="429768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894793683" name="img-277" descr="Exemples de mauvaises prédictions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770056" y="2029968"/>
            <a:ext cx="3854847" cy="3986784"/>
          </a:xfrm>
          <a:prstGeom prst="rect">
            <a:avLst/>
          </a:prstGeom>
        </p:spPr>
      </p:pic>
      <p:sp>
        <p:nvSpPr>
          <p:cNvPr id="320882466" name="highlight-278"/>
          <p:cNvSpPr/>
          <p:nvPr/>
        </p:nvSpPr>
        <p:spPr bwMode="auto">
          <a:xfrm>
            <a:off x="5120640" y="1920240"/>
            <a:ext cx="6522415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83296078" name="text-279"/>
          <p:cNvSpPr txBox="1"/>
          <p:nvPr/>
        </p:nvSpPr>
        <p:spPr bwMode="auto">
          <a:xfrm>
            <a:off x="5394960" y="1920240"/>
            <a:ext cx="5973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bg1"/>
                </a:solidFill>
              </a:rPr>
              <a:t>Fear, Sad, Angry et Neutral sont souvent confondues entre elles.</a:t>
            </a:r>
            <a:endParaRPr lang="en-US" sz="1700"/>
          </a:p>
        </p:txBody>
      </p:sp>
      <p:sp>
        <p:nvSpPr>
          <p:cNvPr id="1847114403" name="card-280"/>
          <p:cNvSpPr/>
          <p:nvPr/>
        </p:nvSpPr>
        <p:spPr bwMode="auto">
          <a:xfrm>
            <a:off x="5120640" y="3063240"/>
            <a:ext cx="3146908" cy="1417320"/>
          </a:xfrm>
          <a:prstGeom prst="roundRect">
            <a:avLst>
              <a:gd name="adj" fmla="val 774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01832110" name="iconbg-281"/>
          <p:cNvSpPr/>
          <p:nvPr/>
        </p:nvSpPr>
        <p:spPr bwMode="auto">
          <a:xfrm>
            <a:off x="5349240" y="3291840"/>
            <a:ext cx="548640" cy="54864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80204278" name="icon-282" descr="icône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97373" y="3439973"/>
            <a:ext cx="252374" cy="252374"/>
          </a:xfrm>
          <a:prstGeom prst="rect">
            <a:avLst/>
          </a:prstGeom>
        </p:spPr>
      </p:pic>
      <p:sp>
        <p:nvSpPr>
          <p:cNvPr id="997178702" name="text-283"/>
          <p:cNvSpPr txBox="1"/>
          <p:nvPr/>
        </p:nvSpPr>
        <p:spPr bwMode="auto">
          <a:xfrm>
            <a:off x="5349240" y="3931920"/>
            <a:ext cx="26897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Probabilités modestes (≈ 0,3–0,6), signe d’incertitude</a:t>
            </a:r>
            <a:endParaRPr lang="en-US" sz="1400"/>
          </a:p>
        </p:txBody>
      </p:sp>
      <p:sp>
        <p:nvSpPr>
          <p:cNvPr id="1160337307" name="card-284"/>
          <p:cNvSpPr/>
          <p:nvPr/>
        </p:nvSpPr>
        <p:spPr bwMode="auto">
          <a:xfrm>
            <a:off x="8496148" y="3063240"/>
            <a:ext cx="3146908" cy="1417320"/>
          </a:xfrm>
          <a:prstGeom prst="roundRect">
            <a:avLst>
              <a:gd name="adj" fmla="val 774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2161323" name="iconbg-285"/>
          <p:cNvSpPr/>
          <p:nvPr/>
        </p:nvSpPr>
        <p:spPr bwMode="auto">
          <a:xfrm>
            <a:off x="8724748" y="3291840"/>
            <a:ext cx="548640" cy="54864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20174288" name="icon-286" descr="icône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872880" y="3439973"/>
            <a:ext cx="252374" cy="252374"/>
          </a:xfrm>
          <a:prstGeom prst="rect">
            <a:avLst/>
          </a:prstGeom>
        </p:spPr>
      </p:pic>
      <p:sp>
        <p:nvSpPr>
          <p:cNvPr id="1064457073" name="text-287"/>
          <p:cNvSpPr txBox="1"/>
          <p:nvPr/>
        </p:nvSpPr>
        <p:spPr bwMode="auto">
          <a:xfrm>
            <a:off x="8724748" y="3931920"/>
            <a:ext cx="26897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La résolution 48×48 limite l’accès aux micro-expressions</a:t>
            </a:r>
            <a:endParaRPr lang="en-US" sz="1400"/>
          </a:p>
        </p:txBody>
      </p:sp>
      <p:sp>
        <p:nvSpPr>
          <p:cNvPr id="1462422699" name="card-288"/>
          <p:cNvSpPr/>
          <p:nvPr/>
        </p:nvSpPr>
        <p:spPr bwMode="auto">
          <a:xfrm>
            <a:off x="5120640" y="4663440"/>
            <a:ext cx="3146908" cy="1417320"/>
          </a:xfrm>
          <a:prstGeom prst="roundRect">
            <a:avLst>
              <a:gd name="adj" fmla="val 774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80247253" name="iconbg-289"/>
          <p:cNvSpPr/>
          <p:nvPr/>
        </p:nvSpPr>
        <p:spPr bwMode="auto">
          <a:xfrm>
            <a:off x="5349240" y="4892039"/>
            <a:ext cx="548640" cy="54864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51128806" name="icon-290" descr="icône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497373" y="5040173"/>
            <a:ext cx="252374" cy="252374"/>
          </a:xfrm>
          <a:prstGeom prst="rect">
            <a:avLst/>
          </a:prstGeom>
        </p:spPr>
      </p:pic>
      <p:sp>
        <p:nvSpPr>
          <p:cNvPr id="1285307006" name="text-291"/>
          <p:cNvSpPr txBox="1"/>
          <p:nvPr/>
        </p:nvSpPr>
        <p:spPr bwMode="auto">
          <a:xfrm>
            <a:off x="5349240" y="5532120"/>
            <a:ext cx="26897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Certaines annotations du dataset sont discutables ou bruitées</a:t>
            </a:r>
            <a:endParaRPr lang="en-US" sz="1400"/>
          </a:p>
        </p:txBody>
      </p:sp>
      <p:sp>
        <p:nvSpPr>
          <p:cNvPr id="1025371825" name="card-292"/>
          <p:cNvSpPr/>
          <p:nvPr/>
        </p:nvSpPr>
        <p:spPr bwMode="auto">
          <a:xfrm>
            <a:off x="8496148" y="4663440"/>
            <a:ext cx="3146908" cy="1417320"/>
          </a:xfrm>
          <a:prstGeom prst="roundRect">
            <a:avLst>
              <a:gd name="adj" fmla="val 7742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47137124" name="iconbg-293"/>
          <p:cNvSpPr/>
          <p:nvPr/>
        </p:nvSpPr>
        <p:spPr bwMode="auto">
          <a:xfrm>
            <a:off x="8724748" y="4892039"/>
            <a:ext cx="548640" cy="54864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96900432" name="icon-294" descr="icône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8872880" y="5040173"/>
            <a:ext cx="252374" cy="252374"/>
          </a:xfrm>
          <a:prstGeom prst="rect">
            <a:avLst/>
          </a:prstGeom>
        </p:spPr>
      </p:pic>
      <p:sp>
        <p:nvSpPr>
          <p:cNvPr id="1575747493" name="text-295"/>
          <p:cNvSpPr txBox="1"/>
          <p:nvPr/>
        </p:nvSpPr>
        <p:spPr bwMode="auto">
          <a:xfrm>
            <a:off x="8724748" y="5532120"/>
            <a:ext cx="26897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Le déséquilibre de classe pénalise surtout Disgust</a:t>
            </a:r>
            <a:endParaRPr lang="en-US" sz="1400"/>
          </a:p>
        </p:txBody>
      </p:sp>
      <p:sp>
        <p:nvSpPr>
          <p:cNvPr id="369446234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043448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10 / TEST — EXEMPLES</a:t>
            </a:r>
            <a:endParaRPr lang="en-US" sz="1200"/>
          </a:p>
        </p:txBody>
      </p:sp>
      <p:sp>
        <p:nvSpPr>
          <p:cNvPr id="397895049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Exemples de prédictions correctes</a:t>
            </a:r>
            <a:endParaRPr lang="en-US" sz="3400"/>
          </a:p>
        </p:txBody>
      </p:sp>
      <p:sp>
        <p:nvSpPr>
          <p:cNvPr id="1267790626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Quatre prédictions issues du jeu de test : image, vraie classe, classe prédite et score Softmax.</a:t>
            </a:r>
            <a:endParaRPr lang="en-US" sz="1500"/>
          </a:p>
        </p:txBody>
      </p:sp>
      <p:sp>
        <p:nvSpPr>
          <p:cNvPr id="741809195" name="card-296"/>
          <p:cNvSpPr/>
          <p:nvPr/>
        </p:nvSpPr>
        <p:spPr bwMode="auto">
          <a:xfrm>
            <a:off x="548640" y="1920240"/>
            <a:ext cx="2602154" cy="3520440"/>
          </a:xfrm>
          <a:prstGeom prst="roundRect">
            <a:avLst>
              <a:gd name="adj" fmla="val 4217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737059953" name="img-297" descr="Visage du jeu de test classé Joie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912457" y="2103120"/>
            <a:ext cx="1874520" cy="1848394"/>
          </a:xfrm>
          <a:prstGeom prst="rect">
            <a:avLst/>
          </a:prstGeom>
        </p:spPr>
      </p:pic>
      <p:sp>
        <p:nvSpPr>
          <p:cNvPr id="561994394" name="text-298"/>
          <p:cNvSpPr txBox="1"/>
          <p:nvPr/>
        </p:nvSpPr>
        <p:spPr bwMode="auto">
          <a:xfrm>
            <a:off x="640080" y="4088674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Vrai : Joie</a:t>
            </a:r>
            <a:endParaRPr lang="en-US" sz="1300"/>
          </a:p>
        </p:txBody>
      </p:sp>
      <p:sp>
        <p:nvSpPr>
          <p:cNvPr id="1179023487" name="text-299"/>
          <p:cNvSpPr txBox="1"/>
          <p:nvPr/>
        </p:nvSpPr>
        <p:spPr bwMode="auto">
          <a:xfrm>
            <a:off x="640080" y="4381282"/>
            <a:ext cx="2419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Prédit : Joie</a:t>
            </a:r>
            <a:endParaRPr lang="en-US" sz="1500"/>
          </a:p>
        </p:txBody>
      </p:sp>
      <p:sp>
        <p:nvSpPr>
          <p:cNvPr id="1476087197" name="text-300"/>
          <p:cNvSpPr txBox="1"/>
          <p:nvPr/>
        </p:nvSpPr>
        <p:spPr bwMode="auto">
          <a:xfrm>
            <a:off x="640080" y="4728754"/>
            <a:ext cx="2419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400" b="1">
                <a:solidFill>
                  <a:schemeClr val="accent5"/>
                </a:solidFill>
              </a:rPr>
              <a:t>P = 0,99</a:t>
            </a:r>
            <a:endParaRPr lang="en-US" sz="2400"/>
          </a:p>
        </p:txBody>
      </p:sp>
      <p:sp>
        <p:nvSpPr>
          <p:cNvPr id="1990984248" name="card-301"/>
          <p:cNvSpPr/>
          <p:nvPr/>
        </p:nvSpPr>
        <p:spPr bwMode="auto">
          <a:xfrm>
            <a:off x="3379394" y="1920240"/>
            <a:ext cx="2602154" cy="3520440"/>
          </a:xfrm>
          <a:prstGeom prst="roundRect">
            <a:avLst>
              <a:gd name="adj" fmla="val 4217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918589879" name="img-302" descr="Visage du jeu de test classé Surprise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43211" y="2103120"/>
            <a:ext cx="1874520" cy="1848394"/>
          </a:xfrm>
          <a:prstGeom prst="rect">
            <a:avLst/>
          </a:prstGeom>
        </p:spPr>
      </p:pic>
      <p:sp>
        <p:nvSpPr>
          <p:cNvPr id="1701568721" name="text-303"/>
          <p:cNvSpPr txBox="1"/>
          <p:nvPr/>
        </p:nvSpPr>
        <p:spPr bwMode="auto">
          <a:xfrm>
            <a:off x="3470834" y="4088674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Vrai : Surprise</a:t>
            </a:r>
            <a:endParaRPr lang="en-US" sz="1300"/>
          </a:p>
        </p:txBody>
      </p:sp>
      <p:sp>
        <p:nvSpPr>
          <p:cNvPr id="434546222" name="text-304"/>
          <p:cNvSpPr txBox="1"/>
          <p:nvPr/>
        </p:nvSpPr>
        <p:spPr bwMode="auto">
          <a:xfrm>
            <a:off x="3470834" y="4381282"/>
            <a:ext cx="2419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Prédit : Surprise</a:t>
            </a:r>
            <a:endParaRPr lang="en-US" sz="1500"/>
          </a:p>
        </p:txBody>
      </p:sp>
      <p:sp>
        <p:nvSpPr>
          <p:cNvPr id="661693457" name="text-305"/>
          <p:cNvSpPr txBox="1"/>
          <p:nvPr/>
        </p:nvSpPr>
        <p:spPr bwMode="auto">
          <a:xfrm>
            <a:off x="3470834" y="4728754"/>
            <a:ext cx="2419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400" b="1">
                <a:solidFill>
                  <a:schemeClr val="accent5"/>
                </a:solidFill>
              </a:rPr>
              <a:t>P = 0,82</a:t>
            </a:r>
            <a:endParaRPr lang="en-US" sz="2400"/>
          </a:p>
        </p:txBody>
      </p:sp>
      <p:sp>
        <p:nvSpPr>
          <p:cNvPr id="1456178909" name="card-306"/>
          <p:cNvSpPr/>
          <p:nvPr/>
        </p:nvSpPr>
        <p:spPr bwMode="auto">
          <a:xfrm>
            <a:off x="6210148" y="1920240"/>
            <a:ext cx="2602154" cy="3520440"/>
          </a:xfrm>
          <a:prstGeom prst="roundRect">
            <a:avLst>
              <a:gd name="adj" fmla="val 4217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711319854" name="img-307" descr="Visage du jeu de test classé Neutre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573964" y="2103120"/>
            <a:ext cx="1874520" cy="1848394"/>
          </a:xfrm>
          <a:prstGeom prst="rect">
            <a:avLst/>
          </a:prstGeom>
        </p:spPr>
      </p:pic>
      <p:sp>
        <p:nvSpPr>
          <p:cNvPr id="944809412" name="text-308"/>
          <p:cNvSpPr txBox="1"/>
          <p:nvPr/>
        </p:nvSpPr>
        <p:spPr bwMode="auto">
          <a:xfrm>
            <a:off x="6301588" y="4088674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Vrai : Neutre</a:t>
            </a:r>
            <a:endParaRPr lang="en-US" sz="1300"/>
          </a:p>
        </p:txBody>
      </p:sp>
      <p:sp>
        <p:nvSpPr>
          <p:cNvPr id="1371217341" name="text-309"/>
          <p:cNvSpPr txBox="1"/>
          <p:nvPr/>
        </p:nvSpPr>
        <p:spPr bwMode="auto">
          <a:xfrm>
            <a:off x="6301588" y="4381282"/>
            <a:ext cx="2419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Prédit : Neutre</a:t>
            </a:r>
            <a:endParaRPr lang="en-US" sz="1500"/>
          </a:p>
        </p:txBody>
      </p:sp>
      <p:sp>
        <p:nvSpPr>
          <p:cNvPr id="1428204253" name="text-310"/>
          <p:cNvSpPr txBox="1"/>
          <p:nvPr/>
        </p:nvSpPr>
        <p:spPr bwMode="auto">
          <a:xfrm>
            <a:off x="6301588" y="4728754"/>
            <a:ext cx="2419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400" b="1">
                <a:solidFill>
                  <a:schemeClr val="accent5"/>
                </a:solidFill>
              </a:rPr>
              <a:t>P = 0,86</a:t>
            </a:r>
            <a:endParaRPr lang="en-US" sz="2400"/>
          </a:p>
        </p:txBody>
      </p:sp>
      <p:sp>
        <p:nvSpPr>
          <p:cNvPr id="394293561" name="card-311"/>
          <p:cNvSpPr/>
          <p:nvPr/>
        </p:nvSpPr>
        <p:spPr bwMode="auto">
          <a:xfrm>
            <a:off x="9040901" y="1920240"/>
            <a:ext cx="2602154" cy="3520440"/>
          </a:xfrm>
          <a:prstGeom prst="roundRect">
            <a:avLst>
              <a:gd name="adj" fmla="val 4217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75245352" name="img-312" descr="Visage du jeu de test classé Tristesse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404718" y="2103120"/>
            <a:ext cx="1874520" cy="1848394"/>
          </a:xfrm>
          <a:prstGeom prst="rect">
            <a:avLst/>
          </a:prstGeom>
        </p:spPr>
      </p:pic>
      <p:sp>
        <p:nvSpPr>
          <p:cNvPr id="371865057" name="text-313"/>
          <p:cNvSpPr txBox="1"/>
          <p:nvPr/>
        </p:nvSpPr>
        <p:spPr bwMode="auto">
          <a:xfrm>
            <a:off x="9132341" y="4088674"/>
            <a:ext cx="2419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Vrai : Tristesse</a:t>
            </a:r>
            <a:endParaRPr lang="en-US" sz="1300"/>
          </a:p>
        </p:txBody>
      </p:sp>
      <p:sp>
        <p:nvSpPr>
          <p:cNvPr id="2047446890" name="text-314"/>
          <p:cNvSpPr txBox="1"/>
          <p:nvPr/>
        </p:nvSpPr>
        <p:spPr bwMode="auto">
          <a:xfrm>
            <a:off x="9132341" y="4381282"/>
            <a:ext cx="2419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Prédit : Tristesse</a:t>
            </a:r>
            <a:endParaRPr lang="en-US" sz="1500"/>
          </a:p>
        </p:txBody>
      </p:sp>
      <p:sp>
        <p:nvSpPr>
          <p:cNvPr id="1917201256" name="text-315"/>
          <p:cNvSpPr txBox="1"/>
          <p:nvPr/>
        </p:nvSpPr>
        <p:spPr bwMode="auto">
          <a:xfrm>
            <a:off x="9132341" y="4728754"/>
            <a:ext cx="2419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400" b="1">
                <a:solidFill>
                  <a:schemeClr val="accent4"/>
                </a:solidFill>
              </a:rPr>
              <a:t>P = 0,37</a:t>
            </a:r>
            <a:endParaRPr lang="en-US" sz="2400"/>
          </a:p>
        </p:txBody>
      </p:sp>
      <p:sp>
        <p:nvSpPr>
          <p:cNvPr id="1628999480" name="highlight-316"/>
          <p:cNvSpPr/>
          <p:nvPr/>
        </p:nvSpPr>
        <p:spPr bwMode="auto">
          <a:xfrm>
            <a:off x="548640" y="5596128"/>
            <a:ext cx="11094415" cy="530352"/>
          </a:xfrm>
          <a:prstGeom prst="roundRect">
            <a:avLst>
              <a:gd name="adj" fmla="val 20690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38685905" name="text-317"/>
          <p:cNvSpPr txBox="1"/>
          <p:nvPr/>
        </p:nvSpPr>
        <p:spPr bwMode="auto">
          <a:xfrm>
            <a:off x="822960" y="5596128"/>
            <a:ext cx="105457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Attention : </a:t>
            </a:r>
            <a:r>
              <a:rPr lang="en-US" sz="1400">
                <a:solidFill>
                  <a:schemeClr val="bg1"/>
                </a:solidFill>
              </a:rPr>
              <a:t>un score Softmax élevé n’est pas une garantie de fiabilité ; même une prédiction correcte peut avoir une confiance faible.</a:t>
            </a:r>
            <a:endParaRPr lang="en-US" sz="1400"/>
          </a:p>
        </p:txBody>
      </p:sp>
      <p:sp>
        <p:nvSpPr>
          <p:cNvPr id="101230961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9952997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11 / ENRICHISSEMENT</a:t>
            </a:r>
            <a:endParaRPr lang="en-US" sz="1200"/>
          </a:p>
        </p:txBody>
      </p:sp>
      <p:sp>
        <p:nvSpPr>
          <p:cNvPr id="1047456127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Transfer Learning : MobileNetV2</a:t>
            </a:r>
            <a:endParaRPr lang="en-US" sz="3400"/>
          </a:p>
        </p:txBody>
      </p:sp>
      <p:sp>
        <p:nvSpPr>
          <p:cNvPr id="2027362296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Exploration d’un modèle pré-entraîné comme enrichissement supplémentaire.</a:t>
            </a:r>
            <a:endParaRPr lang="en-US" sz="1500"/>
          </a:p>
        </p:txBody>
      </p:sp>
      <p:sp>
        <p:nvSpPr>
          <p:cNvPr id="2022065963" name="card-318"/>
          <p:cNvSpPr/>
          <p:nvPr/>
        </p:nvSpPr>
        <p:spPr bwMode="auto">
          <a:xfrm>
            <a:off x="548640" y="1920240"/>
            <a:ext cx="4663440" cy="2926080"/>
          </a:xfrm>
          <a:prstGeom prst="roundRect">
            <a:avLst>
              <a:gd name="adj" fmla="val 375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12913275" name="text-319"/>
          <p:cNvSpPr txBox="1"/>
          <p:nvPr/>
        </p:nvSpPr>
        <p:spPr bwMode="auto">
          <a:xfrm>
            <a:off x="822960" y="20391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accent1"/>
                </a:solidFill>
              </a:rPr>
              <a:t>Mise en place</a:t>
            </a:r>
            <a:endParaRPr lang="en-US" sz="1600"/>
          </a:p>
        </p:txBody>
      </p:sp>
      <p:sp>
        <p:nvSpPr>
          <p:cNvPr id="146184731" name="text-320"/>
          <p:cNvSpPr txBox="1"/>
          <p:nvPr/>
        </p:nvSpPr>
        <p:spPr bwMode="auto">
          <a:xfrm>
            <a:off x="822960" y="2514600"/>
            <a:ext cx="411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  <a:defRPr/>
            </a:pPr>
            <a:r>
              <a:rPr lang="en-US" sz="1500">
                <a:solidFill>
                  <a:schemeClr val="bg1"/>
                </a:solidFill>
              </a:rPr>
              <a:t>Image 48×48×1 convertie en 96×96×3 pour MobileNetV2</a:t>
            </a:r>
            <a:endParaRPr lang="en-US" sz="1500"/>
          </a:p>
          <a:p>
            <a:pPr marL="203200" indent="-203200">
              <a:spcAft>
                <a:spcPts val="1000"/>
              </a:spcAft>
              <a:buSzPct val="100000"/>
              <a:buChar char="•"/>
              <a:defRPr/>
            </a:pPr>
            <a:r>
              <a:rPr lang="en-US" sz="1500">
                <a:solidFill>
                  <a:schemeClr val="bg1"/>
                </a:solidFill>
              </a:rPr>
              <a:t>Tête de classification ajoutée au backbone pré-entraîné</a:t>
            </a:r>
            <a:endParaRPr lang="en-US" sz="1500"/>
          </a:p>
          <a:p>
            <a:pPr marL="203200" indent="-203200">
              <a:spcAft>
                <a:spcPts val="1000"/>
              </a:spcAft>
              <a:buSzPct val="100000"/>
              <a:buChar char="•"/>
              <a:defRPr/>
            </a:pPr>
            <a:r>
              <a:rPr lang="en-US" sz="1500">
                <a:solidFill>
                  <a:schemeClr val="bg1"/>
                </a:solidFill>
              </a:rPr>
              <a:t>Phase 1 : backbone gelé</a:t>
            </a:r>
            <a:endParaRPr lang="en-US" sz="1500"/>
          </a:p>
          <a:p>
            <a:pPr marL="203200" indent="-203200">
              <a:spcAft>
                <a:spcPts val="1000"/>
              </a:spcAft>
              <a:buSzPct val="100000"/>
              <a:buChar char="•"/>
              <a:defRPr/>
            </a:pPr>
            <a:r>
              <a:rPr lang="en-US" sz="1500">
                <a:solidFill>
                  <a:schemeClr val="bg1"/>
                </a:solidFill>
              </a:rPr>
              <a:t>Phase 2 : fine-tuning contrôlé des 20 dernières couches</a:t>
            </a:r>
            <a:endParaRPr lang="en-US" sz="1500"/>
          </a:p>
        </p:txBody>
      </p:sp>
      <p:sp>
        <p:nvSpPr>
          <p:cNvPr id="1688021238" name="highlight-321"/>
          <p:cNvSpPr/>
          <p:nvPr/>
        </p:nvSpPr>
        <p:spPr bwMode="auto">
          <a:xfrm>
            <a:off x="548640" y="5029200"/>
            <a:ext cx="4663440" cy="109728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79406205" name="text-322"/>
          <p:cNvSpPr txBox="1"/>
          <p:nvPr/>
        </p:nvSpPr>
        <p:spPr bwMode="auto">
          <a:xfrm>
            <a:off x="822960" y="50292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bg1"/>
                </a:solidFill>
              </a:rPr>
              <a:t>Inférieur au CNN final retenu (58,18 % en validation).</a:t>
            </a:r>
            <a:endParaRPr lang="en-US" sz="1500"/>
          </a:p>
        </p:txBody>
      </p:sp>
      <p:sp>
        <p:nvSpPr>
          <p:cNvPr id="2126143354" name="card-323"/>
          <p:cNvSpPr/>
          <p:nvPr/>
        </p:nvSpPr>
        <p:spPr bwMode="auto">
          <a:xfrm>
            <a:off x="5486400" y="1920240"/>
            <a:ext cx="6156655" cy="2011680"/>
          </a:xfrm>
          <a:prstGeom prst="roundRect">
            <a:avLst>
              <a:gd name="adj" fmla="val 545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38792915" name="text-324"/>
          <p:cNvSpPr txBox="1"/>
          <p:nvPr/>
        </p:nvSpPr>
        <p:spPr bwMode="auto">
          <a:xfrm>
            <a:off x="5715000" y="2240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chemeClr val="accent1"/>
                </a:solidFill>
              </a:rPr>
              <a:t>43,49 %</a:t>
            </a:r>
            <a:endParaRPr lang="en-US" sz="3400"/>
          </a:p>
        </p:txBody>
      </p:sp>
      <p:sp>
        <p:nvSpPr>
          <p:cNvPr id="1763875880" name="text-325"/>
          <p:cNvSpPr txBox="1"/>
          <p:nvPr/>
        </p:nvSpPr>
        <p:spPr bwMode="auto">
          <a:xfrm>
            <a:off x="5715000" y="3017519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 spc="200">
                <a:solidFill>
                  <a:schemeClr val="bg2"/>
                </a:solidFill>
              </a:rPr>
              <a:t>BACKBONE GELÉ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 spc="200">
                <a:solidFill>
                  <a:schemeClr val="bg2"/>
                </a:solidFill>
              </a:rPr>
              <a:t>val. accuracy</a:t>
            </a:r>
            <a:endParaRPr lang="en-US" sz="1200"/>
          </a:p>
        </p:txBody>
      </p:sp>
      <p:sp>
        <p:nvSpPr>
          <p:cNvPr id="639823074" name="whitecard-326"/>
          <p:cNvSpPr/>
          <p:nvPr/>
        </p:nvSpPr>
        <p:spPr bwMode="auto">
          <a:xfrm>
            <a:off x="7909560" y="2057400"/>
            <a:ext cx="3596335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134141659" name="img-327" descr="Accuracy tête de classification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8267899" y="2112264"/>
            <a:ext cx="2879657" cy="1627632"/>
          </a:xfrm>
          <a:prstGeom prst="rect">
            <a:avLst/>
          </a:prstGeom>
        </p:spPr>
      </p:pic>
      <p:sp>
        <p:nvSpPr>
          <p:cNvPr id="999561047" name="card-328"/>
          <p:cNvSpPr/>
          <p:nvPr/>
        </p:nvSpPr>
        <p:spPr bwMode="auto">
          <a:xfrm>
            <a:off x="5486400" y="4114800"/>
            <a:ext cx="6156655" cy="2011680"/>
          </a:xfrm>
          <a:prstGeom prst="roundRect">
            <a:avLst>
              <a:gd name="adj" fmla="val 545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39365371" name="text-329"/>
          <p:cNvSpPr txBox="1"/>
          <p:nvPr/>
        </p:nvSpPr>
        <p:spPr bwMode="auto">
          <a:xfrm>
            <a:off x="5715000" y="44348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chemeClr val="accent5"/>
                </a:solidFill>
              </a:rPr>
              <a:t>48,48 %</a:t>
            </a:r>
            <a:endParaRPr lang="en-US" sz="3400"/>
          </a:p>
        </p:txBody>
      </p:sp>
      <p:sp>
        <p:nvSpPr>
          <p:cNvPr id="1448067892" name="text-330"/>
          <p:cNvSpPr txBox="1"/>
          <p:nvPr/>
        </p:nvSpPr>
        <p:spPr bwMode="auto">
          <a:xfrm>
            <a:off x="5715000" y="5212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 spc="200">
                <a:solidFill>
                  <a:schemeClr val="bg2"/>
                </a:solidFill>
              </a:rPr>
              <a:t>APRÈS FINE-TUNING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 spc="200">
                <a:solidFill>
                  <a:schemeClr val="bg2"/>
                </a:solidFill>
              </a:rPr>
              <a:t>val. accuracy</a:t>
            </a:r>
            <a:endParaRPr lang="en-US" sz="1200"/>
          </a:p>
        </p:txBody>
      </p:sp>
      <p:sp>
        <p:nvSpPr>
          <p:cNvPr id="580519593" name="whitecard-331"/>
          <p:cNvSpPr/>
          <p:nvPr/>
        </p:nvSpPr>
        <p:spPr bwMode="auto">
          <a:xfrm>
            <a:off x="7909560" y="4251960"/>
            <a:ext cx="3596335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04311755" name="img-332" descr="Accuracy après fine-tuni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267899" y="4306824"/>
            <a:ext cx="2879657" cy="1627632"/>
          </a:xfrm>
          <a:prstGeom prst="rect">
            <a:avLst/>
          </a:prstGeom>
        </p:spPr>
      </p:pic>
      <p:sp>
        <p:nvSpPr>
          <p:cNvPr id="210763474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798150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12 / EXTENSION IMAGE</a:t>
            </a:r>
            <a:endParaRPr lang="en-US" sz="1200"/>
          </a:p>
        </p:txBody>
      </p:sp>
      <p:sp>
        <p:nvSpPr>
          <p:cNvPr id="1071463717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Détection et analyse de plusieurs visages</a:t>
            </a:r>
            <a:endParaRPr lang="en-US" sz="3400"/>
          </a:p>
        </p:txBody>
      </p:sp>
      <p:sp>
        <p:nvSpPr>
          <p:cNvPr id="1536430781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Détection avec YOLOv8n-Face (WIDERFace), puis classification par le CNN entraîné sur FER2013.</a:t>
            </a:r>
            <a:endParaRPr lang="en-US" sz="1500"/>
          </a:p>
        </p:txBody>
      </p:sp>
      <p:pic>
        <p:nvPicPr>
          <p:cNvPr id="1631930209" name="img-333" descr="Photo originale de quatre personnes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548640" y="1920240"/>
            <a:ext cx="3429000" cy="2286000"/>
          </a:xfrm>
          <a:prstGeom prst="rect">
            <a:avLst/>
          </a:prstGeom>
        </p:spPr>
      </p:pic>
      <p:pic>
        <p:nvPicPr>
          <p:cNvPr id="2085148292" name="img-334" descr="Photo annotée avec quatre visages détectés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206240" y="1920240"/>
            <a:ext cx="3279611" cy="2286000"/>
          </a:xfrm>
          <a:prstGeom prst="rect">
            <a:avLst/>
          </a:prstGeom>
        </p:spPr>
      </p:pic>
      <p:sp>
        <p:nvSpPr>
          <p:cNvPr id="816003962" name="text-335"/>
          <p:cNvSpPr txBox="1"/>
          <p:nvPr/>
        </p:nvSpPr>
        <p:spPr bwMode="auto">
          <a:xfrm>
            <a:off x="548640" y="42976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300">
                <a:solidFill>
                  <a:schemeClr val="bg2"/>
                </a:solidFill>
              </a:rPr>
              <a:t>IMAGE ORIGINALE</a:t>
            </a:r>
            <a:endParaRPr lang="en-US" sz="1100"/>
          </a:p>
        </p:txBody>
      </p:sp>
      <p:sp>
        <p:nvSpPr>
          <p:cNvPr id="1887354877" name="text-336"/>
          <p:cNvSpPr txBox="1"/>
          <p:nvPr/>
        </p:nvSpPr>
        <p:spPr bwMode="auto">
          <a:xfrm>
            <a:off x="4206240" y="4297680"/>
            <a:ext cx="3279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300">
                <a:solidFill>
                  <a:schemeClr val="bg2"/>
                </a:solidFill>
              </a:rPr>
              <a:t>IMAGE ANNOTÉE</a:t>
            </a:r>
            <a:endParaRPr lang="en-US" sz="1100"/>
          </a:p>
        </p:txBody>
      </p:sp>
      <p:sp>
        <p:nvSpPr>
          <p:cNvPr id="977000331" name="card-337"/>
          <p:cNvSpPr/>
          <p:nvPr/>
        </p:nvSpPr>
        <p:spPr bwMode="auto">
          <a:xfrm>
            <a:off x="7714451" y="1920240"/>
            <a:ext cx="3928604" cy="2651760"/>
          </a:xfrm>
          <a:prstGeom prst="roundRect">
            <a:avLst>
              <a:gd name="adj" fmla="val 4138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75816423" name="text-338"/>
          <p:cNvSpPr txBox="1"/>
          <p:nvPr/>
        </p:nvSpPr>
        <p:spPr bwMode="auto">
          <a:xfrm>
            <a:off x="7943051" y="2057400"/>
            <a:ext cx="3471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chemeClr val="accent1"/>
                </a:solidFill>
              </a:rPr>
              <a:t>RÉSULTAT</a:t>
            </a:r>
            <a:endParaRPr lang="en-US" sz="1100"/>
          </a:p>
        </p:txBody>
      </p:sp>
      <p:sp>
        <p:nvSpPr>
          <p:cNvPr id="67245371" name="text-339"/>
          <p:cNvSpPr txBox="1"/>
          <p:nvPr/>
        </p:nvSpPr>
        <p:spPr bwMode="auto">
          <a:xfrm>
            <a:off x="7943051" y="2377440"/>
            <a:ext cx="34714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600" b="1">
                <a:solidFill>
                  <a:schemeClr val="accent1"/>
                </a:solidFill>
              </a:rPr>
              <a:t>4</a:t>
            </a:r>
            <a:r>
              <a:rPr lang="en-US" sz="1400">
                <a:solidFill>
                  <a:schemeClr val="bg1"/>
                </a:solidFill>
              </a:rPr>
              <a:t>  visages détectés</a:t>
            </a:r>
            <a:endParaRPr lang="en-US" sz="1400"/>
          </a:p>
        </p:txBody>
      </p:sp>
      <p:sp>
        <p:nvSpPr>
          <p:cNvPr id="267495998" name="text-340"/>
          <p:cNvSpPr txBox="1"/>
          <p:nvPr/>
        </p:nvSpPr>
        <p:spPr bwMode="auto">
          <a:xfrm>
            <a:off x="7943051" y="3108960"/>
            <a:ext cx="34714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4 prédictions : Joie</a:t>
            </a:r>
            <a:endParaRPr lang="en-US" sz="1300"/>
          </a:p>
          <a:p>
            <a:pPr marL="0" indent="0">
              <a:spcAft>
                <a:spcPts val="600"/>
              </a:spcAft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Conf. expression : 1,000 ; 1,000 ; 0,812 ; 0,293</a:t>
            </a:r>
            <a:endParaRPr lang="en-US" sz="1300"/>
          </a:p>
          <a:p>
            <a:pPr marL="0" indent="0">
              <a:spcAft>
                <a:spcPts val="600"/>
              </a:spcAft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Conf. YOLO : 0,877 ; 0,865 ; 0,852 ; 0,838</a:t>
            </a:r>
            <a:endParaRPr lang="en-US" sz="1300"/>
          </a:p>
        </p:txBody>
      </p:sp>
      <p:sp>
        <p:nvSpPr>
          <p:cNvPr id="1715292211" name="step-341"/>
          <p:cNvSpPr/>
          <p:nvPr/>
        </p:nvSpPr>
        <p:spPr bwMode="auto">
          <a:xfrm>
            <a:off x="548640" y="5120640"/>
            <a:ext cx="155448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10514947" name="text-342"/>
          <p:cNvSpPr txBox="1"/>
          <p:nvPr/>
        </p:nvSpPr>
        <p:spPr bwMode="auto">
          <a:xfrm>
            <a:off x="621792" y="512064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Image</a:t>
            </a:r>
            <a:endParaRPr lang="en-US" sz="1300"/>
          </a:p>
        </p:txBody>
      </p:sp>
      <p:sp>
        <p:nvSpPr>
          <p:cNvPr id="215979712" name="chev-343"/>
          <p:cNvSpPr/>
          <p:nvPr/>
        </p:nvSpPr>
        <p:spPr bwMode="auto">
          <a:xfrm>
            <a:off x="2188434" y="544068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96751546" name="step-344"/>
          <p:cNvSpPr/>
          <p:nvPr/>
        </p:nvSpPr>
        <p:spPr bwMode="auto">
          <a:xfrm>
            <a:off x="2456627" y="5120640"/>
            <a:ext cx="155448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795547204" name="text-345"/>
          <p:cNvSpPr txBox="1"/>
          <p:nvPr/>
        </p:nvSpPr>
        <p:spPr bwMode="auto">
          <a:xfrm>
            <a:off x="2529779" y="512064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Détection YOLO</a:t>
            </a:r>
            <a:endParaRPr lang="en-US" sz="1300"/>
          </a:p>
        </p:txBody>
      </p:sp>
      <p:sp>
        <p:nvSpPr>
          <p:cNvPr id="1570891242" name="chev-346"/>
          <p:cNvSpPr/>
          <p:nvPr/>
        </p:nvSpPr>
        <p:spPr bwMode="auto">
          <a:xfrm>
            <a:off x="4096420" y="544068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60075995" name="step-347"/>
          <p:cNvSpPr/>
          <p:nvPr/>
        </p:nvSpPr>
        <p:spPr bwMode="auto">
          <a:xfrm>
            <a:off x="4364614" y="5120640"/>
            <a:ext cx="155448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543541962" name="text-348"/>
          <p:cNvSpPr txBox="1"/>
          <p:nvPr/>
        </p:nvSpPr>
        <p:spPr bwMode="auto">
          <a:xfrm>
            <a:off x="4437766" y="512064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Extraction des crops</a:t>
            </a:r>
            <a:endParaRPr lang="en-US" sz="1300"/>
          </a:p>
        </p:txBody>
      </p:sp>
      <p:sp>
        <p:nvSpPr>
          <p:cNvPr id="457088023" name="chev-349"/>
          <p:cNvSpPr/>
          <p:nvPr/>
        </p:nvSpPr>
        <p:spPr bwMode="auto">
          <a:xfrm>
            <a:off x="6004408" y="544068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50973255" name="step-350"/>
          <p:cNvSpPr/>
          <p:nvPr/>
        </p:nvSpPr>
        <p:spPr bwMode="auto">
          <a:xfrm>
            <a:off x="6272601" y="5120640"/>
            <a:ext cx="155448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029880701" name="text-351"/>
          <p:cNvSpPr txBox="1"/>
          <p:nvPr/>
        </p:nvSpPr>
        <p:spPr bwMode="auto">
          <a:xfrm>
            <a:off x="6345753" y="512064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Prétraitement identique au train</a:t>
            </a:r>
            <a:endParaRPr lang="en-US" sz="1300"/>
          </a:p>
        </p:txBody>
      </p:sp>
      <p:sp>
        <p:nvSpPr>
          <p:cNvPr id="350876724" name="chev-352"/>
          <p:cNvSpPr/>
          <p:nvPr/>
        </p:nvSpPr>
        <p:spPr bwMode="auto">
          <a:xfrm>
            <a:off x="7912395" y="544068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43374090" name="step-353"/>
          <p:cNvSpPr/>
          <p:nvPr/>
        </p:nvSpPr>
        <p:spPr bwMode="auto">
          <a:xfrm>
            <a:off x="8180588" y="5120640"/>
            <a:ext cx="155448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27487679" name="text-354"/>
          <p:cNvSpPr txBox="1"/>
          <p:nvPr/>
        </p:nvSpPr>
        <p:spPr bwMode="auto">
          <a:xfrm>
            <a:off x="8253740" y="512064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CNN</a:t>
            </a:r>
            <a:endParaRPr lang="en-US" sz="1300"/>
          </a:p>
        </p:txBody>
      </p:sp>
      <p:sp>
        <p:nvSpPr>
          <p:cNvPr id="1483544443" name="chev-355"/>
          <p:cNvSpPr/>
          <p:nvPr/>
        </p:nvSpPr>
        <p:spPr bwMode="auto">
          <a:xfrm>
            <a:off x="9820382" y="5440680"/>
            <a:ext cx="182880" cy="2743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33215695" name="step-356"/>
          <p:cNvSpPr/>
          <p:nvPr/>
        </p:nvSpPr>
        <p:spPr bwMode="auto">
          <a:xfrm>
            <a:off x="10088575" y="5120640"/>
            <a:ext cx="155448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547957454" name="text-357"/>
          <p:cNvSpPr txBox="1"/>
          <p:nvPr/>
        </p:nvSpPr>
        <p:spPr bwMode="auto">
          <a:xfrm>
            <a:off x="10161727" y="512064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Expression + score</a:t>
            </a:r>
            <a:endParaRPr lang="en-US" sz="1300"/>
          </a:p>
        </p:txBody>
      </p:sp>
      <p:sp>
        <p:nvSpPr>
          <p:cNvPr id="509531101" name="text-358"/>
          <p:cNvSpPr txBox="1"/>
          <p:nvPr/>
        </p:nvSpPr>
        <p:spPr bwMode="auto">
          <a:xfrm>
            <a:off x="548640" y="4818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chemeClr val="accent1"/>
                </a:solidFill>
              </a:rPr>
              <a:t>PIPELINE</a:t>
            </a:r>
            <a:endParaRPr lang="en-US" sz="1100"/>
          </a:p>
        </p:txBody>
      </p:sp>
      <p:sp>
        <p:nvSpPr>
          <p:cNvPr id="997286761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03378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12 / YOLO — FONCTIONNEMENT</a:t>
            </a:r>
            <a:endParaRPr lang="en-US" sz="1200"/>
          </a:p>
        </p:txBody>
      </p:sp>
      <p:sp>
        <p:nvSpPr>
          <p:cNvPr id="815704836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YOLOv8n-Face : détails d’intégration</a:t>
            </a:r>
            <a:endParaRPr lang="en-US" sz="3400"/>
          </a:p>
        </p:txBody>
      </p:sp>
      <p:sp>
        <p:nvSpPr>
          <p:cNvPr id="921092804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Détecteur spécialisé de visages, distinct du classifieur d’expressions FER2013.</a:t>
            </a:r>
            <a:endParaRPr lang="en-US" sz="1500"/>
          </a:p>
        </p:txBody>
      </p:sp>
      <p:sp>
        <p:nvSpPr>
          <p:cNvPr id="138289897" name="card-359"/>
          <p:cNvSpPr/>
          <p:nvPr/>
        </p:nvSpPr>
        <p:spPr bwMode="auto">
          <a:xfrm>
            <a:off x="548640" y="1920240"/>
            <a:ext cx="5212080" cy="3337560"/>
          </a:xfrm>
          <a:prstGeom prst="roundRect">
            <a:avLst>
              <a:gd name="adj" fmla="val 3288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33979650" name="text-360"/>
          <p:cNvSpPr txBox="1"/>
          <p:nvPr/>
        </p:nvSpPr>
        <p:spPr bwMode="auto">
          <a:xfrm>
            <a:off x="822960" y="20574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chemeClr val="accent1"/>
                </a:solidFill>
              </a:rPr>
              <a:t>DÉTECTEUR RÉELLEMENT UTILISÉ</a:t>
            </a:r>
            <a:endParaRPr lang="en-US" sz="1100"/>
          </a:p>
        </p:txBody>
      </p:sp>
      <p:sp>
        <p:nvSpPr>
          <p:cNvPr id="1429588719" name="text-361"/>
          <p:cNvSpPr txBox="1"/>
          <p:nvPr/>
        </p:nvSpPr>
        <p:spPr bwMode="auto">
          <a:xfrm>
            <a:off x="822960" y="2377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chemeClr val="bg1"/>
                </a:solidFill>
              </a:rPr>
              <a:t>YOLOv8n-Face</a:t>
            </a:r>
            <a:endParaRPr lang="en-US" sz="2400"/>
          </a:p>
        </p:txBody>
      </p:sp>
      <p:sp>
        <p:nvSpPr>
          <p:cNvPr id="1517633147" name="text-362"/>
          <p:cNvSpPr txBox="1"/>
          <p:nvPr/>
        </p:nvSpPr>
        <p:spPr bwMode="auto">
          <a:xfrm>
            <a:off x="822960" y="2852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  <a:defRPr/>
            </a:pPr>
            <a:r>
              <a:rPr lang="en-US" sz="1300">
                <a:solidFill>
                  <a:schemeClr val="bg1"/>
                </a:solidFill>
              </a:rPr>
              <a:t>Poids : yolov8n-face-lindevs.pt</a:t>
            </a:r>
            <a:endParaRPr lang="en-US" sz="1300"/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Entraîné sur WIDERFace (selon le notebook)</a:t>
            </a:r>
            <a:endParaRPr lang="en-US" sz="1300"/>
          </a:p>
        </p:txBody>
      </p:sp>
      <p:sp>
        <p:nvSpPr>
          <p:cNvPr id="634824382" name="chip-363"/>
          <p:cNvSpPr/>
          <p:nvPr/>
        </p:nvSpPr>
        <p:spPr bwMode="auto">
          <a:xfrm>
            <a:off x="822960" y="3566160"/>
            <a:ext cx="2240280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07978858" name="text-364"/>
          <p:cNvSpPr txBox="1"/>
          <p:nvPr/>
        </p:nvSpPr>
        <p:spPr bwMode="auto">
          <a:xfrm>
            <a:off x="960120" y="363016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spc="200">
                <a:solidFill>
                  <a:schemeClr val="bg2"/>
                </a:solidFill>
              </a:rPr>
              <a:t>SEUIL DE DÉTECTION</a:t>
            </a:r>
            <a:endParaRPr lang="en-US" sz="1000"/>
          </a:p>
        </p:txBody>
      </p:sp>
      <p:sp>
        <p:nvSpPr>
          <p:cNvPr id="1002854658" name="text-365"/>
          <p:cNvSpPr txBox="1"/>
          <p:nvPr/>
        </p:nvSpPr>
        <p:spPr bwMode="auto">
          <a:xfrm>
            <a:off x="960120" y="385876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conf = 0,35</a:t>
            </a:r>
            <a:endParaRPr lang="en-US" sz="1400"/>
          </a:p>
        </p:txBody>
      </p:sp>
      <p:sp>
        <p:nvSpPr>
          <p:cNvPr id="1310963074" name="chip-366"/>
          <p:cNvSpPr/>
          <p:nvPr/>
        </p:nvSpPr>
        <p:spPr bwMode="auto">
          <a:xfrm>
            <a:off x="3246120" y="3566160"/>
            <a:ext cx="2240280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3484842" name="text-367"/>
          <p:cNvSpPr txBox="1"/>
          <p:nvPr/>
        </p:nvSpPr>
        <p:spPr bwMode="auto">
          <a:xfrm>
            <a:off x="3383280" y="363016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spc="200">
                <a:solidFill>
                  <a:schemeClr val="bg2"/>
                </a:solidFill>
              </a:rPr>
              <a:t>TAILLE D’INFÉRENCE</a:t>
            </a:r>
            <a:endParaRPr lang="en-US" sz="1000"/>
          </a:p>
        </p:txBody>
      </p:sp>
      <p:sp>
        <p:nvSpPr>
          <p:cNvPr id="1891088915" name="text-368"/>
          <p:cNvSpPr txBox="1"/>
          <p:nvPr/>
        </p:nvSpPr>
        <p:spPr bwMode="auto">
          <a:xfrm>
            <a:off x="3383280" y="385876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imgsz = 640</a:t>
            </a:r>
            <a:endParaRPr lang="en-US" sz="1400"/>
          </a:p>
        </p:txBody>
      </p:sp>
      <p:sp>
        <p:nvSpPr>
          <p:cNvPr id="2087307220" name="chip-369"/>
          <p:cNvSpPr/>
          <p:nvPr/>
        </p:nvSpPr>
        <p:spPr bwMode="auto">
          <a:xfrm>
            <a:off x="822960" y="4370832"/>
            <a:ext cx="2240280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3870898" name="text-370"/>
          <p:cNvSpPr txBox="1"/>
          <p:nvPr/>
        </p:nvSpPr>
        <p:spPr bwMode="auto">
          <a:xfrm>
            <a:off x="960120" y="44348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spc="200">
                <a:solidFill>
                  <a:schemeClr val="bg2"/>
                </a:solidFill>
              </a:rPr>
              <a:t>MARGE DU CROP</a:t>
            </a:r>
            <a:endParaRPr lang="en-US" sz="1000"/>
          </a:p>
        </p:txBody>
      </p:sp>
      <p:sp>
        <p:nvSpPr>
          <p:cNvPr id="898853379" name="text-371"/>
          <p:cNvSpPr txBox="1"/>
          <p:nvPr/>
        </p:nvSpPr>
        <p:spPr bwMode="auto">
          <a:xfrm>
            <a:off x="960120" y="466344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12 %</a:t>
            </a:r>
            <a:endParaRPr lang="en-US" sz="1400"/>
          </a:p>
        </p:txBody>
      </p:sp>
      <p:sp>
        <p:nvSpPr>
          <p:cNvPr id="1469596897" name="chip-372"/>
          <p:cNvSpPr/>
          <p:nvPr/>
        </p:nvSpPr>
        <p:spPr bwMode="auto">
          <a:xfrm>
            <a:off x="3246120" y="4370832"/>
            <a:ext cx="2240280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04357275" name="text-373"/>
          <p:cNvSpPr txBox="1"/>
          <p:nvPr/>
        </p:nvSpPr>
        <p:spPr bwMode="auto">
          <a:xfrm>
            <a:off x="3383280" y="44348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spc="200">
                <a:solidFill>
                  <a:schemeClr val="bg2"/>
                </a:solidFill>
              </a:rPr>
              <a:t>PRÉTRAITEMENT</a:t>
            </a:r>
            <a:endParaRPr lang="en-US" sz="1000"/>
          </a:p>
        </p:txBody>
      </p:sp>
      <p:sp>
        <p:nvSpPr>
          <p:cNvPr id="1928896520" name="text-374"/>
          <p:cNvSpPr txBox="1"/>
          <p:nvPr/>
        </p:nvSpPr>
        <p:spPr bwMode="auto">
          <a:xfrm>
            <a:off x="3383280" y="466344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gris → 48×48 → /255</a:t>
            </a:r>
            <a:endParaRPr lang="en-US" sz="1400"/>
          </a:p>
        </p:txBody>
      </p:sp>
      <p:sp>
        <p:nvSpPr>
          <p:cNvPr id="1825283946" name="card-375"/>
          <p:cNvSpPr/>
          <p:nvPr/>
        </p:nvSpPr>
        <p:spPr bwMode="auto">
          <a:xfrm>
            <a:off x="6035039" y="1920240"/>
            <a:ext cx="5608015" cy="3337560"/>
          </a:xfrm>
          <a:prstGeom prst="roundRect">
            <a:avLst>
              <a:gd name="adj" fmla="val 3288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8116950" name="text-376"/>
          <p:cNvSpPr txBox="1"/>
          <p:nvPr/>
        </p:nvSpPr>
        <p:spPr bwMode="auto">
          <a:xfrm>
            <a:off x="6309360" y="2057400"/>
            <a:ext cx="5059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 dirty="0">
                <a:solidFill>
                  <a:schemeClr val="accent1"/>
                </a:solidFill>
              </a:rPr>
              <a:t>CONCEPTS CLES </a:t>
            </a:r>
            <a:endParaRPr lang="en-US" sz="1100" dirty="0"/>
          </a:p>
        </p:txBody>
      </p:sp>
      <p:sp>
        <p:nvSpPr>
          <p:cNvPr id="552237517" name="text-377"/>
          <p:cNvSpPr txBox="1"/>
          <p:nvPr/>
        </p:nvSpPr>
        <p:spPr bwMode="auto">
          <a:xfrm>
            <a:off x="6309360" y="2423160"/>
            <a:ext cx="50593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Bounding box</a:t>
            </a:r>
            <a:endParaRPr lang="en-US" sz="1400"/>
          </a:p>
          <a:p>
            <a:pPr marL="0" indent="0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coordonnées [x1, y1, x2, y2] délimitant un visage.</a:t>
            </a:r>
            <a:endParaRPr lang="en-US" sz="1400"/>
          </a:p>
        </p:txBody>
      </p:sp>
      <p:sp>
        <p:nvSpPr>
          <p:cNvPr id="1185758036" name="text-378"/>
          <p:cNvSpPr txBox="1"/>
          <p:nvPr/>
        </p:nvSpPr>
        <p:spPr bwMode="auto">
          <a:xfrm>
            <a:off x="6309360" y="2971800"/>
            <a:ext cx="50593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Score de confiance</a:t>
            </a:r>
            <a:endParaRPr lang="en-US" sz="1400"/>
          </a:p>
          <a:p>
            <a:pPr marL="0" indent="0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niveau associé à une détection (distinct de Softmax).</a:t>
            </a:r>
            <a:endParaRPr lang="en-US" sz="1400"/>
          </a:p>
        </p:txBody>
      </p:sp>
      <p:sp>
        <p:nvSpPr>
          <p:cNvPr id="1231928727" name="text-379"/>
          <p:cNvSpPr txBox="1"/>
          <p:nvPr/>
        </p:nvSpPr>
        <p:spPr bwMode="auto">
          <a:xfrm>
            <a:off x="6309360" y="3520440"/>
            <a:ext cx="50593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IoU</a:t>
            </a:r>
            <a:endParaRPr lang="en-US" sz="1400"/>
          </a:p>
          <a:p>
            <a:pPr marL="0" indent="0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intersection / union : recouvrement de deux boîtes.</a:t>
            </a:r>
            <a:endParaRPr lang="en-US" sz="1400"/>
          </a:p>
        </p:txBody>
      </p:sp>
      <p:sp>
        <p:nvSpPr>
          <p:cNvPr id="1409573128" name="text-380"/>
          <p:cNvSpPr txBox="1"/>
          <p:nvPr/>
        </p:nvSpPr>
        <p:spPr bwMode="auto">
          <a:xfrm>
            <a:off x="6309360" y="4069080"/>
            <a:ext cx="50593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NMS</a:t>
            </a:r>
            <a:endParaRPr lang="en-US" sz="1400"/>
          </a:p>
          <a:p>
            <a:pPr marL="0" indent="0">
              <a:buNone/>
              <a:defRPr/>
            </a:pPr>
            <a:r>
              <a:rPr lang="en-US" sz="1300">
                <a:solidFill>
                  <a:schemeClr val="bg2"/>
                </a:solidFill>
              </a:rPr>
              <a:t>supprime les détections redondantes très superposées.</a:t>
            </a:r>
            <a:endParaRPr lang="en-US" sz="1400"/>
          </a:p>
        </p:txBody>
      </p:sp>
      <p:sp>
        <p:nvSpPr>
          <p:cNvPr id="2026722654" name="text-381"/>
          <p:cNvSpPr txBox="1"/>
          <p:nvPr/>
        </p:nvSpPr>
        <p:spPr bwMode="auto">
          <a:xfrm>
            <a:off x="6309360" y="4617720"/>
            <a:ext cx="50593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 b="1" dirty="0" err="1">
                <a:solidFill>
                  <a:schemeClr val="bg1"/>
                </a:solidFill>
              </a:rPr>
              <a:t>Précision</a:t>
            </a:r>
            <a:r>
              <a:rPr lang="en-US" sz="1400" b="1" dirty="0">
                <a:solidFill>
                  <a:schemeClr val="bg1"/>
                </a:solidFill>
              </a:rPr>
              <a:t>, rappel</a:t>
            </a:r>
            <a:endParaRPr lang="en-US" sz="1400" dirty="0"/>
          </a:p>
          <a:p>
            <a:pPr marL="0" indent="0">
              <a:buNone/>
              <a:defRPr/>
            </a:pPr>
            <a:r>
              <a:rPr lang="en-US" sz="1300" dirty="0" err="1">
                <a:solidFill>
                  <a:schemeClr val="bg2"/>
                </a:solidFill>
              </a:rPr>
              <a:t>métriques</a:t>
            </a:r>
            <a:r>
              <a:rPr lang="en-US" sz="1300" dirty="0">
                <a:solidFill>
                  <a:schemeClr val="bg2"/>
                </a:solidFill>
              </a:rPr>
              <a:t> de </a:t>
            </a:r>
            <a:r>
              <a:rPr lang="en-US" sz="1300" dirty="0" err="1">
                <a:solidFill>
                  <a:schemeClr val="bg2"/>
                </a:solidFill>
              </a:rPr>
              <a:t>détection</a:t>
            </a:r>
            <a:r>
              <a:rPr lang="en-US" sz="1300" dirty="0">
                <a:solidFill>
                  <a:schemeClr val="bg2"/>
                </a:solidFill>
              </a:rPr>
              <a:t>, </a:t>
            </a:r>
            <a:r>
              <a:rPr lang="en-US" sz="1300" dirty="0" err="1">
                <a:solidFill>
                  <a:schemeClr val="bg2"/>
                </a:solidFill>
              </a:rPr>
              <a:t>nécessitant</a:t>
            </a:r>
            <a:r>
              <a:rPr lang="en-US" sz="1300" dirty="0">
                <a:solidFill>
                  <a:schemeClr val="bg2"/>
                </a:solidFill>
              </a:rPr>
              <a:t> des </a:t>
            </a:r>
            <a:r>
              <a:rPr lang="en-US" sz="1300" dirty="0" err="1">
                <a:solidFill>
                  <a:schemeClr val="bg2"/>
                </a:solidFill>
              </a:rPr>
              <a:t>boîtes</a:t>
            </a:r>
            <a:r>
              <a:rPr lang="en-US" sz="1300" dirty="0">
                <a:solidFill>
                  <a:schemeClr val="bg2"/>
                </a:solidFill>
              </a:rPr>
              <a:t> </a:t>
            </a:r>
            <a:r>
              <a:rPr lang="en-US" sz="1300" dirty="0" err="1">
                <a:solidFill>
                  <a:schemeClr val="bg2"/>
                </a:solidFill>
              </a:rPr>
              <a:t>annotées</a:t>
            </a:r>
            <a:r>
              <a:rPr lang="en-US" sz="1300" dirty="0">
                <a:solidFill>
                  <a:schemeClr val="bg2"/>
                </a:solidFill>
              </a:rPr>
              <a:t>.</a:t>
            </a:r>
            <a:endParaRPr lang="en-US" sz="1400" dirty="0"/>
          </a:p>
        </p:txBody>
      </p:sp>
      <p:sp>
        <p:nvSpPr>
          <p:cNvPr id="1201903497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18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7340092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13 / EXTENSION VIDÉO</a:t>
            </a:r>
            <a:endParaRPr lang="en-US" sz="1200"/>
          </a:p>
        </p:txBody>
      </p:sp>
      <p:sp>
        <p:nvSpPr>
          <p:cNvPr id="142497844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Démonstration vidéo intégrée</a:t>
            </a:r>
            <a:endParaRPr lang="en-US" sz="3400"/>
          </a:p>
        </p:txBody>
      </p:sp>
      <p:sp>
        <p:nvSpPr>
          <p:cNvPr id="278056170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Lecture locale dans PowerPoint : cliquer sur la vidéo pendant le diaporama.</a:t>
            </a:r>
            <a:endParaRPr lang="en-US" sz="1500"/>
          </a:p>
        </p:txBody>
      </p:sp>
      <p:sp>
        <p:nvSpPr>
          <p:cNvPr id="2014342136" name="cadre-video"/>
          <p:cNvSpPr/>
          <p:nvPr/>
        </p:nvSpPr>
        <p:spPr bwMode="auto">
          <a:xfrm>
            <a:off x="548640" y="1920240"/>
            <a:ext cx="6309360" cy="3547872"/>
          </a:xfrm>
          <a:prstGeom prst="roundRect">
            <a:avLst>
              <a:gd name="adj" fmla="val 3093"/>
            </a:avLst>
          </a:prstGeom>
          <a:solidFill>
            <a:schemeClr val="tx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79216725" name="playbg-384"/>
          <p:cNvSpPr/>
          <p:nvPr/>
        </p:nvSpPr>
        <p:spPr bwMode="auto">
          <a:xfrm>
            <a:off x="3200400" y="3191256"/>
            <a:ext cx="1005840" cy="100584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889429844" name="icon-385" descr="Lecture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547872" y="3465576"/>
            <a:ext cx="457200" cy="457200"/>
          </a:xfrm>
          <a:prstGeom prst="rect">
            <a:avLst/>
          </a:prstGeom>
        </p:spPr>
      </p:pic>
      <p:sp>
        <p:nvSpPr>
          <p:cNvPr id="2054082150" name="text-386"/>
          <p:cNvSpPr txBox="1"/>
          <p:nvPr/>
        </p:nvSpPr>
        <p:spPr bwMode="auto">
          <a:xfrm>
            <a:off x="8229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chemeClr val="accent1"/>
                </a:solidFill>
              </a:rPr>
              <a:t>VIDÉO ANALYSÉE</a:t>
            </a:r>
            <a:endParaRPr lang="en-US" sz="1100"/>
          </a:p>
        </p:txBody>
      </p:sp>
      <p:sp>
        <p:nvSpPr>
          <p:cNvPr id="151705911" name="card-387"/>
          <p:cNvSpPr/>
          <p:nvPr/>
        </p:nvSpPr>
        <p:spPr bwMode="auto">
          <a:xfrm>
            <a:off x="548640" y="5605272"/>
            <a:ext cx="6309360" cy="566928"/>
          </a:xfrm>
          <a:prstGeom prst="roundRect">
            <a:avLst>
              <a:gd name="adj" fmla="val 19355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54074954" name="lien-388"/>
          <p:cNvSpPr txBox="1"/>
          <p:nvPr/>
        </p:nvSpPr>
        <p:spPr bwMode="auto">
          <a:xfrm>
            <a:off x="822960" y="5605272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u="sng">
                <a:solidFill>
                  <a:schemeClr val="accent1"/>
                </a:solidFill>
                <a:hlinkClick r:id="rId5"/>
              </a:rPr>
              <a:t>Vidéo originale (YouTube) : youtu.be/-KZI9_dtdz8</a:t>
            </a:r>
            <a:endParaRPr lang="en-US" sz="1400"/>
          </a:p>
        </p:txBody>
      </p:sp>
      <p:sp>
        <p:nvSpPr>
          <p:cNvPr id="381791273" name="card-389"/>
          <p:cNvSpPr/>
          <p:nvPr/>
        </p:nvSpPr>
        <p:spPr bwMode="auto">
          <a:xfrm>
            <a:off x="7132320" y="1920240"/>
            <a:ext cx="1412138" cy="822960"/>
          </a:xfrm>
          <a:prstGeom prst="roundRect">
            <a:avLst>
              <a:gd name="adj" fmla="val 13333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13993586" name="text-390"/>
          <p:cNvSpPr txBox="1"/>
          <p:nvPr/>
        </p:nvSpPr>
        <p:spPr bwMode="auto">
          <a:xfrm>
            <a:off x="7269480" y="2029968"/>
            <a:ext cx="113781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19,6 s</a:t>
            </a:r>
            <a:endParaRPr lang="en-US" sz="2000"/>
          </a:p>
        </p:txBody>
      </p:sp>
      <p:sp>
        <p:nvSpPr>
          <p:cNvPr id="1781697013" name="text-391"/>
          <p:cNvSpPr txBox="1"/>
          <p:nvPr/>
        </p:nvSpPr>
        <p:spPr bwMode="auto">
          <a:xfrm>
            <a:off x="7269480" y="2430475"/>
            <a:ext cx="11378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DURÉE</a:t>
            </a:r>
            <a:endParaRPr lang="en-US" sz="1100"/>
          </a:p>
        </p:txBody>
      </p:sp>
      <p:sp>
        <p:nvSpPr>
          <p:cNvPr id="760675193" name="card-392"/>
          <p:cNvSpPr/>
          <p:nvPr/>
        </p:nvSpPr>
        <p:spPr bwMode="auto">
          <a:xfrm>
            <a:off x="8681618" y="1920240"/>
            <a:ext cx="1412138" cy="822960"/>
          </a:xfrm>
          <a:prstGeom prst="roundRect">
            <a:avLst>
              <a:gd name="adj" fmla="val 13333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97688074" name="text-393"/>
          <p:cNvSpPr txBox="1"/>
          <p:nvPr/>
        </p:nvSpPr>
        <p:spPr bwMode="auto">
          <a:xfrm>
            <a:off x="8818778" y="2029968"/>
            <a:ext cx="113781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25 fps</a:t>
            </a:r>
            <a:endParaRPr lang="en-US" sz="2000"/>
          </a:p>
        </p:txBody>
      </p:sp>
      <p:sp>
        <p:nvSpPr>
          <p:cNvPr id="2040755201" name="text-394"/>
          <p:cNvSpPr txBox="1"/>
          <p:nvPr/>
        </p:nvSpPr>
        <p:spPr bwMode="auto">
          <a:xfrm>
            <a:off x="8818778" y="2430475"/>
            <a:ext cx="11378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FRÉQUENCE</a:t>
            </a:r>
            <a:endParaRPr lang="en-US" sz="1100"/>
          </a:p>
        </p:txBody>
      </p:sp>
      <p:sp>
        <p:nvSpPr>
          <p:cNvPr id="1623555200" name="card-395"/>
          <p:cNvSpPr/>
          <p:nvPr/>
        </p:nvSpPr>
        <p:spPr bwMode="auto">
          <a:xfrm>
            <a:off x="10230917" y="1920240"/>
            <a:ext cx="1412138" cy="822960"/>
          </a:xfrm>
          <a:prstGeom prst="roundRect">
            <a:avLst>
              <a:gd name="adj" fmla="val 13333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51301796" name="text-396"/>
          <p:cNvSpPr txBox="1"/>
          <p:nvPr/>
        </p:nvSpPr>
        <p:spPr bwMode="auto">
          <a:xfrm>
            <a:off x="10368077" y="2029968"/>
            <a:ext cx="113781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490</a:t>
            </a:r>
            <a:endParaRPr lang="en-US" sz="2000"/>
          </a:p>
        </p:txBody>
      </p:sp>
      <p:sp>
        <p:nvSpPr>
          <p:cNvPr id="261168948" name="text-397"/>
          <p:cNvSpPr txBox="1"/>
          <p:nvPr/>
        </p:nvSpPr>
        <p:spPr bwMode="auto">
          <a:xfrm>
            <a:off x="10368077" y="2430475"/>
            <a:ext cx="11378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 spc="200">
                <a:solidFill>
                  <a:schemeClr val="bg2"/>
                </a:solidFill>
              </a:rPr>
              <a:t>IMAGES</a:t>
            </a:r>
            <a:endParaRPr lang="en-US" sz="1100"/>
          </a:p>
        </p:txBody>
      </p:sp>
      <p:sp>
        <p:nvSpPr>
          <p:cNvPr id="1059712410" name="card-398"/>
          <p:cNvSpPr/>
          <p:nvPr/>
        </p:nvSpPr>
        <p:spPr bwMode="auto">
          <a:xfrm>
            <a:off x="7132320" y="2880360"/>
            <a:ext cx="4510735" cy="731520"/>
          </a:xfrm>
          <a:prstGeom prst="roundRect">
            <a:avLst>
              <a:gd name="adj" fmla="val 1500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135343" name="text-399"/>
          <p:cNvSpPr txBox="1"/>
          <p:nvPr/>
        </p:nvSpPr>
        <p:spPr bwMode="auto">
          <a:xfrm>
            <a:off x="7360920" y="2880360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chemeClr val="accent1"/>
                </a:solidFill>
              </a:rPr>
              <a:t>1 723</a:t>
            </a:r>
            <a:r>
              <a:rPr lang="en-US" sz="1400">
                <a:solidFill>
                  <a:schemeClr val="bg1"/>
                </a:solidFill>
              </a:rPr>
              <a:t>  instances de visages détectées</a:t>
            </a:r>
            <a:endParaRPr lang="en-US" sz="1400"/>
          </a:p>
        </p:txBody>
      </p:sp>
      <p:sp>
        <p:nvSpPr>
          <p:cNvPr id="1826297160" name="card-400"/>
          <p:cNvSpPr/>
          <p:nvPr/>
        </p:nvSpPr>
        <p:spPr bwMode="auto">
          <a:xfrm>
            <a:off x="7132320" y="3749040"/>
            <a:ext cx="4510735" cy="1463040"/>
          </a:xfrm>
          <a:prstGeom prst="roundRect">
            <a:avLst>
              <a:gd name="adj" fmla="val 750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22478036" name="text-401"/>
          <p:cNvSpPr txBox="1"/>
          <p:nvPr/>
        </p:nvSpPr>
        <p:spPr bwMode="auto">
          <a:xfrm>
            <a:off x="7360920" y="3840480"/>
            <a:ext cx="4053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chemeClr val="accent1"/>
                </a:solidFill>
              </a:rPr>
              <a:t>ÉMOTIONS COMPTABILISÉES</a:t>
            </a:r>
            <a:endParaRPr lang="en-US" sz="1100"/>
          </a:p>
        </p:txBody>
      </p:sp>
      <p:sp>
        <p:nvSpPr>
          <p:cNvPr id="1870440615" name="text-402"/>
          <p:cNvSpPr txBox="1"/>
          <p:nvPr/>
        </p:nvSpPr>
        <p:spPr bwMode="auto">
          <a:xfrm>
            <a:off x="7360920" y="413308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chemeClr val="bg1"/>
                </a:solidFill>
              </a:rPr>
              <a:t>Joie</a:t>
            </a:r>
            <a:endParaRPr lang="en-US" sz="1300"/>
          </a:p>
        </p:txBody>
      </p:sp>
      <p:sp>
        <p:nvSpPr>
          <p:cNvPr id="1679100672" name="bar-403"/>
          <p:cNvSpPr/>
          <p:nvPr/>
        </p:nvSpPr>
        <p:spPr bwMode="auto">
          <a:xfrm>
            <a:off x="8366760" y="4174235"/>
            <a:ext cx="2361895" cy="155448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1086838240" name="text-404"/>
          <p:cNvSpPr txBox="1"/>
          <p:nvPr/>
        </p:nvSpPr>
        <p:spPr bwMode="auto">
          <a:xfrm>
            <a:off x="10774375" y="413308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1 239</a:t>
            </a:r>
            <a:endParaRPr lang="en-US" sz="1300"/>
          </a:p>
        </p:txBody>
      </p:sp>
      <p:sp>
        <p:nvSpPr>
          <p:cNvPr id="1912426023" name="text-405"/>
          <p:cNvSpPr txBox="1"/>
          <p:nvPr/>
        </p:nvSpPr>
        <p:spPr bwMode="auto">
          <a:xfrm>
            <a:off x="7360920" y="43891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chemeClr val="bg1"/>
                </a:solidFill>
              </a:rPr>
              <a:t>Tristesse</a:t>
            </a:r>
            <a:endParaRPr lang="en-US" sz="1300"/>
          </a:p>
        </p:txBody>
      </p:sp>
      <p:sp>
        <p:nvSpPr>
          <p:cNvPr id="639655539" name="bar-406"/>
          <p:cNvSpPr/>
          <p:nvPr/>
        </p:nvSpPr>
        <p:spPr bwMode="auto">
          <a:xfrm>
            <a:off x="8366760" y="4430268"/>
            <a:ext cx="737735" cy="155448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/>
        </p:spPr>
      </p:sp>
      <p:sp>
        <p:nvSpPr>
          <p:cNvPr id="206445069" name="text-407"/>
          <p:cNvSpPr txBox="1"/>
          <p:nvPr/>
        </p:nvSpPr>
        <p:spPr bwMode="auto">
          <a:xfrm>
            <a:off x="10774375" y="438912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387</a:t>
            </a:r>
            <a:endParaRPr lang="en-US" sz="1300"/>
          </a:p>
        </p:txBody>
      </p:sp>
      <p:sp>
        <p:nvSpPr>
          <p:cNvPr id="520713417" name="text-408"/>
          <p:cNvSpPr txBox="1"/>
          <p:nvPr/>
        </p:nvSpPr>
        <p:spPr bwMode="auto">
          <a:xfrm>
            <a:off x="7360920" y="4645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chemeClr val="bg1"/>
                </a:solidFill>
              </a:rPr>
              <a:t>Neutre</a:t>
            </a:r>
            <a:endParaRPr lang="en-US" sz="1300"/>
          </a:p>
        </p:txBody>
      </p:sp>
      <p:sp>
        <p:nvSpPr>
          <p:cNvPr id="2135970734" name="bar-409"/>
          <p:cNvSpPr/>
          <p:nvPr/>
        </p:nvSpPr>
        <p:spPr bwMode="auto">
          <a:xfrm>
            <a:off x="8366760" y="4686300"/>
            <a:ext cx="108659" cy="155448"/>
          </a:xfrm>
          <a:prstGeom prst="roundRect">
            <a:avLst>
              <a:gd name="adj" fmla="val 33661"/>
            </a:avLst>
          </a:prstGeom>
          <a:solidFill>
            <a:schemeClr val="accent3"/>
          </a:solidFill>
          <a:ln/>
        </p:spPr>
      </p:sp>
      <p:sp>
        <p:nvSpPr>
          <p:cNvPr id="958989512" name="text-410"/>
          <p:cNvSpPr txBox="1"/>
          <p:nvPr/>
        </p:nvSpPr>
        <p:spPr bwMode="auto">
          <a:xfrm>
            <a:off x="10774375" y="46451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57</a:t>
            </a:r>
            <a:endParaRPr lang="en-US" sz="1300"/>
          </a:p>
        </p:txBody>
      </p:sp>
      <p:sp>
        <p:nvSpPr>
          <p:cNvPr id="139115906" name="text-411"/>
          <p:cNvSpPr txBox="1"/>
          <p:nvPr/>
        </p:nvSpPr>
        <p:spPr bwMode="auto">
          <a:xfrm>
            <a:off x="7360920" y="490118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chemeClr val="bg1"/>
                </a:solidFill>
              </a:rPr>
              <a:t>Colère</a:t>
            </a:r>
            <a:endParaRPr lang="en-US" sz="1300"/>
          </a:p>
        </p:txBody>
      </p:sp>
      <p:sp>
        <p:nvSpPr>
          <p:cNvPr id="825075740" name="bar-412"/>
          <p:cNvSpPr/>
          <p:nvPr/>
        </p:nvSpPr>
        <p:spPr bwMode="auto">
          <a:xfrm>
            <a:off x="8366760" y="4942332"/>
            <a:ext cx="76252" cy="155448"/>
          </a:xfrm>
          <a:prstGeom prst="roundRect">
            <a:avLst>
              <a:gd name="adj" fmla="val 47967"/>
            </a:avLst>
          </a:prstGeom>
          <a:solidFill>
            <a:schemeClr val="accent4"/>
          </a:solidFill>
          <a:ln/>
        </p:spPr>
      </p:sp>
      <p:sp>
        <p:nvSpPr>
          <p:cNvPr id="715467113" name="text-413"/>
          <p:cNvSpPr txBox="1"/>
          <p:nvPr/>
        </p:nvSpPr>
        <p:spPr bwMode="auto">
          <a:xfrm>
            <a:off x="10774375" y="49011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chemeClr val="bg1"/>
                </a:solidFill>
              </a:rPr>
              <a:t>40</a:t>
            </a:r>
            <a:endParaRPr lang="en-US" sz="1300"/>
          </a:p>
        </p:txBody>
      </p:sp>
      <p:sp>
        <p:nvSpPr>
          <p:cNvPr id="1329569528" name="card-414"/>
          <p:cNvSpPr/>
          <p:nvPr/>
        </p:nvSpPr>
        <p:spPr bwMode="auto">
          <a:xfrm>
            <a:off x="7132320" y="5349240"/>
            <a:ext cx="4510735" cy="822960"/>
          </a:xfrm>
          <a:prstGeom prst="roundRect">
            <a:avLst>
              <a:gd name="adj" fmla="val 13333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04240487" name="whitecard-415"/>
          <p:cNvSpPr/>
          <p:nvPr/>
        </p:nvSpPr>
        <p:spPr bwMode="auto">
          <a:xfrm>
            <a:off x="7196328" y="5394960"/>
            <a:ext cx="731520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56309186" name="img-416" descr="QR code de la vidéo originale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242048" y="5440680"/>
            <a:ext cx="640080" cy="640080"/>
          </a:xfrm>
          <a:prstGeom prst="rect">
            <a:avLst/>
          </a:prstGeom>
        </p:spPr>
      </p:pic>
      <p:sp>
        <p:nvSpPr>
          <p:cNvPr id="545452269" name="text-417"/>
          <p:cNvSpPr txBox="1"/>
          <p:nvPr/>
        </p:nvSpPr>
        <p:spPr bwMode="auto">
          <a:xfrm>
            <a:off x="8092440" y="5349240"/>
            <a:ext cx="3413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Scannez pour ouvrir la vidéo originale</a:t>
            </a:r>
            <a:endParaRPr lang="en-US" sz="1400"/>
          </a:p>
        </p:txBody>
      </p:sp>
      <p:sp>
        <p:nvSpPr>
          <p:cNvPr id="154451537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19</a:t>
            </a:fld>
            <a:endParaRPr lang="en-US"/>
          </a:p>
        </p:txBody>
      </p:sp>
      <p:pic>
        <p:nvPicPr>
          <p:cNvPr id="1685205691" name="Vidéo analysée — cliquez pour lire (MP4 intégré)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7"/>
          <a:stretch>
            <a:fillRect/>
          </a:stretch>
        </p:blipFill>
        <p:spPr bwMode="auto">
          <a:xfrm>
            <a:off x="777240" y="2275276"/>
            <a:ext cx="5542269" cy="31196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556774" name="Text 0"/>
          <p:cNvSpPr>
            <a:spLocks noGrp="1"/>
          </p:cNvSpPr>
          <p:nvPr>
            <p:ph type="body" idx="100" hasCustomPrompt="1"/>
          </p:nvPr>
        </p:nvSpPr>
        <p:spPr bwMode="auto"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1"/>
                </a:solidFill>
              </a:rPr>
              <a:t>14 / CONCLUSION</a:t>
            </a:r>
            <a:endParaRPr lang="en-US" sz="1200"/>
          </a:p>
        </p:txBody>
      </p:sp>
      <p:sp>
        <p:nvSpPr>
          <p:cNvPr id="1576348325" name="Text 0"/>
          <p:cNvSpPr>
            <a:spLocks noGrp="1"/>
          </p:cNvSpPr>
          <p:nvPr>
            <p:ph type="title" idx="101" hasCustomPrompt="1"/>
          </p:nvPr>
        </p:nvSpPr>
        <p:spPr bwMode="auto"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chemeClr val="bg1"/>
                </a:solidFill>
              </a:rPr>
              <a:t>Bilan et perspectives</a:t>
            </a:r>
            <a:endParaRPr lang="en-US" sz="3400"/>
          </a:p>
        </p:txBody>
      </p:sp>
      <p:sp>
        <p:nvSpPr>
          <p:cNvPr id="1664724140" name="Text 0"/>
          <p:cNvSpPr>
            <a:spLocks noGrp="1"/>
          </p:cNvSpPr>
          <p:nvPr>
            <p:ph type="body" idx="102" hasCustomPrompt="1"/>
          </p:nvPr>
        </p:nvSpPr>
        <p:spPr bwMode="auto">
          <a:xfrm>
            <a:off x="548640" y="13898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Classification multiclasse, CNN, amélioration expérimentale et extension vers une application complète.</a:t>
            </a:r>
            <a:endParaRPr lang="en-US" sz="1500"/>
          </a:p>
        </p:txBody>
      </p:sp>
      <p:sp>
        <p:nvSpPr>
          <p:cNvPr id="457547102" name="card-418"/>
          <p:cNvSpPr/>
          <p:nvPr/>
        </p:nvSpPr>
        <p:spPr bwMode="auto">
          <a:xfrm>
            <a:off x="548640" y="192024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18829035" name="iconbg-419"/>
          <p:cNvSpPr/>
          <p:nvPr/>
        </p:nvSpPr>
        <p:spPr bwMode="auto">
          <a:xfrm>
            <a:off x="822960" y="2176272"/>
            <a:ext cx="548640" cy="54864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9223798" name="icon-420" descr="icône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971093" y="2324405"/>
            <a:ext cx="252374" cy="252374"/>
          </a:xfrm>
          <a:prstGeom prst="rect">
            <a:avLst/>
          </a:prstGeom>
        </p:spPr>
      </p:pic>
      <p:sp>
        <p:nvSpPr>
          <p:cNvPr id="1376498752" name="text-421"/>
          <p:cNvSpPr txBox="1"/>
          <p:nvPr/>
        </p:nvSpPr>
        <p:spPr bwMode="auto">
          <a:xfrm>
            <a:off x="1554480" y="21762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b="1">
                <a:solidFill>
                  <a:schemeClr val="bg1"/>
                </a:solidFill>
              </a:rPr>
              <a:t>Bilan</a:t>
            </a:r>
            <a:endParaRPr lang="en-US" sz="1900"/>
          </a:p>
        </p:txBody>
      </p:sp>
      <p:sp>
        <p:nvSpPr>
          <p:cNvPr id="1312579178" name="text-422"/>
          <p:cNvSpPr txBox="1"/>
          <p:nvPr/>
        </p:nvSpPr>
        <p:spPr bwMode="auto">
          <a:xfrm>
            <a:off x="822960" y="292608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FER2013 a permis de construire un pipeline complet : préparation des données, baseline dense, CNN, analyse des erreurs, améliorations puis extension image/vidéo.</a:t>
            </a:r>
            <a:endParaRPr lang="en-US" sz="1500"/>
          </a:p>
        </p:txBody>
      </p:sp>
      <p:sp>
        <p:nvSpPr>
          <p:cNvPr id="106536482" name="card-423"/>
          <p:cNvSpPr/>
          <p:nvPr/>
        </p:nvSpPr>
        <p:spPr bwMode="auto">
          <a:xfrm>
            <a:off x="4334256" y="192024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63987001" name="iconbg-424"/>
          <p:cNvSpPr/>
          <p:nvPr/>
        </p:nvSpPr>
        <p:spPr bwMode="auto">
          <a:xfrm>
            <a:off x="4608576" y="2176272"/>
            <a:ext cx="548640" cy="54864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22959520" name="icon-425" descr="icône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6709" y="2324405"/>
            <a:ext cx="252374" cy="252374"/>
          </a:xfrm>
          <a:prstGeom prst="rect">
            <a:avLst/>
          </a:prstGeom>
        </p:spPr>
      </p:pic>
      <p:sp>
        <p:nvSpPr>
          <p:cNvPr id="254571761" name="text-426"/>
          <p:cNvSpPr txBox="1"/>
          <p:nvPr/>
        </p:nvSpPr>
        <p:spPr bwMode="auto">
          <a:xfrm>
            <a:off x="5340096" y="21762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b="1">
                <a:solidFill>
                  <a:schemeClr val="bg1"/>
                </a:solidFill>
              </a:rPr>
              <a:t>Résultat principal</a:t>
            </a:r>
            <a:endParaRPr lang="en-US" sz="1900"/>
          </a:p>
        </p:txBody>
      </p:sp>
      <p:sp>
        <p:nvSpPr>
          <p:cNvPr id="1888459190" name="text-427"/>
          <p:cNvSpPr txBox="1"/>
          <p:nvPr/>
        </p:nvSpPr>
        <p:spPr bwMode="auto">
          <a:xfrm>
            <a:off x="4608576" y="292608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Meilleur modèle : Exp. 1 avec data augmentation, 58,18 % en validation et 59,57 % en test final. Le CNN surpasse nettement le baseline dense.</a:t>
            </a:r>
            <a:endParaRPr lang="en-US" sz="1500"/>
          </a:p>
        </p:txBody>
      </p:sp>
      <p:sp>
        <p:nvSpPr>
          <p:cNvPr id="679480985" name="card-428"/>
          <p:cNvSpPr/>
          <p:nvPr/>
        </p:nvSpPr>
        <p:spPr bwMode="auto">
          <a:xfrm>
            <a:off x="8119872" y="192024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94491962" name="iconbg-429"/>
          <p:cNvSpPr/>
          <p:nvPr/>
        </p:nvSpPr>
        <p:spPr bwMode="auto">
          <a:xfrm>
            <a:off x="8394192" y="2176272"/>
            <a:ext cx="548640" cy="548640"/>
          </a:xfrm>
          <a:prstGeom prst="ellipse">
            <a:avLst/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59040937" name="icon-430" descr="icône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542325" y="2324405"/>
            <a:ext cx="252374" cy="252374"/>
          </a:xfrm>
          <a:prstGeom prst="rect">
            <a:avLst/>
          </a:prstGeom>
        </p:spPr>
      </p:pic>
      <p:sp>
        <p:nvSpPr>
          <p:cNvPr id="933945976" name="text-431"/>
          <p:cNvSpPr txBox="1"/>
          <p:nvPr/>
        </p:nvSpPr>
        <p:spPr bwMode="auto">
          <a:xfrm>
            <a:off x="9125712" y="21762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b="1">
                <a:solidFill>
                  <a:schemeClr val="bg1"/>
                </a:solidFill>
              </a:rPr>
              <a:t>Perspectives</a:t>
            </a:r>
            <a:endParaRPr lang="en-US" sz="1900"/>
          </a:p>
        </p:txBody>
      </p:sp>
      <p:sp>
        <p:nvSpPr>
          <p:cNvPr id="1447788932" name="text-432"/>
          <p:cNvSpPr txBox="1"/>
          <p:nvPr/>
        </p:nvSpPr>
        <p:spPr bwMode="auto">
          <a:xfrm>
            <a:off x="8394192" y="292608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bg2"/>
                </a:solidFill>
              </a:rPr>
              <a:t>Mieux traiter le déséquilibre des classes, tester d’autres architectures, ajouter des données et améliorer la robustesse (pose, éclairage, temps réel).</a:t>
            </a:r>
            <a:endParaRPr lang="en-US" sz="1500"/>
          </a:p>
        </p:txBody>
      </p:sp>
      <p:sp>
        <p:nvSpPr>
          <p:cNvPr id="1667717184" name="highlight-433"/>
          <p:cNvSpPr/>
          <p:nvPr/>
        </p:nvSpPr>
        <p:spPr bwMode="auto">
          <a:xfrm>
            <a:off x="548640" y="484632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10599848" name="text-434"/>
          <p:cNvSpPr txBox="1"/>
          <p:nvPr/>
        </p:nvSpPr>
        <p:spPr bwMode="auto">
          <a:xfrm>
            <a:off x="822960" y="48463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Message final : </a:t>
            </a:r>
            <a:r>
              <a:rPr lang="en-US" sz="1400">
                <a:solidFill>
                  <a:schemeClr val="bg1"/>
                </a:solidFill>
              </a:rPr>
              <a:t>la data augmentation apporte le meilleur gain ; les limites restent le format 48×48, le déséquilibre des classes et l’ambiguïté de certaines expressions.</a:t>
            </a:r>
            <a:endParaRPr lang="en-US" sz="1400"/>
          </a:p>
        </p:txBody>
      </p:sp>
      <p:sp>
        <p:nvSpPr>
          <p:cNvPr id="967073294" name="text-435"/>
          <p:cNvSpPr txBox="1"/>
          <p:nvPr/>
        </p:nvSpPr>
        <p:spPr bwMode="auto">
          <a:xfrm>
            <a:off x="548640" y="5715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 spc="300">
                <a:solidFill>
                  <a:schemeClr val="bg1"/>
                </a:solidFill>
              </a:rPr>
              <a:t>QUESTIONS ?</a:t>
            </a:r>
            <a:endParaRPr lang="en-US" sz="2400"/>
          </a:p>
        </p:txBody>
      </p:sp>
      <p:sp>
        <p:nvSpPr>
          <p:cNvPr id="1234361501" name="text-436"/>
          <p:cNvSpPr txBox="1"/>
          <p:nvPr/>
        </p:nvSpPr>
        <p:spPr bwMode="auto">
          <a:xfrm>
            <a:off x="7071055" y="5715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600">
                <a:solidFill>
                  <a:schemeClr val="accent1"/>
                </a:solidFill>
              </a:rPr>
              <a:t>Merci pour votre attention</a:t>
            </a:r>
            <a:endParaRPr lang="en-US" sz="1600"/>
          </a:p>
        </p:txBody>
      </p:sp>
      <p:sp>
        <p:nvSpPr>
          <p:cNvPr id="1330451607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83112" y="6400800"/>
            <a:ext cx="457200" cy="228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1"/>
              <a:t>20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theme/theme1.xml><?xml version="1.0" encoding="utf-8"?>
<a:theme xmlns:a="http://schemas.openxmlformats.org/drawingml/2006/main" name="Soutenance Nuit Cyan">
  <a:themeElements>
    <a:clrScheme name="Soutenance Nuit Cyan">
      <a:dk1>
        <a:srgbClr val="0A1128"/>
      </a:dk1>
      <a:lt1>
        <a:srgbClr val="FFFFFF"/>
      </a:lt1>
      <a:dk2>
        <a:srgbClr val="111C3A"/>
      </a:dk2>
      <a:lt2>
        <a:srgbClr val="A9B8D4"/>
      </a:lt2>
      <a:accent1>
        <a:srgbClr val="22D3EE"/>
      </a:accent1>
      <a:accent2>
        <a:srgbClr val="3B82F6"/>
      </a:accent2>
      <a:accent3>
        <a:srgbClr val="8B5CF6"/>
      </a:accent3>
      <a:accent4>
        <a:srgbClr val="F59E0B"/>
      </a:accent4>
      <a:accent5>
        <a:srgbClr val="34D399"/>
      </a:accent5>
      <a:accent6>
        <a:srgbClr val="24376B"/>
      </a:accent6>
      <a:hlink>
        <a:srgbClr val="22D3EE"/>
      </a:hlink>
      <a:folHlink>
        <a:srgbClr val="8B5CF6"/>
      </a:folHlink>
    </a:clrScheme>
    <a:fontScheme name="Soutenance Nuit Cyan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1971</Words>
  <Application>Microsoft Office PowerPoint</Application>
  <PresentationFormat>Grand écran</PresentationFormat>
  <Paragraphs>412</Paragraphs>
  <Slides>20</Slides>
  <Notes>0</Notes>
  <HiddenSlides>0</HiddenSlides>
  <MMClips>1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3" baseType="lpstr">
      <vt:lpstr>Arial</vt:lpstr>
      <vt:lpstr>Calibri</vt:lpstr>
      <vt:lpstr>Soutenance Nuit Cyan</vt:lpstr>
      <vt:lpstr>Présentation PowerPoint</vt:lpstr>
      <vt:lpstr>Objectif du projet</vt:lpstr>
      <vt:lpstr>FER2013 : vue d’ensemble</vt:lpstr>
      <vt:lpstr>FER2013 : provenance et effectifs</vt:lpstr>
      <vt:lpstr>Prétraitement et exploration visuelle</vt:lpstr>
      <vt:lpstr>Baseline dense (MLP)</vt:lpstr>
      <vt:lpstr>Du neurone à la rétropropagation</vt:lpstr>
      <vt:lpstr>Architecture CNN retenue comme base</vt:lpstr>
      <vt:lpstr>Dimensions et paramètres couche par couche</vt:lpstr>
      <vt:lpstr>Protocole d’apprentissage et diagnostic</vt:lpstr>
      <vt:lpstr>Évaluation du CNN de référence</vt:lpstr>
      <vt:lpstr>Trois expériences contrôlées</vt:lpstr>
      <vt:lpstr>Performances du modèle retenu</vt:lpstr>
      <vt:lpstr>Exemples de mauvaises prédictions</vt:lpstr>
      <vt:lpstr>Exemples de prédictions correctes</vt:lpstr>
      <vt:lpstr>Transfer Learning : MobileNetV2</vt:lpstr>
      <vt:lpstr>Détection et analyse de plusieurs visages</vt:lpstr>
      <vt:lpstr>YOLOv8n-Face : détails d’intégration</vt:lpstr>
      <vt:lpstr>Démonstration vidéo intégrée</vt:lpstr>
      <vt:lpstr>Bilan et perspectives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Reconnaissance et analyse automatique des expressions faciales</dc:title>
  <dc:subject>PptxGenJS Presentation</dc:subject>
  <dc:creator>Anthusan SRIKARAN et Emine OULD AGATT</dc:creator>
  <cp:lastModifiedBy>Emine OULD AGATT</cp:lastModifiedBy>
  <cp:revision>5</cp:revision>
  <dcterms:created xsi:type="dcterms:W3CDTF">2026-10-08T07:44:13Z</dcterms:created>
  <dcterms:modified xsi:type="dcterms:W3CDTF">2026-10-09T08:50:48Z</dcterms:modified>
</cp:coreProperties>
</file>